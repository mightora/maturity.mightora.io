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charts/chart1.xml" ContentType="application/vnd.openxmlformats-officedocument.drawingml.chart+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charts/chart2.xml" ContentType="application/vnd.openxmlformats-officedocument.drawingml.chart+xml"/>
  <Override PartName="/ppt/slides/slide8.xml" ContentType="application/vnd.openxmlformats-officedocument.presentationml.slide+xml"/>
  <Override PartName="/ppt/charts/chart3.xml" ContentType="application/vnd.openxmlformats-officedocument.drawingml.chart+xml"/>
  <Override PartName="/ppt/slides/slide9.xml" ContentType="application/vnd.openxmlformats-officedocument.presentationml.slide+xml"/>
  <Override PartName="/ppt/charts/chart4.xml" ContentType="application/vnd.openxmlformats-officedocument.drawingml.chart+xml"/>
  <Override PartName="/ppt/slides/slide10.xml" ContentType="application/vnd.openxmlformats-officedocument.presentationml.slide+xml"/>
  <Override PartName="/ppt/charts/chart5.xml" ContentType="application/vnd.openxmlformats-officedocument.drawingml.chart+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notesMasterIdLst>
    <p:notesMasterId r:id="rId4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radarChart>
        <c:radarStyle val="marker"/>
        <c:varyColors val="0"/>
        <c:ser>
          <c:idx val="0"/>
          <c:order val="0"/>
          <c:tx>
            <c:strRef>
              <c:f>Sheet1!$B$1</c:f>
              <c:strCache>
                <c:ptCount val="1"/>
                <c:pt idx="0">
                  <c:v>Current</c:v>
                </c:pt>
              </c:strCache>
            </c:strRef>
          </c:tx>
          <c:spPr>
            <a:solidFill>
              <a:srgbClr val="1769AA"/>
            </a:solidFill>
            <a:ln w="25400" cap="flat">
              <a:solidFill>
                <a:srgbClr val="1769AA"/>
              </a:solidFill>
              <a:prstDash val="solid"/>
              <a:round/>
            </a:ln>
            <a:effectLst/>
          </c:spPr>
          <c:invertIfNegative val="0"/>
          <c:marker>
            <c:symbol val="circle"/>
            <c:size val="5"/>
            <c:spPr>
              <a:solidFill>
                <a:srgbClr val="1769AA"/>
              </a:solidFill>
              <a:ln w="9525" cap="flat">
                <a:solidFill>
                  <a:srgbClr val="1769AA"/>
                </a:solidFill>
                <a:prstDash val="solid"/>
                <a:round/>
              </a:ln>
              <a:effectLst/>
            </c:spPr>
          </c:marker>
          <c:cat>
            <c:multiLvlStrRef>
              <c:f>Sheet1!$A$2:$A$13</c:f>
              <c:multiLvlStrCache>
                <c:ptCount val="12"/>
                <c:lvl>
                  <c:pt idx="0">
                    <c:v>Governance and environment strategy</c:v>
                  </c:pt>
                  <c:pt idx="1">
                    <c:v>Citizen developer enablement</c:v>
                  </c:pt>
                  <c:pt idx="2">
                    <c:v>Data governance</c:v>
                  </c:pt>
                  <c:pt idx="3">
                    <c:v>Dataverse architecture</c:v>
                  </c:pt>
                  <c:pt idx="4">
                    <c:v>Security and identity</c:v>
                  </c:pt>
                  <c:pt idx="5">
                    <c:v>Integration architecture</c:v>
                  </c:pt>
                  <c:pt idx="6">
                    <c:v>Application lifecycle management</c:v>
                  </c:pt>
                  <c:pt idx="7">
                    <c:v>Deployment automation</c:v>
                  </c:pt>
                  <c:pt idx="8">
                    <c:v>Automated testing</c:v>
                  </c:pt>
                  <c:pt idx="9">
                    <c:v>Monitoring and observability</c:v>
                  </c:pt>
                  <c:pt idx="10">
                    <c:v>Recovery and continuity</c:v>
                  </c:pt>
                  <c:pt idx="11">
                    <c:v>Capacity and licensing</c:v>
                  </c:pt>
                </c:lvl>
              </c:multiLvlStrCache>
            </c:multiLvlStrRef>
          </c:cat>
          <c:val>
            <c:numRef>
              <c:f>Sheet1!$B$2:$B$13</c:f>
              <c:numCache>
                <c:formatCode>General</c:formatCode>
                <c:ptCount val="12"/>
                <c:pt idx="0">
                  <c:v>2</c:v>
                </c:pt>
                <c:pt idx="1">
                  <c:v>3</c:v>
                </c:pt>
                <c:pt idx="2">
                  <c:v>2</c:v>
                </c:pt>
                <c:pt idx="3">
                  <c:v>3</c:v>
                </c:pt>
                <c:pt idx="4">
                  <c:v>4</c:v>
                </c:pt>
                <c:pt idx="5">
                  <c:v>2</c:v>
                </c:pt>
                <c:pt idx="6">
                  <c:v>3</c:v>
                </c:pt>
                <c:pt idx="7">
                  <c:v>2</c:v>
                </c:pt>
                <c:pt idx="8">
                  <c:v>2</c:v>
                </c:pt>
                <c:pt idx="9">
                  <c:v>3</c:v>
                </c:pt>
                <c:pt idx="10">
                  <c:v>2</c:v>
                </c:pt>
                <c:pt idx="11">
                  <c:v>3</c:v>
                </c:pt>
              </c:numCache>
            </c:numRef>
          </c:val>
        </c:ser>
        <c:ser>
          <c:idx val="1"/>
          <c:order val="1"/>
          <c:tx>
            <c:strRef>
              <c:f>Sheet1!$C$1</c:f>
              <c:strCache>
                <c:ptCount val="1"/>
                <c:pt idx="0">
                  <c:v>Target</c:v>
                </c:pt>
              </c:strCache>
            </c:strRef>
          </c:tx>
          <c:spPr>
            <a:solidFill>
              <a:srgbClr val="B44D2E"/>
            </a:solidFill>
            <a:ln w="25400" cap="flat">
              <a:solidFill>
                <a:srgbClr val="B44D2E"/>
              </a:solidFill>
              <a:prstDash val="dash"/>
              <a:round/>
            </a:ln>
            <a:effectLst/>
          </c:spPr>
          <c:invertIfNegative val="0"/>
          <c:marker>
            <c:symbol val="circle"/>
            <c:size val="5"/>
            <c:spPr>
              <a:solidFill>
                <a:srgbClr val="B44D2E"/>
              </a:solidFill>
              <a:ln w="9525" cap="flat">
                <a:solidFill>
                  <a:srgbClr val="B44D2E"/>
                </a:solidFill>
                <a:prstDash val="dash"/>
                <a:round/>
              </a:ln>
              <a:effectLst/>
            </c:spPr>
          </c:marker>
          <c:cat>
            <c:multiLvlStrRef>
              <c:f>Sheet1!$A$2:$A$13</c:f>
              <c:multiLvlStrCache>
                <c:ptCount val="12"/>
                <c:lvl>
                  <c:pt idx="0">
                    <c:v>Governance and environment strategy</c:v>
                  </c:pt>
                  <c:pt idx="1">
                    <c:v>Citizen developer enablement</c:v>
                  </c:pt>
                  <c:pt idx="2">
                    <c:v>Data governance</c:v>
                  </c:pt>
                  <c:pt idx="3">
                    <c:v>Dataverse architecture</c:v>
                  </c:pt>
                  <c:pt idx="4">
                    <c:v>Security and identity</c:v>
                  </c:pt>
                  <c:pt idx="5">
                    <c:v>Integration architecture</c:v>
                  </c:pt>
                  <c:pt idx="6">
                    <c:v>Application lifecycle management</c:v>
                  </c:pt>
                  <c:pt idx="7">
                    <c:v>Deployment automation</c:v>
                  </c:pt>
                  <c:pt idx="8">
                    <c:v>Automated testing</c:v>
                  </c:pt>
                  <c:pt idx="9">
                    <c:v>Monitoring and observability</c:v>
                  </c:pt>
                  <c:pt idx="10">
                    <c:v>Recovery and continuity</c:v>
                  </c:pt>
                  <c:pt idx="11">
                    <c:v>Capacity and licensing</c:v>
                  </c:pt>
                </c:lvl>
              </c:multiLvlStrCache>
            </c:multiLvlStrRef>
          </c:cat>
          <c:val>
            <c:numRef>
              <c:f>Sheet1!$C$2:$C$13</c:f>
              <c:numCache>
                <c:formatCode>General</c:formatCode>
                <c:ptCount val="12"/>
                <c:pt idx="0">
                  <c:v>5</c:v>
                </c:pt>
                <c:pt idx="1">
                  <c:v>4</c:v>
                </c:pt>
                <c:pt idx="2">
                  <c:v>5</c:v>
                </c:pt>
                <c:pt idx="3">
                  <c:v>5</c:v>
                </c:pt>
                <c:pt idx="4">
                  <c:v>4</c:v>
                </c:pt>
                <c:pt idx="5">
                  <c:v>5</c:v>
                </c:pt>
                <c:pt idx="6">
                  <c:v>5</c:v>
                </c:pt>
                <c:pt idx="7">
                  <c:v>4</c:v>
                </c:pt>
                <c:pt idx="8">
                  <c:v>5</c:v>
                </c:pt>
                <c:pt idx="9">
                  <c:v>5</c:v>
                </c:pt>
                <c:pt idx="10">
                  <c:v>4</c:v>
                </c:pt>
                <c:pt idx="11">
                  <c:v>5</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axId val="2094734554"/>
        <c:axId val="2094734552"/>
        <c:axId val="2094734556"/>
      </c:rad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5"/>
          <c:min val="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000000"/>
                </a:solidFill>
                <a:latin typeface="Arial"/>
              </a:defRPr>
            </a:pPr>
            <a:endParaRPr lang="en-US"/>
          </a:p>
        </c:txPr>
        <c:crossAx val="2094734554"/>
        <c:crosses val="autoZero"/>
        <c:crossBetween val="between"/>
        <c:majorUnit val="1"/>
      </c:valAx>
      <c:spPr>
        <a:noFill/>
        <a:ln>
          <a:noFill/>
        </a:ln>
        <a:effectLst/>
      </c:spPr>
    </c:plotArea>
    <c:legend>
      <c:legendPos val="b"/>
      <c:overlay val="0"/>
      <c:txPr>
        <a:bodyPr/>
        <a:lstStyle/>
        <a:p>
          <a:pPr>
            <a:defRPr sz="1200">      </a:defRPr>
          </a:pPr>
          <a:endParaRPr lang="en-US"/>
        </a:p>
      </c:txPr>
    </c:legend>
    <c:plotVisOnly val="1"/>
    <c:dispBlanksAs val="gap"/>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Current</c:v>
                </c:pt>
              </c:strCache>
            </c:strRef>
          </c:tx>
          <c:spPr>
            <a:solidFill>
              <a:srgbClr val="1769AA"/>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cat>
            <c:multiLvlStrRef>
              <c:f>Sheet1!$A$2:$A$4</c:f>
              <c:multiLvlStrCache>
                <c:ptCount val="3"/>
                <c:lvl>
                  <c:pt idx="0">
                    <c:v>Governance and environment strategy</c:v>
                  </c:pt>
                  <c:pt idx="1">
                    <c:v>Citizen developer enablement</c:v>
                  </c:pt>
                  <c:pt idx="2">
                    <c:v>Data governance</c:v>
                  </c:pt>
                </c:lvl>
              </c:multiLvlStrCache>
            </c:multiLvlStrRef>
          </c:cat>
          <c:val>
            <c:numRef>
              <c:f>Sheet1!$B$2:$B$4</c:f>
              <c:numCache>
                <c:formatCode>General</c:formatCode>
                <c:ptCount val="3"/>
                <c:pt idx="0">
                  <c:v>2</c:v>
                </c:pt>
                <c:pt idx="1">
                  <c:v>3</c:v>
                </c:pt>
                <c:pt idx="2">
                  <c:v>2</c:v>
                </c:pt>
              </c:numCache>
            </c:numRef>
          </c:val>
        </c:ser>
        <c:ser>
          <c:idx val="1"/>
          <c:order val="1"/>
          <c:tx>
            <c:strRef>
              <c:f>Sheet1!$C$1</c:f>
              <c:strCache>
                <c:ptCount val="1"/>
                <c:pt idx="0">
                  <c:v>Target</c:v>
                </c:pt>
              </c:strCache>
            </c:strRef>
          </c:tx>
          <c:spPr>
            <a:solidFill>
              <a:srgbClr val="B44D2E"/>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cat>
            <c:multiLvlStrRef>
              <c:f>Sheet1!$A$2:$A$4</c:f>
              <c:multiLvlStrCache>
                <c:ptCount val="3"/>
                <c:lvl>
                  <c:pt idx="0">
                    <c:v>Governance and environment strategy</c:v>
                  </c:pt>
                  <c:pt idx="1">
                    <c:v>Citizen developer enablement</c:v>
                  </c:pt>
                  <c:pt idx="2">
                    <c:v>Data governance</c:v>
                  </c:pt>
                </c:lvl>
              </c:multiLvlStrCache>
            </c:multiLvlStrRef>
          </c:cat>
          <c:val>
            <c:numRef>
              <c:f>Sheet1!$C$2:$C$4</c:f>
              <c:numCache>
                <c:formatCode>General</c:formatCode>
                <c:ptCount val="3"/>
                <c:pt idx="0">
                  <c:v>5</c:v>
                </c:pt>
                <c:pt idx="1">
                  <c:v>4</c:v>
                </c:pt>
                <c:pt idx="2">
                  <c:v>5</c:v>
                </c:pt>
              </c:numCache>
            </c:numRef>
          </c:val>
        </c:ser>
        <c:dLbls>
          <c:numFmt formatCode="#,##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5"/>
          <c:min val="0"/>
        </c:scaling>
        <c:delete val="0"/>
        <c:axPos val="b"/>
        <c:majorGridlines>
          <c:spPr>
            <a:ln w="12700" cap="flat">
              <a:solidFill>
                <a:srgbClr val="888888"/>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majorUnit val="1"/>
      </c:valAx>
      <c:spPr>
        <a:noFill/>
        <a:ln>
          <a:noFill/>
        </a:ln>
        <a:effectLst/>
      </c:spPr>
    </c:plotArea>
    <c:legend>
      <c:legendPos val="b"/>
      <c:overlay val="0"/>
    </c:legend>
    <c:plotVisOnly val="1"/>
    <c:dispBlanksAs val="gap"/>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Current</c:v>
                </c:pt>
              </c:strCache>
            </c:strRef>
          </c:tx>
          <c:spPr>
            <a:solidFill>
              <a:srgbClr val="1769AA"/>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cat>
            <c:multiLvlStrRef>
              <c:f>Sheet1!$A$2:$A$4</c:f>
              <c:multiLvlStrCache>
                <c:ptCount val="3"/>
                <c:lvl>
                  <c:pt idx="0">
                    <c:v>Dataverse architecture</c:v>
                  </c:pt>
                  <c:pt idx="1">
                    <c:v>Security and identity</c:v>
                  </c:pt>
                  <c:pt idx="2">
                    <c:v>Integration architecture</c:v>
                  </c:pt>
                </c:lvl>
              </c:multiLvlStrCache>
            </c:multiLvlStrRef>
          </c:cat>
          <c:val>
            <c:numRef>
              <c:f>Sheet1!$B$2:$B$4</c:f>
              <c:numCache>
                <c:formatCode>General</c:formatCode>
                <c:ptCount val="3"/>
                <c:pt idx="0">
                  <c:v>3</c:v>
                </c:pt>
                <c:pt idx="1">
                  <c:v>4</c:v>
                </c:pt>
                <c:pt idx="2">
                  <c:v>2</c:v>
                </c:pt>
              </c:numCache>
            </c:numRef>
          </c:val>
        </c:ser>
        <c:ser>
          <c:idx val="1"/>
          <c:order val="1"/>
          <c:tx>
            <c:strRef>
              <c:f>Sheet1!$C$1</c:f>
              <c:strCache>
                <c:ptCount val="1"/>
                <c:pt idx="0">
                  <c:v>Target</c:v>
                </c:pt>
              </c:strCache>
            </c:strRef>
          </c:tx>
          <c:spPr>
            <a:solidFill>
              <a:srgbClr val="B44D2E"/>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cat>
            <c:multiLvlStrRef>
              <c:f>Sheet1!$A$2:$A$4</c:f>
              <c:multiLvlStrCache>
                <c:ptCount val="3"/>
                <c:lvl>
                  <c:pt idx="0">
                    <c:v>Dataverse architecture</c:v>
                  </c:pt>
                  <c:pt idx="1">
                    <c:v>Security and identity</c:v>
                  </c:pt>
                  <c:pt idx="2">
                    <c:v>Integration architecture</c:v>
                  </c:pt>
                </c:lvl>
              </c:multiLvlStrCache>
            </c:multiLvlStrRef>
          </c:cat>
          <c:val>
            <c:numRef>
              <c:f>Sheet1!$C$2:$C$4</c:f>
              <c:numCache>
                <c:formatCode>General</c:formatCode>
                <c:ptCount val="3"/>
                <c:pt idx="0">
                  <c:v>5</c:v>
                </c:pt>
                <c:pt idx="1">
                  <c:v>4</c:v>
                </c:pt>
                <c:pt idx="2">
                  <c:v>5</c:v>
                </c:pt>
              </c:numCache>
            </c:numRef>
          </c:val>
        </c:ser>
        <c:dLbls>
          <c:numFmt formatCode="#,##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5"/>
          <c:min val="0"/>
        </c:scaling>
        <c:delete val="0"/>
        <c:axPos val="b"/>
        <c:majorGridlines>
          <c:spPr>
            <a:ln w="12700" cap="flat">
              <a:solidFill>
                <a:srgbClr val="888888"/>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majorUnit val="1"/>
      </c:valAx>
      <c:spPr>
        <a:noFill/>
        <a:ln>
          <a:noFill/>
        </a:ln>
        <a:effectLst/>
      </c:spPr>
    </c:plotArea>
    <c:legend>
      <c:legendPos val="b"/>
      <c:overlay val="0"/>
    </c:legend>
    <c:plotVisOnly val="1"/>
    <c:dispBlanksAs val="gap"/>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Current</c:v>
                </c:pt>
              </c:strCache>
            </c:strRef>
          </c:tx>
          <c:spPr>
            <a:solidFill>
              <a:srgbClr val="1769AA"/>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cat>
            <c:multiLvlStrRef>
              <c:f>Sheet1!$A$2:$A$4</c:f>
              <c:multiLvlStrCache>
                <c:ptCount val="3"/>
                <c:lvl>
                  <c:pt idx="0">
                    <c:v>Application lifecycle management</c:v>
                  </c:pt>
                  <c:pt idx="1">
                    <c:v>Deployment automation</c:v>
                  </c:pt>
                  <c:pt idx="2">
                    <c:v>Automated testing</c:v>
                  </c:pt>
                </c:lvl>
              </c:multiLvlStrCache>
            </c:multiLvlStrRef>
          </c:cat>
          <c:val>
            <c:numRef>
              <c:f>Sheet1!$B$2:$B$4</c:f>
              <c:numCache>
                <c:formatCode>General</c:formatCode>
                <c:ptCount val="3"/>
                <c:pt idx="0">
                  <c:v>3</c:v>
                </c:pt>
                <c:pt idx="1">
                  <c:v>2</c:v>
                </c:pt>
                <c:pt idx="2">
                  <c:v>2</c:v>
                </c:pt>
              </c:numCache>
            </c:numRef>
          </c:val>
        </c:ser>
        <c:ser>
          <c:idx val="1"/>
          <c:order val="1"/>
          <c:tx>
            <c:strRef>
              <c:f>Sheet1!$C$1</c:f>
              <c:strCache>
                <c:ptCount val="1"/>
                <c:pt idx="0">
                  <c:v>Target</c:v>
                </c:pt>
              </c:strCache>
            </c:strRef>
          </c:tx>
          <c:spPr>
            <a:solidFill>
              <a:srgbClr val="B44D2E"/>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cat>
            <c:multiLvlStrRef>
              <c:f>Sheet1!$A$2:$A$4</c:f>
              <c:multiLvlStrCache>
                <c:ptCount val="3"/>
                <c:lvl>
                  <c:pt idx="0">
                    <c:v>Application lifecycle management</c:v>
                  </c:pt>
                  <c:pt idx="1">
                    <c:v>Deployment automation</c:v>
                  </c:pt>
                  <c:pt idx="2">
                    <c:v>Automated testing</c:v>
                  </c:pt>
                </c:lvl>
              </c:multiLvlStrCache>
            </c:multiLvlStrRef>
          </c:cat>
          <c:val>
            <c:numRef>
              <c:f>Sheet1!$C$2:$C$4</c:f>
              <c:numCache>
                <c:formatCode>General</c:formatCode>
                <c:ptCount val="3"/>
                <c:pt idx="0">
                  <c:v>5</c:v>
                </c:pt>
                <c:pt idx="1">
                  <c:v>4</c:v>
                </c:pt>
                <c:pt idx="2">
                  <c:v>5</c:v>
                </c:pt>
              </c:numCache>
            </c:numRef>
          </c:val>
        </c:ser>
        <c:dLbls>
          <c:numFmt formatCode="#,##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5"/>
          <c:min val="0"/>
        </c:scaling>
        <c:delete val="0"/>
        <c:axPos val="b"/>
        <c:majorGridlines>
          <c:spPr>
            <a:ln w="12700" cap="flat">
              <a:solidFill>
                <a:srgbClr val="888888"/>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majorUnit val="1"/>
      </c:valAx>
      <c:spPr>
        <a:noFill/>
        <a:ln>
          <a:noFill/>
        </a:ln>
        <a:effectLst/>
      </c:spPr>
    </c:plotArea>
    <c:legend>
      <c:legendPos val="b"/>
      <c:overlay val="0"/>
    </c:legend>
    <c:plotVisOnly val="1"/>
    <c:dispBlanksAs val="gap"/>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Current</c:v>
                </c:pt>
              </c:strCache>
            </c:strRef>
          </c:tx>
          <c:spPr>
            <a:solidFill>
              <a:srgbClr val="1769AA"/>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cat>
            <c:multiLvlStrRef>
              <c:f>Sheet1!$A$2:$A$4</c:f>
              <c:multiLvlStrCache>
                <c:ptCount val="3"/>
                <c:lvl>
                  <c:pt idx="0">
                    <c:v>Monitoring and observability</c:v>
                  </c:pt>
                  <c:pt idx="1">
                    <c:v>Recovery and continuity</c:v>
                  </c:pt>
                  <c:pt idx="2">
                    <c:v>Capacity and licensing</c:v>
                  </c:pt>
                </c:lvl>
              </c:multiLvlStrCache>
            </c:multiLvlStrRef>
          </c:cat>
          <c:val>
            <c:numRef>
              <c:f>Sheet1!$B$2:$B$4</c:f>
              <c:numCache>
                <c:formatCode>General</c:formatCode>
                <c:ptCount val="3"/>
                <c:pt idx="0">
                  <c:v>3</c:v>
                </c:pt>
                <c:pt idx="1">
                  <c:v>2</c:v>
                </c:pt>
                <c:pt idx="2">
                  <c:v>3</c:v>
                </c:pt>
              </c:numCache>
            </c:numRef>
          </c:val>
        </c:ser>
        <c:ser>
          <c:idx val="1"/>
          <c:order val="1"/>
          <c:tx>
            <c:strRef>
              <c:f>Sheet1!$C$1</c:f>
              <c:strCache>
                <c:ptCount val="1"/>
                <c:pt idx="0">
                  <c:v>Target</c:v>
                </c:pt>
              </c:strCache>
            </c:strRef>
          </c:tx>
          <c:spPr>
            <a:solidFill>
              <a:srgbClr val="B44D2E"/>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cat>
            <c:multiLvlStrRef>
              <c:f>Sheet1!$A$2:$A$4</c:f>
              <c:multiLvlStrCache>
                <c:ptCount val="3"/>
                <c:lvl>
                  <c:pt idx="0">
                    <c:v>Monitoring and observability</c:v>
                  </c:pt>
                  <c:pt idx="1">
                    <c:v>Recovery and continuity</c:v>
                  </c:pt>
                  <c:pt idx="2">
                    <c:v>Capacity and licensing</c:v>
                  </c:pt>
                </c:lvl>
              </c:multiLvlStrCache>
            </c:multiLvlStrRef>
          </c:cat>
          <c:val>
            <c:numRef>
              <c:f>Sheet1!$C$2:$C$4</c:f>
              <c:numCache>
                <c:formatCode>General</c:formatCode>
                <c:ptCount val="3"/>
                <c:pt idx="0">
                  <c:v>5</c:v>
                </c:pt>
                <c:pt idx="1">
                  <c:v>4</c:v>
                </c:pt>
                <c:pt idx="2">
                  <c:v>5</c:v>
                </c:pt>
              </c:numCache>
            </c:numRef>
          </c:val>
        </c:ser>
        <c:dLbls>
          <c:numFmt formatCode="#,##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5"/>
          <c:min val="0"/>
        </c:scaling>
        <c:delete val="0"/>
        <c:axPos val="b"/>
        <c:majorGridlines>
          <c:spPr>
            <a:ln w="12700" cap="flat">
              <a:solidFill>
                <a:srgbClr val="888888"/>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majorUnit val="1"/>
      </c:valAx>
      <c:spPr>
        <a:noFill/>
        <a:ln>
          <a:noFill/>
        </a:ln>
        <a:effectLst/>
      </c:spPr>
    </c:plotArea>
    <c:legend>
      <c:legendPos val="b"/>
      <c:overlay val="0"/>
    </c:legend>
    <c:plotVisOnly val="1"/>
    <c:dispBlanksAs val="gap"/>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Native editable Office radar with an embedded Excel workbook. Missing or inapplicable scores are blank cells, never zero. Chart labels over 48 characters are abbreviated. Full names and assessment states appear in the detailed score tables.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9FB"/>
        </a:solidFill>
      </p:bgPr>
    </p:bg>
    <p:spTree>
      <p:nvGrpSpPr>
        <p:cNvPr id="1" name=""/>
        <p:cNvGrpSpPr/>
        <p:nvPr/>
      </p:nvGrpSpPr>
      <p:grpSpPr>
        <a:xfrm>
          <a:off x="0" y="0"/>
          <a:ext cx="0" cy="0"/>
          <a:chOff x="0" y="0"/>
          <a:chExt cx="0" cy="0"/>
        </a:xfrm>
      </p:grpSpPr>
      <p:sp>
        <p:nvSpPr>
          <p:cNvPr id="2" name="Text 0"/>
          <p:cNvSpPr/>
          <p:nvPr/>
        </p:nvSpPr>
        <p:spPr>
          <a:xfrm>
            <a:off x="548640" y="292608"/>
            <a:ext cx="11094415" cy="228600"/>
          </a:xfrm>
          <a:prstGeom prst="rect">
            <a:avLst/>
          </a:prstGeom>
          <a:noFill/>
          <a:ln/>
        </p:spPr>
        <p:txBody>
          <a:bodyPr wrap="square" lIns="0" tIns="0" rIns="0" bIns="0" rtlCol="0" anchor="ctr"/>
          <a:lstStyle/>
          <a:p>
            <a:pPr indent="0" marL="0">
              <a:buNone/>
            </a:pPr>
            <a:r>
              <a:rPr lang="en-US" sz="1000" b="1" dirty="0">
                <a:solidFill>
                  <a:srgbClr val="B44D2E"/>
                </a:solidFill>
                <a:latin typeface="Arial" pitchFamily="34" charset="0"/>
                <a:ea typeface="Arial" pitchFamily="34" charset="-122"/>
                <a:cs typeface="Arial" pitchFamily="34" charset="-120"/>
              </a:rPr>
              <a:t>MIGHTORA</a:t>
            </a:r>
            <a:endParaRPr lang="en-US" sz="1000" dirty="0"/>
          </a:p>
        </p:txBody>
      </p:sp>
      <p:sp>
        <p:nvSpPr>
          <p:cNvPr id="3" name="Text 1"/>
          <p:cNvSpPr/>
          <p:nvPr/>
        </p:nvSpPr>
        <p:spPr>
          <a:xfrm>
            <a:off x="548640" y="777240"/>
            <a:ext cx="11094415" cy="685800"/>
          </a:xfrm>
          <a:prstGeom prst="rect">
            <a:avLst/>
          </a:prstGeom>
          <a:noFill/>
          <a:ln/>
        </p:spPr>
        <p:txBody>
          <a:bodyPr wrap="square" lIns="0" tIns="0" rIns="0" bIns="0" rtlCol="0" anchor="ctr">
            <a:normAutofit/>
          </a:bodyPr>
          <a:lstStyle/>
          <a:p>
            <a:pPr indent="0" marL="0">
              <a:buNone/>
            </a:pPr>
            <a:r>
              <a:rPr lang="en-US" sz="2700" b="1" dirty="0">
                <a:solidFill>
                  <a:srgbClr val="102A43"/>
                </a:solidFill>
                <a:latin typeface="Arial" pitchFamily="34" charset="0"/>
                <a:ea typeface="Arial" pitchFamily="34" charset="-122"/>
                <a:cs typeface="Arial" pitchFamily="34" charset="-120"/>
              </a:rPr>
              <a:t>Power Platform governance and engineering example</a:t>
            </a:r>
            <a:endParaRPr lang="en-US" sz="2700" dirty="0"/>
          </a:p>
        </p:txBody>
      </p:sp>
      <p:sp>
        <p:nvSpPr>
          <p:cNvPr id="4" name="Text 2"/>
          <p:cNvSpPr/>
          <p:nvPr/>
        </p:nvSpPr>
        <p:spPr>
          <a:xfrm>
            <a:off x="548640" y="6492240"/>
            <a:ext cx="11094415" cy="182880"/>
          </a:xfrm>
          <a:prstGeom prst="rect">
            <a:avLst/>
          </a:prstGeom>
          <a:noFill/>
          <a:ln/>
        </p:spPr>
        <p:txBody>
          <a:bodyPr wrap="square" lIns="0" tIns="0" rIns="0" bIns="0" rtlCol="0" anchor="ctr"/>
          <a:lstStyle/>
          <a:p>
            <a:pPr indent="0" marL="0">
              <a:buNone/>
            </a:pPr>
            <a:r>
              <a:rPr lang="en-US" sz="900" dirty="0">
                <a:solidFill>
                  <a:srgbClr val="486581"/>
                </a:solidFill>
                <a:latin typeface="Arial" pitchFamily="34" charset="0"/>
                <a:ea typeface="Arial" pitchFamily="34" charset="-122"/>
                <a:cs typeface="Arial" pitchFamily="34" charset="-120"/>
              </a:rPr>
              <a:t>2026-10-20    1.0    1</a:t>
            </a:r>
            <a:endParaRPr lang="en-US" sz="900" dirty="0"/>
          </a:p>
        </p:txBody>
      </p:sp>
      <p:sp>
        <p:nvSpPr>
          <p:cNvPr id="5" name="Text 3"/>
          <p:cNvSpPr/>
          <p:nvPr/>
        </p:nvSpPr>
        <p:spPr>
          <a:xfrm>
            <a:off x="640080" y="1828800"/>
            <a:ext cx="10911535" cy="4023360"/>
          </a:xfrm>
          <a:prstGeom prst="rect">
            <a:avLst/>
          </a:prstGeom>
          <a:noFill/>
          <a:ln/>
        </p:spPr>
        <p:txBody>
          <a:bodyPr wrap="square" lIns="0" tIns="0" rIns="0" bIns="0" rtlCol="0" anchor="t">
            <a:normAutofit/>
          </a:bodyPr>
          <a:lstStyle/>
          <a:p>
            <a:pPr indent="0" marL="0">
              <a:buNone/>
            </a:pPr>
            <a:r>
              <a:rPr lang="en-US" sz="2100" dirty="0">
                <a:solidFill>
                  <a:srgbClr val="102A43"/>
                </a:solidFill>
                <a:latin typeface="Arial" pitchFamily="34" charset="0"/>
                <a:ea typeface="Arial" pitchFamily="34" charset="-122"/>
                <a:cs typeface="Arial" pitchFamily="34" charset="-120"/>
              </a:rPr>
              <a:t>Example Council digital services</a:t>
            </a:r>
            <a:endParaRPr lang="en-US" sz="2100" dirty="0"/>
          </a:p>
          <a:p>
            <a:pPr indent="0" marL="0">
              <a:buNone/>
            </a:pPr>
            <a:endParaRPr lang="en-US" sz="2100" dirty="0"/>
          </a:p>
          <a:p>
            <a:pPr indent="0" marL="0">
              <a:buNone/>
            </a:pPr>
            <a:r>
              <a:rPr lang="en-US" sz="2100" dirty="0">
                <a:solidFill>
                  <a:srgbClr val="102A43"/>
                </a:solidFill>
                <a:latin typeface="Arial" pitchFamily="34" charset="0"/>
                <a:ea typeface="Arial" pitchFamily="34" charset="-122"/>
                <a:cs typeface="Arial" pitchFamily="34" charset="-120"/>
              </a:rPr>
              <a:t>An editable example framework. This is not a certified assessment or a reproduction of a proprietary maturity model.</a:t>
            </a:r>
            <a:endParaRPr lang="en-US" sz="2100" dirty="0"/>
          </a:p>
          <a:p>
            <a:pPr indent="0" marL="0">
              <a:buNone/>
            </a:pPr>
            <a:endParaRPr lang="en-US" sz="2100" dirty="0"/>
          </a:p>
          <a:p>
            <a:pPr indent="0" marL="0">
              <a:buNone/>
            </a:pPr>
            <a:r>
              <a:rPr lang="en-US" sz="2100" dirty="0">
                <a:solidFill>
                  <a:srgbClr val="102A43"/>
                </a:solidFill>
                <a:latin typeface="Arial" pitchFamily="34" charset="0"/>
                <a:ea typeface="Arial" pitchFamily="34" charset="-122"/>
                <a:cs typeface="Arial" pitchFamily="34" charset="-120"/>
              </a:rPr>
              <a:t>Assessment owner: Platform architecture team</a:t>
            </a:r>
            <a:endParaRPr lang="en-US" sz="2100" dirty="0"/>
          </a:p>
          <a:p>
            <a:pPr indent="0" marL="0">
              <a:buNone/>
            </a:pPr>
            <a:endParaRPr lang="en-US" sz="2100" dirty="0"/>
          </a:p>
          <a:p>
            <a:pPr indent="0" marL="0">
              <a:buNone/>
            </a:pPr>
            <a:r>
              <a:rPr lang="en-US" sz="2100" dirty="0">
                <a:solidFill>
                  <a:srgbClr val="102A43"/>
                </a:solidFill>
                <a:latin typeface="Arial" pitchFamily="34" charset="0"/>
                <a:ea typeface="Arial" pitchFamily="34" charset="-122"/>
                <a:cs typeface="Arial" pitchFamily="34" charset="-120"/>
              </a:rPr>
              <a:t>Assessment: 2026-10-20    Version: 1.0</a:t>
            </a:r>
            <a:endParaRPr lang="en-US" sz="2100" dirty="0"/>
          </a:p>
          <a:p>
            <a:pPr indent="0" marL="0">
              <a:buNone/>
            </a:pPr>
            <a:endParaRPr lang="en-US" sz="2100" dirty="0"/>
          </a:p>
          <a:p>
            <a:pPr indent="0" marL="0">
              <a:buNone/>
            </a:pPr>
            <a:r>
              <a:rPr lang="en-US" sz="2100" dirty="0">
                <a:solidFill>
                  <a:srgbClr val="102A43"/>
                </a:solidFill>
                <a:latin typeface="Arial" pitchFamily="34" charset="0"/>
                <a:ea typeface="Arial" pitchFamily="34" charset="-122"/>
                <a:cs typeface="Arial" pitchFamily="34" charset="-120"/>
              </a:rPr>
              <a:t>Framework: Power Platform maturity · illustrative example framework</a:t>
            </a:r>
            <a:endParaRPr lang="en-US" sz="2100" dirty="0"/>
          </a:p>
          <a:p>
            <a:pPr indent="0" marL="0">
              <a:buNone/>
            </a:pPr>
            <a:endParaRPr lang="en-US" sz="2100" dirty="0"/>
          </a:p>
          <a:p>
            <a:pPr indent="0" marL="0">
              <a:buNone/>
            </a:pPr>
            <a:r>
              <a:rPr lang="en-US" sz="2100" dirty="0">
                <a:solidFill>
                  <a:srgbClr val="102A43"/>
                </a:solidFill>
                <a:latin typeface="Arial" pitchFamily="34" charset="0"/>
                <a:ea typeface="Arial" pitchFamily="34" charset="-122"/>
                <a:cs typeface="Arial" pitchFamily="34" charset="-120"/>
              </a:rPr>
              <a:t>Review date: 2027-01-20</a:t>
            </a:r>
            <a:endParaRPr lang="en-US" sz="2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B"/>
        </a:solidFill>
      </p:bgPr>
    </p:bg>
    <p:spTree>
      <p:nvGrpSpPr>
        <p:cNvPr id="1" name=""/>
        <p:cNvGrpSpPr/>
        <p:nvPr/>
      </p:nvGrpSpPr>
      <p:grpSpPr>
        <a:xfrm>
          <a:off x="0" y="0"/>
          <a:ext cx="0" cy="0"/>
          <a:chOff x="0" y="0"/>
          <a:chExt cx="0" cy="0"/>
        </a:xfrm>
      </p:grpSpPr>
      <p:sp>
        <p:nvSpPr>
          <p:cNvPr id="2" name="Text 0"/>
          <p:cNvSpPr/>
          <p:nvPr/>
        </p:nvSpPr>
        <p:spPr>
          <a:xfrm>
            <a:off x="548640" y="292608"/>
            <a:ext cx="11094415" cy="228600"/>
          </a:xfrm>
          <a:prstGeom prst="rect">
            <a:avLst/>
          </a:prstGeom>
          <a:noFill/>
          <a:ln/>
        </p:spPr>
        <p:txBody>
          <a:bodyPr wrap="square" lIns="0" tIns="0" rIns="0" bIns="0" rtlCol="0" anchor="ctr"/>
          <a:lstStyle/>
          <a:p>
            <a:pPr indent="0" marL="0">
              <a:buNone/>
            </a:pPr>
            <a:r>
              <a:rPr lang="en-US" sz="1000" b="1" dirty="0">
                <a:solidFill>
                  <a:srgbClr val="B44D2E"/>
                </a:solidFill>
                <a:latin typeface="Arial" pitchFamily="34" charset="0"/>
                <a:ea typeface="Arial" pitchFamily="34" charset="-122"/>
                <a:cs typeface="Arial" pitchFamily="34" charset="-120"/>
              </a:rPr>
              <a:t>MIGHTORA MATURITY ASSESSMENT</a:t>
            </a:r>
            <a:endParaRPr lang="en-US" sz="1000" dirty="0"/>
          </a:p>
        </p:txBody>
      </p:sp>
      <p:sp>
        <p:nvSpPr>
          <p:cNvPr id="3" name="Text 1"/>
          <p:cNvSpPr/>
          <p:nvPr/>
        </p:nvSpPr>
        <p:spPr>
          <a:xfrm>
            <a:off x="548640" y="777240"/>
            <a:ext cx="11094415" cy="685800"/>
          </a:xfrm>
          <a:prstGeom prst="rect">
            <a:avLst/>
          </a:prstGeom>
          <a:noFill/>
          <a:ln/>
        </p:spPr>
        <p:txBody>
          <a:bodyPr wrap="square" lIns="0" tIns="0" rIns="0" bIns="0" rtlCol="0" anchor="ctr">
            <a:normAutofit/>
          </a:bodyPr>
          <a:lstStyle/>
          <a:p>
            <a:pPr indent="0" marL="0">
              <a:buNone/>
            </a:pPr>
            <a:r>
              <a:rPr lang="en-US" sz="2700" b="1" dirty="0">
                <a:solidFill>
                  <a:srgbClr val="102A43"/>
                </a:solidFill>
                <a:latin typeface="Arial" pitchFamily="34" charset="0"/>
                <a:ea typeface="Arial" pitchFamily="34" charset="-122"/>
                <a:cs typeface="Arial" pitchFamily="34" charset="-120"/>
              </a:rPr>
              <a:t>Executive summary</a:t>
            </a:r>
            <a:endParaRPr lang="en-US" sz="2700" dirty="0"/>
          </a:p>
        </p:txBody>
      </p:sp>
      <p:sp>
        <p:nvSpPr>
          <p:cNvPr id="4" name="Text 2"/>
          <p:cNvSpPr/>
          <p:nvPr/>
        </p:nvSpPr>
        <p:spPr>
          <a:xfrm>
            <a:off x="548640" y="6492240"/>
            <a:ext cx="11094415" cy="182880"/>
          </a:xfrm>
          <a:prstGeom prst="rect">
            <a:avLst/>
          </a:prstGeom>
          <a:noFill/>
          <a:ln/>
        </p:spPr>
        <p:txBody>
          <a:bodyPr wrap="square" lIns="0" tIns="0" rIns="0" bIns="0" rtlCol="0" anchor="ctr"/>
          <a:lstStyle/>
          <a:p>
            <a:pPr indent="0" marL="0">
              <a:buNone/>
            </a:pPr>
            <a:r>
              <a:rPr lang="en-US" sz="900" dirty="0">
                <a:solidFill>
                  <a:srgbClr val="486581"/>
                </a:solidFill>
                <a:latin typeface="Arial" pitchFamily="34" charset="0"/>
                <a:ea typeface="Arial" pitchFamily="34" charset="-122"/>
                <a:cs typeface="Arial" pitchFamily="34" charset="-120"/>
              </a:rPr>
              <a:t>2026-10-20    1.0    2</a:t>
            </a:r>
            <a:endParaRPr lang="en-US" sz="900" dirty="0"/>
          </a:p>
        </p:txBody>
      </p:sp>
      <p:sp>
        <p:nvSpPr>
          <p:cNvPr id="5" name="Text 3"/>
          <p:cNvSpPr/>
          <p:nvPr/>
        </p:nvSpPr>
        <p:spPr>
          <a:xfrm>
            <a:off x="640080" y="1737360"/>
            <a:ext cx="10911535" cy="4389120"/>
          </a:xfrm>
          <a:prstGeom prst="rect">
            <a:avLst/>
          </a:prstGeom>
          <a:noFill/>
          <a:ln/>
        </p:spPr>
        <p:txBody>
          <a:bodyPr wrap="square" lIns="0" tIns="0" rIns="0" bIns="0" rtlCol="0" anchor="t">
            <a:normAutofit/>
          </a:bodyPr>
          <a:lstStyle/>
          <a:p>
            <a:pPr indent="0" marL="0">
              <a:buNone/>
            </a:pPr>
            <a:r>
              <a:rPr lang="en-US" sz="2300" dirty="0">
                <a:solidFill>
                  <a:srgbClr val="102A43"/>
                </a:solidFill>
                <a:latin typeface="Arial" pitchFamily="34" charset="0"/>
                <a:ea typeface="Arial" pitchFamily="34" charset="-122"/>
                <a:cs typeface="Arial" pitchFamily="34" charset="-120"/>
              </a:rPr>
              <a:t>12 of 12 capabilities assessed</a:t>
            </a:r>
            <a:endParaRPr lang="en-US" sz="2300" dirty="0"/>
          </a:p>
          <a:p>
            <a:pPr indent="0" marL="0">
              <a:buNone/>
            </a:pPr>
            <a:r>
              <a:rPr lang="en-US" sz="2300" dirty="0">
                <a:solidFill>
                  <a:srgbClr val="102A43"/>
                </a:solidFill>
                <a:latin typeface="Arial" pitchFamily="34" charset="0"/>
                <a:ea typeface="Arial" pitchFamily="34" charset="-122"/>
                <a:cs typeface="Arial" pitchFamily="34" charset="-120"/>
              </a:rPr>
              <a:t>Current maturity 2.58 / 5</a:t>
            </a:r>
            <a:endParaRPr lang="en-US" sz="2300" dirty="0"/>
          </a:p>
          <a:p>
            <a:pPr indent="0" marL="0">
              <a:buNone/>
            </a:pPr>
            <a:r>
              <a:rPr lang="en-US" sz="2300" dirty="0">
                <a:solidFill>
                  <a:srgbClr val="102A43"/>
                </a:solidFill>
                <a:latin typeface="Arial" pitchFamily="34" charset="0"/>
                <a:ea typeface="Arial" pitchFamily="34" charset="-122"/>
                <a:cs typeface="Arial" pitchFamily="34" charset="-120"/>
              </a:rPr>
              <a:t>Target maturity 4.67 / 5</a:t>
            </a:r>
            <a:endParaRPr lang="en-US" sz="2300" dirty="0"/>
          </a:p>
          <a:p>
            <a:pPr indent="0" marL="0">
              <a:buNone/>
            </a:pPr>
            <a:r>
              <a:rPr lang="en-US" sz="2300" dirty="0">
                <a:solidFill>
                  <a:srgbClr val="102A43"/>
                </a:solidFill>
                <a:latin typeface="Arial" pitchFamily="34" charset="0"/>
                <a:ea typeface="Arial" pitchFamily="34" charset="-122"/>
                <a:cs typeface="Arial" pitchFamily="34" charset="-120"/>
              </a:rPr>
              <a:t>10 capabilities require attention</a:t>
            </a:r>
            <a:endParaRPr lang="en-US" sz="2300" dirty="0"/>
          </a:p>
          <a:p>
            <a:pPr indent="0" marL="0">
              <a:buNone/>
            </a:pPr>
            <a:r>
              <a:rPr lang="en-US" sz="2300" dirty="0">
                <a:solidFill>
                  <a:srgbClr val="102A43"/>
                </a:solidFill>
                <a:latin typeface="Arial" pitchFamily="34" charset="0"/>
                <a:ea typeface="Arial" pitchFamily="34" charset="-122"/>
                <a:cs typeface="Arial" pitchFamily="34" charset="-120"/>
              </a:rPr>
              <a:t>0 not applicable, 0 not assessed</a:t>
            </a:r>
            <a:endParaRPr lang="en-US" sz="2300" dirty="0"/>
          </a:p>
          <a:p>
            <a:pPr indent="0" marL="0">
              <a:buNone/>
            </a:pPr>
            <a:endParaRPr lang="en-US" sz="2300" dirty="0"/>
          </a:p>
          <a:p>
            <a:pPr indent="0" marL="0">
              <a:buNone/>
            </a:pPr>
            <a:r>
              <a:rPr lang="en-US" sz="2300" dirty="0">
                <a:solidFill>
                  <a:srgbClr val="102A43"/>
                </a:solidFill>
                <a:latin typeface="Arial" pitchFamily="34" charset="0"/>
                <a:ea typeface="Arial" pitchFamily="34" charset="-122"/>
                <a:cs typeface="Arial" pitchFamily="34" charset="-120"/>
              </a:rPr>
              <a:t>Scores describe the evidence recorded in this assessment. Priorities and risks guide the improvement sequence.</a:t>
            </a:r>
            <a:endParaRPr lang="en-US" sz="2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B"/>
        </a:solidFill>
      </p:bgPr>
    </p:bg>
    <p:spTree>
      <p:nvGrpSpPr>
        <p:cNvPr id="1" name=""/>
        <p:cNvGrpSpPr/>
        <p:nvPr/>
      </p:nvGrpSpPr>
      <p:grpSpPr>
        <a:xfrm>
          <a:off x="0" y="0"/>
          <a:ext cx="0" cy="0"/>
          <a:chOff x="0" y="0"/>
          <a:chExt cx="0" cy="0"/>
        </a:xfrm>
      </p:grpSpPr>
      <p:sp>
        <p:nvSpPr>
          <p:cNvPr id="2" name="Text 0"/>
          <p:cNvSpPr/>
          <p:nvPr/>
        </p:nvSpPr>
        <p:spPr>
          <a:xfrm>
            <a:off x="548640" y="292608"/>
            <a:ext cx="11094415" cy="228600"/>
          </a:xfrm>
          <a:prstGeom prst="rect">
            <a:avLst/>
          </a:prstGeom>
          <a:noFill/>
          <a:ln/>
        </p:spPr>
        <p:txBody>
          <a:bodyPr wrap="square" lIns="0" tIns="0" rIns="0" bIns="0" rtlCol="0" anchor="ctr"/>
          <a:lstStyle/>
          <a:p>
            <a:pPr indent="0" marL="0">
              <a:buNone/>
            </a:pPr>
            <a:r>
              <a:rPr lang="en-US" sz="1000" b="1" dirty="0">
                <a:solidFill>
                  <a:srgbClr val="B44D2E"/>
                </a:solidFill>
                <a:latin typeface="Arial" pitchFamily="34" charset="0"/>
                <a:ea typeface="Arial" pitchFamily="34" charset="-122"/>
                <a:cs typeface="Arial" pitchFamily="34" charset="-120"/>
              </a:rPr>
              <a:t>MIGHTORA MATURITY ASSESSMENT</a:t>
            </a:r>
            <a:endParaRPr lang="en-US" sz="1000" dirty="0"/>
          </a:p>
        </p:txBody>
      </p:sp>
      <p:sp>
        <p:nvSpPr>
          <p:cNvPr id="3" name="Text 1"/>
          <p:cNvSpPr/>
          <p:nvPr/>
        </p:nvSpPr>
        <p:spPr>
          <a:xfrm>
            <a:off x="548640" y="777240"/>
            <a:ext cx="11094415" cy="685800"/>
          </a:xfrm>
          <a:prstGeom prst="rect">
            <a:avLst/>
          </a:prstGeom>
          <a:noFill/>
          <a:ln/>
        </p:spPr>
        <p:txBody>
          <a:bodyPr wrap="square" lIns="0" tIns="0" rIns="0" bIns="0" rtlCol="0" anchor="ctr">
            <a:normAutofit/>
          </a:bodyPr>
          <a:lstStyle/>
          <a:p>
            <a:pPr indent="0" marL="0">
              <a:buNone/>
            </a:pPr>
            <a:r>
              <a:rPr lang="en-US" sz="2700" b="1" dirty="0">
                <a:solidFill>
                  <a:srgbClr val="102A43"/>
                </a:solidFill>
                <a:latin typeface="Arial" pitchFamily="34" charset="0"/>
                <a:ea typeface="Arial" pitchFamily="34" charset="-122"/>
                <a:cs typeface="Arial" pitchFamily="34" charset="-120"/>
              </a:rPr>
              <a:t>Overall capability maturity radar</a:t>
            </a:r>
            <a:endParaRPr lang="en-US" sz="2700" dirty="0"/>
          </a:p>
        </p:txBody>
      </p:sp>
      <p:sp>
        <p:nvSpPr>
          <p:cNvPr id="4" name="Text 2"/>
          <p:cNvSpPr/>
          <p:nvPr/>
        </p:nvSpPr>
        <p:spPr>
          <a:xfrm>
            <a:off x="548640" y="6492240"/>
            <a:ext cx="11094415" cy="182880"/>
          </a:xfrm>
          <a:prstGeom prst="rect">
            <a:avLst/>
          </a:prstGeom>
          <a:noFill/>
          <a:ln/>
        </p:spPr>
        <p:txBody>
          <a:bodyPr wrap="square" lIns="0" tIns="0" rIns="0" bIns="0" rtlCol="0" anchor="ctr"/>
          <a:lstStyle/>
          <a:p>
            <a:pPr indent="0" marL="0">
              <a:buNone/>
            </a:pPr>
            <a:r>
              <a:rPr lang="en-US" sz="900" dirty="0">
                <a:solidFill>
                  <a:srgbClr val="486581"/>
                </a:solidFill>
                <a:latin typeface="Arial" pitchFamily="34" charset="0"/>
                <a:ea typeface="Arial" pitchFamily="34" charset="-122"/>
                <a:cs typeface="Arial" pitchFamily="34" charset="-120"/>
              </a:rPr>
              <a:t>2026-10-20    1.0    3</a:t>
            </a:r>
            <a:endParaRPr lang="en-US" sz="900" dirty="0"/>
          </a:p>
        </p:txBody>
      </p:sp>
      <p:graphicFrame>
        <p:nvGraphicFramePr>
          <p:cNvPr id="5" name="Chart 0" descr=""/>
          <p:cNvGraphicFramePr/>
          <p:nvPr/>
        </p:nvGraphicFramePr>
        <p:xfrm>
          <a:off x="594360" y="1508760"/>
          <a:ext cx="11002975" cy="475488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B"/>
        </a:solidFill>
      </p:bgPr>
    </p:bg>
    <p:spTree>
      <p:nvGrpSpPr>
        <p:cNvPr id="1" name=""/>
        <p:cNvGrpSpPr/>
        <p:nvPr/>
      </p:nvGrpSpPr>
      <p:grpSpPr>
        <a:xfrm>
          <a:off x="0" y="0"/>
          <a:ext cx="0" cy="0"/>
          <a:chOff x="0" y="0"/>
          <a:chExt cx="0" cy="0"/>
        </a:xfrm>
      </p:grpSpPr>
      <p:sp>
        <p:nvSpPr>
          <p:cNvPr id="2" name="Text 0"/>
          <p:cNvSpPr/>
          <p:nvPr/>
        </p:nvSpPr>
        <p:spPr>
          <a:xfrm>
            <a:off x="548640" y="292608"/>
            <a:ext cx="11094415" cy="228600"/>
          </a:xfrm>
          <a:prstGeom prst="rect">
            <a:avLst/>
          </a:prstGeom>
          <a:noFill/>
          <a:ln/>
        </p:spPr>
        <p:txBody>
          <a:bodyPr wrap="square" lIns="0" tIns="0" rIns="0" bIns="0" rtlCol="0" anchor="ctr"/>
          <a:lstStyle/>
          <a:p>
            <a:pPr indent="0" marL="0">
              <a:buNone/>
            </a:pPr>
            <a:r>
              <a:rPr lang="en-US" sz="1000" b="1" dirty="0">
                <a:solidFill>
                  <a:srgbClr val="B44D2E"/>
                </a:solidFill>
                <a:latin typeface="Arial" pitchFamily="34" charset="0"/>
                <a:ea typeface="Arial" pitchFamily="34" charset="-122"/>
                <a:cs typeface="Arial" pitchFamily="34" charset="-120"/>
              </a:rPr>
              <a:t>MIGHTORA MATURITY ASSESSMENT</a:t>
            </a:r>
            <a:endParaRPr lang="en-US" sz="1000" dirty="0"/>
          </a:p>
        </p:txBody>
      </p:sp>
      <p:sp>
        <p:nvSpPr>
          <p:cNvPr id="3" name="Text 1"/>
          <p:cNvSpPr/>
          <p:nvPr/>
        </p:nvSpPr>
        <p:spPr>
          <a:xfrm>
            <a:off x="548640" y="777240"/>
            <a:ext cx="11094415" cy="685800"/>
          </a:xfrm>
          <a:prstGeom prst="rect">
            <a:avLst/>
          </a:prstGeom>
          <a:noFill/>
          <a:ln/>
        </p:spPr>
        <p:txBody>
          <a:bodyPr wrap="square" lIns="0" tIns="0" rIns="0" bIns="0" rtlCol="0" anchor="ctr">
            <a:normAutofit/>
          </a:bodyPr>
          <a:lstStyle/>
          <a:p>
            <a:pPr indent="0" marL="0">
              <a:buNone/>
            </a:pPr>
            <a:r>
              <a:rPr lang="en-US" sz="2700" b="1" dirty="0">
                <a:solidFill>
                  <a:srgbClr val="102A43"/>
                </a:solidFill>
                <a:latin typeface="Arial" pitchFamily="34" charset="0"/>
                <a:ea typeface="Arial" pitchFamily="34" charset="-122"/>
                <a:cs typeface="Arial" pitchFamily="34" charset="-120"/>
              </a:rPr>
              <a:t>Domain maturity summary</a:t>
            </a:r>
            <a:endParaRPr lang="en-US" sz="2700" dirty="0"/>
          </a:p>
        </p:txBody>
      </p:sp>
      <p:sp>
        <p:nvSpPr>
          <p:cNvPr id="4" name="Text 2"/>
          <p:cNvSpPr/>
          <p:nvPr/>
        </p:nvSpPr>
        <p:spPr>
          <a:xfrm>
            <a:off x="548640" y="6492240"/>
            <a:ext cx="11094415" cy="182880"/>
          </a:xfrm>
          <a:prstGeom prst="rect">
            <a:avLst/>
          </a:prstGeom>
          <a:noFill/>
          <a:ln/>
        </p:spPr>
        <p:txBody>
          <a:bodyPr wrap="square" lIns="0" tIns="0" rIns="0" bIns="0" rtlCol="0" anchor="ctr"/>
          <a:lstStyle/>
          <a:p>
            <a:pPr indent="0" marL="0">
              <a:buNone/>
            </a:pPr>
            <a:r>
              <a:rPr lang="en-US" sz="900" dirty="0">
                <a:solidFill>
                  <a:srgbClr val="486581"/>
                </a:solidFill>
                <a:latin typeface="Arial" pitchFamily="34" charset="0"/>
                <a:ea typeface="Arial" pitchFamily="34" charset="-122"/>
                <a:cs typeface="Arial" pitchFamily="34" charset="-120"/>
              </a:rPr>
              <a:t>2026-10-20    1.0    4</a:t>
            </a:r>
            <a:endParaRPr lang="en-US" sz="9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4415" cy="914400"/>
        </p:xfrm>
        <a:graphic>
          <a:graphicData uri="http://schemas.openxmlformats.org/drawingml/2006/table">
            <a:tbl>
              <a:tblPr/>
              <a:tblGrid>
                <a:gridCol w="4881543"/>
                <a:gridCol w="1775106"/>
                <a:gridCol w="2218883"/>
                <a:gridCol w="2218883"/>
              </a:tblGrid>
              <a:tr h="502920">
                <a:tc>
                  <a:txBody>
                    <a:bodyPr/>
                    <a:lstStyle/>
                    <a:p>
                      <a:pPr indent="0" marL="0">
                        <a:buNone/>
                      </a:pPr>
                      <a:r>
                        <a:rPr lang="en-US" sz="1200" b="1" dirty="0">
                          <a:solidFill>
                            <a:srgbClr val="FFFFFF"/>
                          </a:solidFill>
                          <a:latin typeface="Arial" pitchFamily="34" charset="0"/>
                          <a:ea typeface="Arial" pitchFamily="34" charset="-122"/>
                          <a:cs typeface="Arial" pitchFamily="34" charset="-120"/>
                        </a:rPr>
                        <a:t>Domain</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102A43"/>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Assessed</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102A43"/>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Current</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102A43"/>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Target</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102A43"/>
                    </a:solidFill>
                  </a:tcPr>
                </a:tc>
              </a:tr>
              <a:tr h="502920">
                <a:tc>
                  <a:txBody>
                    <a:bodyPr/>
                    <a:lstStyle/>
                    <a:p>
                      <a:pPr indent="0" marL="0">
                        <a:buNone/>
                      </a:pPr>
                      <a:r>
                        <a:rPr lang="en-US" sz="1200" dirty="0">
                          <a:solidFill>
                            <a:srgbClr val="102A43"/>
                          </a:solidFill>
                          <a:latin typeface="Arial" pitchFamily="34" charset="0"/>
                          <a:ea typeface="Arial" pitchFamily="34" charset="-122"/>
                          <a:cs typeface="Arial" pitchFamily="34" charset="-120"/>
                        </a:rPr>
                        <a:t>Governance and enablement</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200" dirty="0">
                          <a:solidFill>
                            <a:srgbClr val="102A43"/>
                          </a:solidFill>
                          <a:latin typeface="Arial" pitchFamily="34" charset="0"/>
                          <a:ea typeface="Arial" pitchFamily="34" charset="-122"/>
                          <a:cs typeface="Arial" pitchFamily="34" charset="-120"/>
                        </a:rPr>
                        <a:t>3 / 3</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200" dirty="0">
                          <a:solidFill>
                            <a:srgbClr val="102A43"/>
                          </a:solidFill>
                          <a:latin typeface="Arial" pitchFamily="34" charset="0"/>
                          <a:ea typeface="Arial" pitchFamily="34" charset="-122"/>
                          <a:cs typeface="Arial" pitchFamily="34" charset="-120"/>
                        </a:rPr>
                        <a:t>2.33</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200" dirty="0">
                          <a:solidFill>
                            <a:srgbClr val="102A43"/>
                          </a:solidFill>
                          <a:latin typeface="Arial" pitchFamily="34" charset="0"/>
                          <a:ea typeface="Arial" pitchFamily="34" charset="-122"/>
                          <a:cs typeface="Arial" pitchFamily="34" charset="-120"/>
                        </a:rPr>
                        <a:t>4.67</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r>
              <a:tr h="502920">
                <a:tc>
                  <a:txBody>
                    <a:bodyPr/>
                    <a:lstStyle/>
                    <a:p>
                      <a:pPr indent="0" marL="0">
                        <a:buNone/>
                      </a:pPr>
                      <a:r>
                        <a:rPr lang="en-US" sz="1200" dirty="0">
                          <a:solidFill>
                            <a:srgbClr val="102A43"/>
                          </a:solidFill>
                          <a:latin typeface="Arial" pitchFamily="34" charset="0"/>
                          <a:ea typeface="Arial" pitchFamily="34" charset="-122"/>
                          <a:cs typeface="Arial" pitchFamily="34" charset="-120"/>
                        </a:rPr>
                        <a:t>Architecture and security</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200" dirty="0">
                          <a:solidFill>
                            <a:srgbClr val="102A43"/>
                          </a:solidFill>
                          <a:latin typeface="Arial" pitchFamily="34" charset="0"/>
                          <a:ea typeface="Arial" pitchFamily="34" charset="-122"/>
                          <a:cs typeface="Arial" pitchFamily="34" charset="-120"/>
                        </a:rPr>
                        <a:t>3 / 3</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200" dirty="0">
                          <a:solidFill>
                            <a:srgbClr val="102A43"/>
                          </a:solidFill>
                          <a:latin typeface="Arial" pitchFamily="34" charset="0"/>
                          <a:ea typeface="Arial" pitchFamily="34" charset="-122"/>
                          <a:cs typeface="Arial" pitchFamily="34" charset="-120"/>
                        </a:rPr>
                        <a:t>3.00</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200" dirty="0">
                          <a:solidFill>
                            <a:srgbClr val="102A43"/>
                          </a:solidFill>
                          <a:latin typeface="Arial" pitchFamily="34" charset="0"/>
                          <a:ea typeface="Arial" pitchFamily="34" charset="-122"/>
                          <a:cs typeface="Arial" pitchFamily="34" charset="-120"/>
                        </a:rPr>
                        <a:t>4.67</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r>
              <a:tr h="502920">
                <a:tc>
                  <a:txBody>
                    <a:bodyPr/>
                    <a:lstStyle/>
                    <a:p>
                      <a:pPr indent="0" marL="0">
                        <a:buNone/>
                      </a:pPr>
                      <a:r>
                        <a:rPr lang="en-US" sz="1200" dirty="0">
                          <a:solidFill>
                            <a:srgbClr val="102A43"/>
                          </a:solidFill>
                          <a:latin typeface="Arial" pitchFamily="34" charset="0"/>
                          <a:ea typeface="Arial" pitchFamily="34" charset="-122"/>
                          <a:cs typeface="Arial" pitchFamily="34" charset="-120"/>
                        </a:rPr>
                        <a:t>Engineering and delivery</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200" dirty="0">
                          <a:solidFill>
                            <a:srgbClr val="102A43"/>
                          </a:solidFill>
                          <a:latin typeface="Arial" pitchFamily="34" charset="0"/>
                          <a:ea typeface="Arial" pitchFamily="34" charset="-122"/>
                          <a:cs typeface="Arial" pitchFamily="34" charset="-120"/>
                        </a:rPr>
                        <a:t>3 / 3</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200" dirty="0">
                          <a:solidFill>
                            <a:srgbClr val="102A43"/>
                          </a:solidFill>
                          <a:latin typeface="Arial" pitchFamily="34" charset="0"/>
                          <a:ea typeface="Arial" pitchFamily="34" charset="-122"/>
                          <a:cs typeface="Arial" pitchFamily="34" charset="-120"/>
                        </a:rPr>
                        <a:t>2.33</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200" dirty="0">
                          <a:solidFill>
                            <a:srgbClr val="102A43"/>
                          </a:solidFill>
                          <a:latin typeface="Arial" pitchFamily="34" charset="0"/>
                          <a:ea typeface="Arial" pitchFamily="34" charset="-122"/>
                          <a:cs typeface="Arial" pitchFamily="34" charset="-120"/>
                        </a:rPr>
                        <a:t>4.67</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r>
              <a:tr h="502920">
                <a:tc>
                  <a:txBody>
                    <a:bodyPr/>
                    <a:lstStyle/>
                    <a:p>
                      <a:pPr indent="0" marL="0">
                        <a:buNone/>
                      </a:pPr>
                      <a:r>
                        <a:rPr lang="en-US" sz="1200" dirty="0">
                          <a:solidFill>
                            <a:srgbClr val="102A43"/>
                          </a:solidFill>
                          <a:latin typeface="Arial" pitchFamily="34" charset="0"/>
                          <a:ea typeface="Arial" pitchFamily="34" charset="-122"/>
                          <a:cs typeface="Arial" pitchFamily="34" charset="-120"/>
                        </a:rPr>
                        <a:t>Operations and resilience</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200" dirty="0">
                          <a:solidFill>
                            <a:srgbClr val="102A43"/>
                          </a:solidFill>
                          <a:latin typeface="Arial" pitchFamily="34" charset="0"/>
                          <a:ea typeface="Arial" pitchFamily="34" charset="-122"/>
                          <a:cs typeface="Arial" pitchFamily="34" charset="-120"/>
                        </a:rPr>
                        <a:t>3 / 3</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200" dirty="0">
                          <a:solidFill>
                            <a:srgbClr val="102A43"/>
                          </a:solidFill>
                          <a:latin typeface="Arial" pitchFamily="34" charset="0"/>
                          <a:ea typeface="Arial" pitchFamily="34" charset="-122"/>
                          <a:cs typeface="Arial" pitchFamily="34" charset="-120"/>
                        </a:rPr>
                        <a:t>2.67</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200" dirty="0">
                          <a:solidFill>
                            <a:srgbClr val="102A43"/>
                          </a:solidFill>
                          <a:latin typeface="Arial" pitchFamily="34" charset="0"/>
                          <a:ea typeface="Arial" pitchFamily="34" charset="-122"/>
                          <a:cs typeface="Arial" pitchFamily="34" charset="-120"/>
                        </a:rPr>
                        <a:t>4.67</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B"/>
        </a:solidFill>
      </p:bgPr>
    </p:bg>
    <p:spTree>
      <p:nvGrpSpPr>
        <p:cNvPr id="1" name=""/>
        <p:cNvGrpSpPr/>
        <p:nvPr/>
      </p:nvGrpSpPr>
      <p:grpSpPr>
        <a:xfrm>
          <a:off x="0" y="0"/>
          <a:ext cx="0" cy="0"/>
          <a:chOff x="0" y="0"/>
          <a:chExt cx="0" cy="0"/>
        </a:xfrm>
      </p:grpSpPr>
      <p:sp>
        <p:nvSpPr>
          <p:cNvPr id="2" name="Text 0"/>
          <p:cNvSpPr/>
          <p:nvPr/>
        </p:nvSpPr>
        <p:spPr>
          <a:xfrm>
            <a:off x="548640" y="292608"/>
            <a:ext cx="11094415" cy="228600"/>
          </a:xfrm>
          <a:prstGeom prst="rect">
            <a:avLst/>
          </a:prstGeom>
          <a:noFill/>
          <a:ln/>
        </p:spPr>
        <p:txBody>
          <a:bodyPr wrap="square" lIns="0" tIns="0" rIns="0" bIns="0" rtlCol="0" anchor="ctr"/>
          <a:lstStyle/>
          <a:p>
            <a:pPr indent="0" marL="0">
              <a:buNone/>
            </a:pPr>
            <a:r>
              <a:rPr lang="en-US" sz="1000" b="1" dirty="0">
                <a:solidFill>
                  <a:srgbClr val="B44D2E"/>
                </a:solidFill>
                <a:latin typeface="Arial" pitchFamily="34" charset="0"/>
                <a:ea typeface="Arial" pitchFamily="34" charset="-122"/>
                <a:cs typeface="Arial" pitchFamily="34" charset="-120"/>
              </a:rPr>
              <a:t>MIGHTORA MATURITY ASSESSMENT</a:t>
            </a:r>
            <a:endParaRPr lang="en-US" sz="1000" dirty="0"/>
          </a:p>
        </p:txBody>
      </p:sp>
      <p:sp>
        <p:nvSpPr>
          <p:cNvPr id="3" name="Text 1"/>
          <p:cNvSpPr/>
          <p:nvPr/>
        </p:nvSpPr>
        <p:spPr>
          <a:xfrm>
            <a:off x="548640" y="777240"/>
            <a:ext cx="11094415" cy="685800"/>
          </a:xfrm>
          <a:prstGeom prst="rect">
            <a:avLst/>
          </a:prstGeom>
          <a:noFill/>
          <a:ln/>
        </p:spPr>
        <p:txBody>
          <a:bodyPr wrap="square" lIns="0" tIns="0" rIns="0" bIns="0" rtlCol="0" anchor="ctr">
            <a:normAutofit/>
          </a:bodyPr>
          <a:lstStyle/>
          <a:p>
            <a:pPr indent="0" marL="0">
              <a:buNone/>
            </a:pPr>
            <a:r>
              <a:rPr lang="en-US" sz="2700" b="1" dirty="0">
                <a:solidFill>
                  <a:srgbClr val="102A43"/>
                </a:solidFill>
                <a:latin typeface="Arial" pitchFamily="34" charset="0"/>
                <a:ea typeface="Arial" pitchFamily="34" charset="-122"/>
                <a:cs typeface="Arial" pitchFamily="34" charset="-120"/>
              </a:rPr>
              <a:t>Capability maturity heatmap</a:t>
            </a:r>
            <a:endParaRPr lang="en-US" sz="2700" dirty="0"/>
          </a:p>
        </p:txBody>
      </p:sp>
      <p:sp>
        <p:nvSpPr>
          <p:cNvPr id="4" name="Text 2"/>
          <p:cNvSpPr/>
          <p:nvPr/>
        </p:nvSpPr>
        <p:spPr>
          <a:xfrm>
            <a:off x="548640" y="6492240"/>
            <a:ext cx="11094415" cy="182880"/>
          </a:xfrm>
          <a:prstGeom prst="rect">
            <a:avLst/>
          </a:prstGeom>
          <a:noFill/>
          <a:ln/>
        </p:spPr>
        <p:txBody>
          <a:bodyPr wrap="square" lIns="0" tIns="0" rIns="0" bIns="0" rtlCol="0" anchor="ctr"/>
          <a:lstStyle/>
          <a:p>
            <a:pPr indent="0" marL="0">
              <a:buNone/>
            </a:pPr>
            <a:r>
              <a:rPr lang="en-US" sz="900" dirty="0">
                <a:solidFill>
                  <a:srgbClr val="486581"/>
                </a:solidFill>
                <a:latin typeface="Arial" pitchFamily="34" charset="0"/>
                <a:ea typeface="Arial" pitchFamily="34" charset="-122"/>
                <a:cs typeface="Arial" pitchFamily="34" charset="-120"/>
              </a:rPr>
              <a:t>2026-10-20    1.0    5</a:t>
            </a:r>
            <a:endParaRPr lang="en-US" sz="9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4415" cy="914400"/>
        </p:xfrm>
        <a:graphic>
          <a:graphicData uri="http://schemas.openxmlformats.org/drawingml/2006/table">
            <a:tbl>
              <a:tblPr/>
              <a:tblGrid>
                <a:gridCol w="4437766"/>
                <a:gridCol w="2995492"/>
                <a:gridCol w="1886051"/>
                <a:gridCol w="1775106"/>
              </a:tblGrid>
              <a:tr h="502920">
                <a:tc>
                  <a:txBody>
                    <a:bodyPr/>
                    <a:lstStyle/>
                    <a:p>
                      <a:pPr indent="0" marL="0">
                        <a:buNone/>
                      </a:pPr>
                      <a:r>
                        <a:rPr lang="en-US" sz="1100" b="1" dirty="0">
                          <a:solidFill>
                            <a:srgbClr val="FFFFFF"/>
                          </a:solidFill>
                          <a:latin typeface="Arial" pitchFamily="34" charset="0"/>
                          <a:ea typeface="Arial" pitchFamily="34" charset="-122"/>
                          <a:cs typeface="Arial" pitchFamily="34" charset="-120"/>
                        </a:rPr>
                        <a:t>Capability</a:t>
                      </a:r>
                      <a:endParaRPr lang="en-US" sz="1100" dirty="0">
                        <a:latin typeface="Arial" charset="0"/>
                        <a:ea typeface="Arial" charset="0"/>
                        <a:cs typeface="Arial" charset="0"/>
                      </a:endParaRPr>
                    </a:p>
                  </a:txBody>
                  <a:tcPr marL="73152" marR="73152" marT="73152" marB="73152">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102A43"/>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Domain</a:t>
                      </a:r>
                      <a:endParaRPr lang="en-US" sz="1100" dirty="0">
                        <a:latin typeface="Arial" charset="0"/>
                        <a:ea typeface="Arial" charset="0"/>
                        <a:cs typeface="Arial" charset="0"/>
                      </a:endParaRPr>
                    </a:p>
                  </a:txBody>
                  <a:tcPr marL="73152" marR="73152" marT="73152" marB="73152">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102A43"/>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Current</a:t>
                      </a:r>
                      <a:endParaRPr lang="en-US" sz="1100" dirty="0">
                        <a:latin typeface="Arial" charset="0"/>
                        <a:ea typeface="Arial" charset="0"/>
                        <a:cs typeface="Arial" charset="0"/>
                      </a:endParaRPr>
                    </a:p>
                  </a:txBody>
                  <a:tcPr marL="73152" marR="73152" marT="73152" marB="73152">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102A43"/>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Target</a:t>
                      </a:r>
                      <a:endParaRPr lang="en-US" sz="1100" dirty="0">
                        <a:latin typeface="Arial" charset="0"/>
                        <a:ea typeface="Arial" charset="0"/>
                        <a:cs typeface="Arial" charset="0"/>
                      </a:endParaRPr>
                    </a:p>
                  </a:txBody>
                  <a:tcPr marL="73152" marR="73152" marT="73152" marB="73152">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102A43"/>
                    </a:solidFill>
                  </a:tcPr>
                </a:tc>
              </a:tr>
              <a:tr h="502920">
                <a:tc>
                  <a:txBody>
                    <a:bodyPr/>
                    <a:lstStyle/>
                    <a:p>
                      <a:pPr indent="0" marL="0">
                        <a:buNone/>
                      </a:pPr>
                      <a:r>
                        <a:rPr lang="en-US" sz="1100" dirty="0">
                          <a:solidFill>
                            <a:srgbClr val="000000"/>
                          </a:solidFill>
                          <a:latin typeface="Arial" pitchFamily="34" charset="0"/>
                          <a:ea typeface="Arial" pitchFamily="34" charset="-122"/>
                          <a:cs typeface="Arial" pitchFamily="34" charset="-120"/>
                        </a:rPr>
                        <a:t>Governance and environment strategy</a:t>
                      </a:r>
                      <a:endParaRPr lang="en-US" sz="1100" dirty="0">
                        <a:latin typeface="Arial" charset="0"/>
                        <a:ea typeface="Arial" charset="0"/>
                        <a:cs typeface="Arial" charset="0"/>
                      </a:endParaRPr>
                    </a:p>
                  </a:txBody>
                  <a:tcPr marL="73152" marR="73152" marT="73152" marB="73152">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Governance and enablement</a:t>
                      </a:r>
                      <a:endParaRPr lang="en-US" sz="1100" dirty="0">
                        <a:latin typeface="Arial" charset="0"/>
                        <a:ea typeface="Arial" charset="0"/>
                        <a:cs typeface="Arial" charset="0"/>
                      </a:endParaRPr>
                    </a:p>
                  </a:txBody>
                  <a:tcPr marL="73152" marR="73152" marT="73152" marB="73152">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2</a:t>
                      </a:r>
                      <a:endParaRPr lang="en-US" sz="1100" dirty="0">
                        <a:latin typeface="Arial" charset="0"/>
                        <a:ea typeface="Arial" charset="0"/>
                        <a:cs typeface="Arial" charset="0"/>
                      </a:endParaRPr>
                    </a:p>
                  </a:txBody>
                  <a:tcPr marL="73152" marR="73152" marT="73152" marB="73152">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9B36D"/>
                    </a:solidFill>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5</a:t>
                      </a:r>
                      <a:endParaRPr lang="en-US" sz="1100" dirty="0">
                        <a:latin typeface="Arial" charset="0"/>
                        <a:ea typeface="Arial" charset="0"/>
                        <a:cs typeface="Arial" charset="0"/>
                      </a:endParaRPr>
                    </a:p>
                  </a:txBody>
                  <a:tcPr marL="73152" marR="73152" marT="73152" marB="73152">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r>
              <a:tr h="502920">
                <a:tc>
                  <a:txBody>
                    <a:bodyPr/>
                    <a:lstStyle/>
                    <a:p>
                      <a:pPr indent="0" marL="0">
                        <a:buNone/>
                      </a:pPr>
                      <a:r>
                        <a:rPr lang="en-US" sz="1100" dirty="0">
                          <a:solidFill>
                            <a:srgbClr val="000000"/>
                          </a:solidFill>
                          <a:latin typeface="Arial" pitchFamily="34" charset="0"/>
                          <a:ea typeface="Arial" pitchFamily="34" charset="-122"/>
                          <a:cs typeface="Arial" pitchFamily="34" charset="-120"/>
                        </a:rPr>
                        <a:t>Citizen developer enablement</a:t>
                      </a:r>
                      <a:endParaRPr lang="en-US" sz="1100" dirty="0">
                        <a:latin typeface="Arial" charset="0"/>
                        <a:ea typeface="Arial" charset="0"/>
                        <a:cs typeface="Arial" charset="0"/>
                      </a:endParaRPr>
                    </a:p>
                  </a:txBody>
                  <a:tcPr marL="73152" marR="73152" marT="73152" marB="73152">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Governance and enablement</a:t>
                      </a:r>
                      <a:endParaRPr lang="en-US" sz="1100" dirty="0">
                        <a:latin typeface="Arial" charset="0"/>
                        <a:ea typeface="Arial" charset="0"/>
                        <a:cs typeface="Arial" charset="0"/>
                      </a:endParaRPr>
                    </a:p>
                  </a:txBody>
                  <a:tcPr marL="73152" marR="73152" marT="73152" marB="73152">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3</a:t>
                      </a:r>
                      <a:endParaRPr lang="en-US" sz="1100" dirty="0">
                        <a:latin typeface="Arial" charset="0"/>
                        <a:ea typeface="Arial" charset="0"/>
                        <a:cs typeface="Arial" charset="0"/>
                      </a:endParaRPr>
                    </a:p>
                  </a:txBody>
                  <a:tcPr marL="73152" marR="73152" marT="73152" marB="73152">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9C46A"/>
                    </a:solidFill>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4</a:t>
                      </a:r>
                      <a:endParaRPr lang="en-US" sz="1100" dirty="0">
                        <a:latin typeface="Arial" charset="0"/>
                        <a:ea typeface="Arial" charset="0"/>
                        <a:cs typeface="Arial" charset="0"/>
                      </a:endParaRPr>
                    </a:p>
                  </a:txBody>
                  <a:tcPr marL="73152" marR="73152" marT="73152" marB="73152">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r>
              <a:tr h="502920">
                <a:tc>
                  <a:txBody>
                    <a:bodyPr/>
                    <a:lstStyle/>
                    <a:p>
                      <a:pPr indent="0" marL="0">
                        <a:buNone/>
                      </a:pPr>
                      <a:r>
                        <a:rPr lang="en-US" sz="1100" dirty="0">
                          <a:solidFill>
                            <a:srgbClr val="000000"/>
                          </a:solidFill>
                          <a:latin typeface="Arial" pitchFamily="34" charset="0"/>
                          <a:ea typeface="Arial" pitchFamily="34" charset="-122"/>
                          <a:cs typeface="Arial" pitchFamily="34" charset="-120"/>
                        </a:rPr>
                        <a:t>Data governance</a:t>
                      </a:r>
                      <a:endParaRPr lang="en-US" sz="1100" dirty="0">
                        <a:latin typeface="Arial" charset="0"/>
                        <a:ea typeface="Arial" charset="0"/>
                        <a:cs typeface="Arial" charset="0"/>
                      </a:endParaRPr>
                    </a:p>
                  </a:txBody>
                  <a:tcPr marL="73152" marR="73152" marT="73152" marB="73152">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Governance and enablement</a:t>
                      </a:r>
                      <a:endParaRPr lang="en-US" sz="1100" dirty="0">
                        <a:latin typeface="Arial" charset="0"/>
                        <a:ea typeface="Arial" charset="0"/>
                        <a:cs typeface="Arial" charset="0"/>
                      </a:endParaRPr>
                    </a:p>
                  </a:txBody>
                  <a:tcPr marL="73152" marR="73152" marT="73152" marB="73152">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2</a:t>
                      </a:r>
                      <a:endParaRPr lang="en-US" sz="1100" dirty="0">
                        <a:latin typeface="Arial" charset="0"/>
                        <a:ea typeface="Arial" charset="0"/>
                        <a:cs typeface="Arial" charset="0"/>
                      </a:endParaRPr>
                    </a:p>
                  </a:txBody>
                  <a:tcPr marL="73152" marR="73152" marT="73152" marB="73152">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9B36D"/>
                    </a:solidFill>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5</a:t>
                      </a:r>
                      <a:endParaRPr lang="en-US" sz="1100" dirty="0">
                        <a:latin typeface="Arial" charset="0"/>
                        <a:ea typeface="Arial" charset="0"/>
                        <a:cs typeface="Arial" charset="0"/>
                      </a:endParaRPr>
                    </a:p>
                  </a:txBody>
                  <a:tcPr marL="73152" marR="73152" marT="73152" marB="73152">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r>
              <a:tr h="502920">
                <a:tc>
                  <a:txBody>
                    <a:bodyPr/>
                    <a:lstStyle/>
                    <a:p>
                      <a:pPr indent="0" marL="0">
                        <a:buNone/>
                      </a:pPr>
                      <a:r>
                        <a:rPr lang="en-US" sz="1100" dirty="0">
                          <a:solidFill>
                            <a:srgbClr val="000000"/>
                          </a:solidFill>
                          <a:latin typeface="Arial" pitchFamily="34" charset="0"/>
                          <a:ea typeface="Arial" pitchFamily="34" charset="-122"/>
                          <a:cs typeface="Arial" pitchFamily="34" charset="-120"/>
                        </a:rPr>
                        <a:t>Dataverse architecture</a:t>
                      </a:r>
                      <a:endParaRPr lang="en-US" sz="1100" dirty="0">
                        <a:latin typeface="Arial" charset="0"/>
                        <a:ea typeface="Arial" charset="0"/>
                        <a:cs typeface="Arial" charset="0"/>
                      </a:endParaRPr>
                    </a:p>
                  </a:txBody>
                  <a:tcPr marL="73152" marR="73152" marT="73152" marB="73152">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Architecture and security</a:t>
                      </a:r>
                      <a:endParaRPr lang="en-US" sz="1100" dirty="0">
                        <a:latin typeface="Arial" charset="0"/>
                        <a:ea typeface="Arial" charset="0"/>
                        <a:cs typeface="Arial" charset="0"/>
                      </a:endParaRPr>
                    </a:p>
                  </a:txBody>
                  <a:tcPr marL="73152" marR="73152" marT="73152" marB="73152">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3</a:t>
                      </a:r>
                      <a:endParaRPr lang="en-US" sz="1100" dirty="0">
                        <a:latin typeface="Arial" charset="0"/>
                        <a:ea typeface="Arial" charset="0"/>
                        <a:cs typeface="Arial" charset="0"/>
                      </a:endParaRPr>
                    </a:p>
                  </a:txBody>
                  <a:tcPr marL="73152" marR="73152" marT="73152" marB="73152">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9C46A"/>
                    </a:solidFill>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5</a:t>
                      </a:r>
                      <a:endParaRPr lang="en-US" sz="1100" dirty="0">
                        <a:latin typeface="Arial" charset="0"/>
                        <a:ea typeface="Arial" charset="0"/>
                        <a:cs typeface="Arial" charset="0"/>
                      </a:endParaRPr>
                    </a:p>
                  </a:txBody>
                  <a:tcPr marL="73152" marR="73152" marT="73152" marB="73152">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r>
              <a:tr h="502920">
                <a:tc>
                  <a:txBody>
                    <a:bodyPr/>
                    <a:lstStyle/>
                    <a:p>
                      <a:pPr indent="0" marL="0">
                        <a:buNone/>
                      </a:pPr>
                      <a:r>
                        <a:rPr lang="en-US" sz="1100" dirty="0">
                          <a:solidFill>
                            <a:srgbClr val="000000"/>
                          </a:solidFill>
                          <a:latin typeface="Arial" pitchFamily="34" charset="0"/>
                          <a:ea typeface="Arial" pitchFamily="34" charset="-122"/>
                          <a:cs typeface="Arial" pitchFamily="34" charset="-120"/>
                        </a:rPr>
                        <a:t>Security and identity</a:t>
                      </a:r>
                      <a:endParaRPr lang="en-US" sz="1100" dirty="0">
                        <a:latin typeface="Arial" charset="0"/>
                        <a:ea typeface="Arial" charset="0"/>
                        <a:cs typeface="Arial" charset="0"/>
                      </a:endParaRPr>
                    </a:p>
                  </a:txBody>
                  <a:tcPr marL="73152" marR="73152" marT="73152" marB="73152">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Architecture and security</a:t>
                      </a:r>
                      <a:endParaRPr lang="en-US" sz="1100" dirty="0">
                        <a:latin typeface="Arial" charset="0"/>
                        <a:ea typeface="Arial" charset="0"/>
                        <a:cs typeface="Arial" charset="0"/>
                      </a:endParaRPr>
                    </a:p>
                  </a:txBody>
                  <a:tcPr marL="73152" marR="73152" marT="73152" marB="73152">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4</a:t>
                      </a:r>
                      <a:endParaRPr lang="en-US" sz="1100" dirty="0">
                        <a:latin typeface="Arial" charset="0"/>
                        <a:ea typeface="Arial" charset="0"/>
                        <a:cs typeface="Arial" charset="0"/>
                      </a:endParaRPr>
                    </a:p>
                  </a:txBody>
                  <a:tcPr marL="73152" marR="73152" marT="73152" marB="73152">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8AB8A2"/>
                    </a:solidFill>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4</a:t>
                      </a:r>
                      <a:endParaRPr lang="en-US" sz="1100" dirty="0">
                        <a:latin typeface="Arial" charset="0"/>
                        <a:ea typeface="Arial" charset="0"/>
                        <a:cs typeface="Arial" charset="0"/>
                      </a:endParaRPr>
                    </a:p>
                  </a:txBody>
                  <a:tcPr marL="73152" marR="73152" marT="73152" marB="73152">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r>
              <a:tr h="502920">
                <a:tc>
                  <a:txBody>
                    <a:bodyPr/>
                    <a:lstStyle/>
                    <a:p>
                      <a:pPr indent="0" marL="0">
                        <a:buNone/>
                      </a:pPr>
                      <a:r>
                        <a:rPr lang="en-US" sz="1100" dirty="0">
                          <a:solidFill>
                            <a:srgbClr val="000000"/>
                          </a:solidFill>
                          <a:latin typeface="Arial" pitchFamily="34" charset="0"/>
                          <a:ea typeface="Arial" pitchFamily="34" charset="-122"/>
                          <a:cs typeface="Arial" pitchFamily="34" charset="-120"/>
                        </a:rPr>
                        <a:t>Integration architecture</a:t>
                      </a:r>
                      <a:endParaRPr lang="en-US" sz="1100" dirty="0">
                        <a:latin typeface="Arial" charset="0"/>
                        <a:ea typeface="Arial" charset="0"/>
                        <a:cs typeface="Arial" charset="0"/>
                      </a:endParaRPr>
                    </a:p>
                  </a:txBody>
                  <a:tcPr marL="73152" marR="73152" marT="73152" marB="73152">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Architecture and security</a:t>
                      </a:r>
                      <a:endParaRPr lang="en-US" sz="1100" dirty="0">
                        <a:latin typeface="Arial" charset="0"/>
                        <a:ea typeface="Arial" charset="0"/>
                        <a:cs typeface="Arial" charset="0"/>
                      </a:endParaRPr>
                    </a:p>
                  </a:txBody>
                  <a:tcPr marL="73152" marR="73152" marT="73152" marB="73152">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2</a:t>
                      </a:r>
                      <a:endParaRPr lang="en-US" sz="1100" dirty="0">
                        <a:latin typeface="Arial" charset="0"/>
                        <a:ea typeface="Arial" charset="0"/>
                        <a:cs typeface="Arial" charset="0"/>
                      </a:endParaRPr>
                    </a:p>
                  </a:txBody>
                  <a:tcPr marL="73152" marR="73152" marT="73152" marB="73152">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9B36D"/>
                    </a:solidFill>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5</a:t>
                      </a:r>
                      <a:endParaRPr lang="en-US" sz="1100" dirty="0">
                        <a:latin typeface="Arial" charset="0"/>
                        <a:ea typeface="Arial" charset="0"/>
                        <a:cs typeface="Arial" charset="0"/>
                      </a:endParaRPr>
                    </a:p>
                  </a:txBody>
                  <a:tcPr marL="73152" marR="73152" marT="73152" marB="73152">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r>
              <a:tr h="502920">
                <a:tc>
                  <a:txBody>
                    <a:bodyPr/>
                    <a:lstStyle/>
                    <a:p>
                      <a:pPr indent="0" marL="0">
                        <a:buNone/>
                      </a:pPr>
                      <a:r>
                        <a:rPr lang="en-US" sz="1100" dirty="0">
                          <a:solidFill>
                            <a:srgbClr val="000000"/>
                          </a:solidFill>
                          <a:latin typeface="Arial" pitchFamily="34" charset="0"/>
                          <a:ea typeface="Arial" pitchFamily="34" charset="-122"/>
                          <a:cs typeface="Arial" pitchFamily="34" charset="-120"/>
                        </a:rPr>
                        <a:t>Application lifecycle management</a:t>
                      </a:r>
                      <a:endParaRPr lang="en-US" sz="1100" dirty="0">
                        <a:latin typeface="Arial" charset="0"/>
                        <a:ea typeface="Arial" charset="0"/>
                        <a:cs typeface="Arial" charset="0"/>
                      </a:endParaRPr>
                    </a:p>
                  </a:txBody>
                  <a:tcPr marL="73152" marR="73152" marT="73152" marB="73152">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Engineering and delivery</a:t>
                      </a:r>
                      <a:endParaRPr lang="en-US" sz="1100" dirty="0">
                        <a:latin typeface="Arial" charset="0"/>
                        <a:ea typeface="Arial" charset="0"/>
                        <a:cs typeface="Arial" charset="0"/>
                      </a:endParaRPr>
                    </a:p>
                  </a:txBody>
                  <a:tcPr marL="73152" marR="73152" marT="73152" marB="73152">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3</a:t>
                      </a:r>
                      <a:endParaRPr lang="en-US" sz="1100" dirty="0">
                        <a:latin typeface="Arial" charset="0"/>
                        <a:ea typeface="Arial" charset="0"/>
                        <a:cs typeface="Arial" charset="0"/>
                      </a:endParaRPr>
                    </a:p>
                  </a:txBody>
                  <a:tcPr marL="73152" marR="73152" marT="73152" marB="73152">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9C46A"/>
                    </a:solidFill>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5</a:t>
                      </a:r>
                      <a:endParaRPr lang="en-US" sz="1100" dirty="0">
                        <a:latin typeface="Arial" charset="0"/>
                        <a:ea typeface="Arial" charset="0"/>
                        <a:cs typeface="Arial" charset="0"/>
                      </a:endParaRPr>
                    </a:p>
                  </a:txBody>
                  <a:tcPr marL="73152" marR="73152" marT="73152" marB="73152">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B"/>
        </a:solidFill>
      </p:bgPr>
    </p:bg>
    <p:spTree>
      <p:nvGrpSpPr>
        <p:cNvPr id="1" name=""/>
        <p:cNvGrpSpPr/>
        <p:nvPr/>
      </p:nvGrpSpPr>
      <p:grpSpPr>
        <a:xfrm>
          <a:off x="0" y="0"/>
          <a:ext cx="0" cy="0"/>
          <a:chOff x="0" y="0"/>
          <a:chExt cx="0" cy="0"/>
        </a:xfrm>
      </p:grpSpPr>
      <p:sp>
        <p:nvSpPr>
          <p:cNvPr id="2" name="Text 0"/>
          <p:cNvSpPr/>
          <p:nvPr/>
        </p:nvSpPr>
        <p:spPr>
          <a:xfrm>
            <a:off x="548640" y="292608"/>
            <a:ext cx="11094415" cy="228600"/>
          </a:xfrm>
          <a:prstGeom prst="rect">
            <a:avLst/>
          </a:prstGeom>
          <a:noFill/>
          <a:ln/>
        </p:spPr>
        <p:txBody>
          <a:bodyPr wrap="square" lIns="0" tIns="0" rIns="0" bIns="0" rtlCol="0" anchor="ctr"/>
          <a:lstStyle/>
          <a:p>
            <a:pPr indent="0" marL="0">
              <a:buNone/>
            </a:pPr>
            <a:r>
              <a:rPr lang="en-US" sz="1000" b="1" dirty="0">
                <a:solidFill>
                  <a:srgbClr val="B44D2E"/>
                </a:solidFill>
                <a:latin typeface="Arial" pitchFamily="34" charset="0"/>
                <a:ea typeface="Arial" pitchFamily="34" charset="-122"/>
                <a:cs typeface="Arial" pitchFamily="34" charset="-120"/>
              </a:rPr>
              <a:t>MIGHTORA MATURITY ASSESSMENT</a:t>
            </a:r>
            <a:endParaRPr lang="en-US" sz="1000" dirty="0"/>
          </a:p>
        </p:txBody>
      </p:sp>
      <p:sp>
        <p:nvSpPr>
          <p:cNvPr id="3" name="Text 1"/>
          <p:cNvSpPr/>
          <p:nvPr/>
        </p:nvSpPr>
        <p:spPr>
          <a:xfrm>
            <a:off x="548640" y="777240"/>
            <a:ext cx="11094415" cy="685800"/>
          </a:xfrm>
          <a:prstGeom prst="rect">
            <a:avLst/>
          </a:prstGeom>
          <a:noFill/>
          <a:ln/>
        </p:spPr>
        <p:txBody>
          <a:bodyPr wrap="square" lIns="0" tIns="0" rIns="0" bIns="0" rtlCol="0" anchor="ctr">
            <a:normAutofit/>
          </a:bodyPr>
          <a:lstStyle/>
          <a:p>
            <a:pPr indent="0" marL="0">
              <a:buNone/>
            </a:pPr>
            <a:r>
              <a:rPr lang="en-US" sz="2700" b="1" dirty="0">
                <a:solidFill>
                  <a:srgbClr val="102A43"/>
                </a:solidFill>
                <a:latin typeface="Arial" pitchFamily="34" charset="0"/>
                <a:ea typeface="Arial" pitchFamily="34" charset="-122"/>
                <a:cs typeface="Arial" pitchFamily="34" charset="-120"/>
              </a:rPr>
              <a:t>Capability maturity heatmap</a:t>
            </a:r>
            <a:endParaRPr lang="en-US" sz="2700" dirty="0"/>
          </a:p>
        </p:txBody>
      </p:sp>
      <p:sp>
        <p:nvSpPr>
          <p:cNvPr id="4" name="Text 2"/>
          <p:cNvSpPr/>
          <p:nvPr/>
        </p:nvSpPr>
        <p:spPr>
          <a:xfrm>
            <a:off x="548640" y="6492240"/>
            <a:ext cx="11094415" cy="182880"/>
          </a:xfrm>
          <a:prstGeom prst="rect">
            <a:avLst/>
          </a:prstGeom>
          <a:noFill/>
          <a:ln/>
        </p:spPr>
        <p:txBody>
          <a:bodyPr wrap="square" lIns="0" tIns="0" rIns="0" bIns="0" rtlCol="0" anchor="ctr"/>
          <a:lstStyle/>
          <a:p>
            <a:pPr indent="0" marL="0">
              <a:buNone/>
            </a:pPr>
            <a:r>
              <a:rPr lang="en-US" sz="900" dirty="0">
                <a:solidFill>
                  <a:srgbClr val="486581"/>
                </a:solidFill>
                <a:latin typeface="Arial" pitchFamily="34" charset="0"/>
                <a:ea typeface="Arial" pitchFamily="34" charset="-122"/>
                <a:cs typeface="Arial" pitchFamily="34" charset="-120"/>
              </a:rPr>
              <a:t>2026-10-20    1.0    6</a:t>
            </a:r>
            <a:endParaRPr lang="en-US" sz="9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4415" cy="914400"/>
        </p:xfrm>
        <a:graphic>
          <a:graphicData uri="http://schemas.openxmlformats.org/drawingml/2006/table">
            <a:tbl>
              <a:tblPr/>
              <a:tblGrid>
                <a:gridCol w="4437766"/>
                <a:gridCol w="2995492"/>
                <a:gridCol w="1886051"/>
                <a:gridCol w="1775106"/>
              </a:tblGrid>
              <a:tr h="502920">
                <a:tc>
                  <a:txBody>
                    <a:bodyPr/>
                    <a:lstStyle/>
                    <a:p>
                      <a:pPr indent="0" marL="0">
                        <a:buNone/>
                      </a:pPr>
                      <a:r>
                        <a:rPr lang="en-US" sz="1100" b="1" dirty="0">
                          <a:solidFill>
                            <a:srgbClr val="FFFFFF"/>
                          </a:solidFill>
                          <a:latin typeface="Arial" pitchFamily="34" charset="0"/>
                          <a:ea typeface="Arial" pitchFamily="34" charset="-122"/>
                          <a:cs typeface="Arial" pitchFamily="34" charset="-120"/>
                        </a:rPr>
                        <a:t>Capability</a:t>
                      </a:r>
                      <a:endParaRPr lang="en-US" sz="1100" dirty="0">
                        <a:latin typeface="Arial" charset="0"/>
                        <a:ea typeface="Arial" charset="0"/>
                        <a:cs typeface="Arial" charset="0"/>
                      </a:endParaRPr>
                    </a:p>
                  </a:txBody>
                  <a:tcPr marL="73152" marR="73152" marT="73152" marB="73152">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102A43"/>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Domain</a:t>
                      </a:r>
                      <a:endParaRPr lang="en-US" sz="1100" dirty="0">
                        <a:latin typeface="Arial" charset="0"/>
                        <a:ea typeface="Arial" charset="0"/>
                        <a:cs typeface="Arial" charset="0"/>
                      </a:endParaRPr>
                    </a:p>
                  </a:txBody>
                  <a:tcPr marL="73152" marR="73152" marT="73152" marB="73152">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102A43"/>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Current</a:t>
                      </a:r>
                      <a:endParaRPr lang="en-US" sz="1100" dirty="0">
                        <a:latin typeface="Arial" charset="0"/>
                        <a:ea typeface="Arial" charset="0"/>
                        <a:cs typeface="Arial" charset="0"/>
                      </a:endParaRPr>
                    </a:p>
                  </a:txBody>
                  <a:tcPr marL="73152" marR="73152" marT="73152" marB="73152">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102A43"/>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Target</a:t>
                      </a:r>
                      <a:endParaRPr lang="en-US" sz="1100" dirty="0">
                        <a:latin typeface="Arial" charset="0"/>
                        <a:ea typeface="Arial" charset="0"/>
                        <a:cs typeface="Arial" charset="0"/>
                      </a:endParaRPr>
                    </a:p>
                  </a:txBody>
                  <a:tcPr marL="73152" marR="73152" marT="73152" marB="73152">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102A43"/>
                    </a:solidFill>
                  </a:tcPr>
                </a:tc>
              </a:tr>
              <a:tr h="502920">
                <a:tc>
                  <a:txBody>
                    <a:bodyPr/>
                    <a:lstStyle/>
                    <a:p>
                      <a:pPr indent="0" marL="0">
                        <a:buNone/>
                      </a:pPr>
                      <a:r>
                        <a:rPr lang="en-US" sz="1100" dirty="0">
                          <a:solidFill>
                            <a:srgbClr val="000000"/>
                          </a:solidFill>
                          <a:latin typeface="Arial" pitchFamily="34" charset="0"/>
                          <a:ea typeface="Arial" pitchFamily="34" charset="-122"/>
                          <a:cs typeface="Arial" pitchFamily="34" charset="-120"/>
                        </a:rPr>
                        <a:t>Deployment automation</a:t>
                      </a:r>
                      <a:endParaRPr lang="en-US" sz="1100" dirty="0">
                        <a:latin typeface="Arial" charset="0"/>
                        <a:ea typeface="Arial" charset="0"/>
                        <a:cs typeface="Arial" charset="0"/>
                      </a:endParaRPr>
                    </a:p>
                  </a:txBody>
                  <a:tcPr marL="73152" marR="73152" marT="73152" marB="73152">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Engineering and delivery</a:t>
                      </a:r>
                      <a:endParaRPr lang="en-US" sz="1100" dirty="0">
                        <a:latin typeface="Arial" charset="0"/>
                        <a:ea typeface="Arial" charset="0"/>
                        <a:cs typeface="Arial" charset="0"/>
                      </a:endParaRPr>
                    </a:p>
                  </a:txBody>
                  <a:tcPr marL="73152" marR="73152" marT="73152" marB="73152">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2</a:t>
                      </a:r>
                      <a:endParaRPr lang="en-US" sz="1100" dirty="0">
                        <a:latin typeface="Arial" charset="0"/>
                        <a:ea typeface="Arial" charset="0"/>
                        <a:cs typeface="Arial" charset="0"/>
                      </a:endParaRPr>
                    </a:p>
                  </a:txBody>
                  <a:tcPr marL="73152" marR="73152" marT="73152" marB="73152">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9B36D"/>
                    </a:solidFill>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4</a:t>
                      </a:r>
                      <a:endParaRPr lang="en-US" sz="1100" dirty="0">
                        <a:latin typeface="Arial" charset="0"/>
                        <a:ea typeface="Arial" charset="0"/>
                        <a:cs typeface="Arial" charset="0"/>
                      </a:endParaRPr>
                    </a:p>
                  </a:txBody>
                  <a:tcPr marL="73152" marR="73152" marT="73152" marB="73152">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r>
              <a:tr h="502920">
                <a:tc>
                  <a:txBody>
                    <a:bodyPr/>
                    <a:lstStyle/>
                    <a:p>
                      <a:pPr indent="0" marL="0">
                        <a:buNone/>
                      </a:pPr>
                      <a:r>
                        <a:rPr lang="en-US" sz="1100" dirty="0">
                          <a:solidFill>
                            <a:srgbClr val="000000"/>
                          </a:solidFill>
                          <a:latin typeface="Arial" pitchFamily="34" charset="0"/>
                          <a:ea typeface="Arial" pitchFamily="34" charset="-122"/>
                          <a:cs typeface="Arial" pitchFamily="34" charset="-120"/>
                        </a:rPr>
                        <a:t>Automated testing</a:t>
                      </a:r>
                      <a:endParaRPr lang="en-US" sz="1100" dirty="0">
                        <a:latin typeface="Arial" charset="0"/>
                        <a:ea typeface="Arial" charset="0"/>
                        <a:cs typeface="Arial" charset="0"/>
                      </a:endParaRPr>
                    </a:p>
                  </a:txBody>
                  <a:tcPr marL="73152" marR="73152" marT="73152" marB="73152">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Engineering and delivery</a:t>
                      </a:r>
                      <a:endParaRPr lang="en-US" sz="1100" dirty="0">
                        <a:latin typeface="Arial" charset="0"/>
                        <a:ea typeface="Arial" charset="0"/>
                        <a:cs typeface="Arial" charset="0"/>
                      </a:endParaRPr>
                    </a:p>
                  </a:txBody>
                  <a:tcPr marL="73152" marR="73152" marT="73152" marB="73152">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2</a:t>
                      </a:r>
                      <a:endParaRPr lang="en-US" sz="1100" dirty="0">
                        <a:latin typeface="Arial" charset="0"/>
                        <a:ea typeface="Arial" charset="0"/>
                        <a:cs typeface="Arial" charset="0"/>
                      </a:endParaRPr>
                    </a:p>
                  </a:txBody>
                  <a:tcPr marL="73152" marR="73152" marT="73152" marB="73152">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9B36D"/>
                    </a:solidFill>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5</a:t>
                      </a:r>
                      <a:endParaRPr lang="en-US" sz="1100" dirty="0">
                        <a:latin typeface="Arial" charset="0"/>
                        <a:ea typeface="Arial" charset="0"/>
                        <a:cs typeface="Arial" charset="0"/>
                      </a:endParaRPr>
                    </a:p>
                  </a:txBody>
                  <a:tcPr marL="73152" marR="73152" marT="73152" marB="73152">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r>
              <a:tr h="502920">
                <a:tc>
                  <a:txBody>
                    <a:bodyPr/>
                    <a:lstStyle/>
                    <a:p>
                      <a:pPr indent="0" marL="0">
                        <a:buNone/>
                      </a:pPr>
                      <a:r>
                        <a:rPr lang="en-US" sz="1100" dirty="0">
                          <a:solidFill>
                            <a:srgbClr val="000000"/>
                          </a:solidFill>
                          <a:latin typeface="Arial" pitchFamily="34" charset="0"/>
                          <a:ea typeface="Arial" pitchFamily="34" charset="-122"/>
                          <a:cs typeface="Arial" pitchFamily="34" charset="-120"/>
                        </a:rPr>
                        <a:t>Monitoring and observability</a:t>
                      </a:r>
                      <a:endParaRPr lang="en-US" sz="1100" dirty="0">
                        <a:latin typeface="Arial" charset="0"/>
                        <a:ea typeface="Arial" charset="0"/>
                        <a:cs typeface="Arial" charset="0"/>
                      </a:endParaRPr>
                    </a:p>
                  </a:txBody>
                  <a:tcPr marL="73152" marR="73152" marT="73152" marB="73152">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Operations and resilience</a:t>
                      </a:r>
                      <a:endParaRPr lang="en-US" sz="1100" dirty="0">
                        <a:latin typeface="Arial" charset="0"/>
                        <a:ea typeface="Arial" charset="0"/>
                        <a:cs typeface="Arial" charset="0"/>
                      </a:endParaRPr>
                    </a:p>
                  </a:txBody>
                  <a:tcPr marL="73152" marR="73152" marT="73152" marB="73152">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3</a:t>
                      </a:r>
                      <a:endParaRPr lang="en-US" sz="1100" dirty="0">
                        <a:latin typeface="Arial" charset="0"/>
                        <a:ea typeface="Arial" charset="0"/>
                        <a:cs typeface="Arial" charset="0"/>
                      </a:endParaRPr>
                    </a:p>
                  </a:txBody>
                  <a:tcPr marL="73152" marR="73152" marT="73152" marB="73152">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9C46A"/>
                    </a:solidFill>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5</a:t>
                      </a:r>
                      <a:endParaRPr lang="en-US" sz="1100" dirty="0">
                        <a:latin typeface="Arial" charset="0"/>
                        <a:ea typeface="Arial" charset="0"/>
                        <a:cs typeface="Arial" charset="0"/>
                      </a:endParaRPr>
                    </a:p>
                  </a:txBody>
                  <a:tcPr marL="73152" marR="73152" marT="73152" marB="73152">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r>
              <a:tr h="502920">
                <a:tc>
                  <a:txBody>
                    <a:bodyPr/>
                    <a:lstStyle/>
                    <a:p>
                      <a:pPr indent="0" marL="0">
                        <a:buNone/>
                      </a:pPr>
                      <a:r>
                        <a:rPr lang="en-US" sz="1100" dirty="0">
                          <a:solidFill>
                            <a:srgbClr val="000000"/>
                          </a:solidFill>
                          <a:latin typeface="Arial" pitchFamily="34" charset="0"/>
                          <a:ea typeface="Arial" pitchFamily="34" charset="-122"/>
                          <a:cs typeface="Arial" pitchFamily="34" charset="-120"/>
                        </a:rPr>
                        <a:t>Recovery and continuity</a:t>
                      </a:r>
                      <a:endParaRPr lang="en-US" sz="1100" dirty="0">
                        <a:latin typeface="Arial" charset="0"/>
                        <a:ea typeface="Arial" charset="0"/>
                        <a:cs typeface="Arial" charset="0"/>
                      </a:endParaRPr>
                    </a:p>
                  </a:txBody>
                  <a:tcPr marL="73152" marR="73152" marT="73152" marB="73152">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Operations and resilience</a:t>
                      </a:r>
                      <a:endParaRPr lang="en-US" sz="1100" dirty="0">
                        <a:latin typeface="Arial" charset="0"/>
                        <a:ea typeface="Arial" charset="0"/>
                        <a:cs typeface="Arial" charset="0"/>
                      </a:endParaRPr>
                    </a:p>
                  </a:txBody>
                  <a:tcPr marL="73152" marR="73152" marT="73152" marB="73152">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2</a:t>
                      </a:r>
                      <a:endParaRPr lang="en-US" sz="1100" dirty="0">
                        <a:latin typeface="Arial" charset="0"/>
                        <a:ea typeface="Arial" charset="0"/>
                        <a:cs typeface="Arial" charset="0"/>
                      </a:endParaRPr>
                    </a:p>
                  </a:txBody>
                  <a:tcPr marL="73152" marR="73152" marT="73152" marB="73152">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9B36D"/>
                    </a:solidFill>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4</a:t>
                      </a:r>
                      <a:endParaRPr lang="en-US" sz="1100" dirty="0">
                        <a:latin typeface="Arial" charset="0"/>
                        <a:ea typeface="Arial" charset="0"/>
                        <a:cs typeface="Arial" charset="0"/>
                      </a:endParaRPr>
                    </a:p>
                  </a:txBody>
                  <a:tcPr marL="73152" marR="73152" marT="73152" marB="73152">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r>
              <a:tr h="502920">
                <a:tc>
                  <a:txBody>
                    <a:bodyPr/>
                    <a:lstStyle/>
                    <a:p>
                      <a:pPr indent="0" marL="0">
                        <a:buNone/>
                      </a:pPr>
                      <a:r>
                        <a:rPr lang="en-US" sz="1100" dirty="0">
                          <a:solidFill>
                            <a:srgbClr val="000000"/>
                          </a:solidFill>
                          <a:latin typeface="Arial" pitchFamily="34" charset="0"/>
                          <a:ea typeface="Arial" pitchFamily="34" charset="-122"/>
                          <a:cs typeface="Arial" pitchFamily="34" charset="-120"/>
                        </a:rPr>
                        <a:t>Capacity and licensing</a:t>
                      </a:r>
                      <a:endParaRPr lang="en-US" sz="1100" dirty="0">
                        <a:latin typeface="Arial" charset="0"/>
                        <a:ea typeface="Arial" charset="0"/>
                        <a:cs typeface="Arial" charset="0"/>
                      </a:endParaRPr>
                    </a:p>
                  </a:txBody>
                  <a:tcPr marL="73152" marR="73152" marT="73152" marB="73152">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Operations and resilience</a:t>
                      </a:r>
                      <a:endParaRPr lang="en-US" sz="1100" dirty="0">
                        <a:latin typeface="Arial" charset="0"/>
                        <a:ea typeface="Arial" charset="0"/>
                        <a:cs typeface="Arial" charset="0"/>
                      </a:endParaRPr>
                    </a:p>
                  </a:txBody>
                  <a:tcPr marL="73152" marR="73152" marT="73152" marB="73152">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3</a:t>
                      </a:r>
                      <a:endParaRPr lang="en-US" sz="1100" dirty="0">
                        <a:latin typeface="Arial" charset="0"/>
                        <a:ea typeface="Arial" charset="0"/>
                        <a:cs typeface="Arial" charset="0"/>
                      </a:endParaRPr>
                    </a:p>
                  </a:txBody>
                  <a:tcPr marL="73152" marR="73152" marT="73152" marB="73152">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9C46A"/>
                    </a:solidFill>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5</a:t>
                      </a:r>
                      <a:endParaRPr lang="en-US" sz="1100" dirty="0">
                        <a:latin typeface="Arial" charset="0"/>
                        <a:ea typeface="Arial" charset="0"/>
                        <a:cs typeface="Arial" charset="0"/>
                      </a:endParaRPr>
                    </a:p>
                  </a:txBody>
                  <a:tcPr marL="73152" marR="73152" marT="73152" marB="73152">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B"/>
        </a:solidFill>
      </p:bgPr>
    </p:bg>
    <p:spTree>
      <p:nvGrpSpPr>
        <p:cNvPr id="1" name=""/>
        <p:cNvGrpSpPr/>
        <p:nvPr/>
      </p:nvGrpSpPr>
      <p:grpSpPr>
        <a:xfrm>
          <a:off x="0" y="0"/>
          <a:ext cx="0" cy="0"/>
          <a:chOff x="0" y="0"/>
          <a:chExt cx="0" cy="0"/>
        </a:xfrm>
      </p:grpSpPr>
      <p:sp>
        <p:nvSpPr>
          <p:cNvPr id="2" name="Text 0"/>
          <p:cNvSpPr/>
          <p:nvPr/>
        </p:nvSpPr>
        <p:spPr>
          <a:xfrm>
            <a:off x="548640" y="292608"/>
            <a:ext cx="11094415" cy="228600"/>
          </a:xfrm>
          <a:prstGeom prst="rect">
            <a:avLst/>
          </a:prstGeom>
          <a:noFill/>
          <a:ln/>
        </p:spPr>
        <p:txBody>
          <a:bodyPr wrap="square" lIns="0" tIns="0" rIns="0" bIns="0" rtlCol="0" anchor="ctr"/>
          <a:lstStyle/>
          <a:p>
            <a:pPr indent="0" marL="0">
              <a:buNone/>
            </a:pPr>
            <a:r>
              <a:rPr lang="en-US" sz="1000" b="1" dirty="0">
                <a:solidFill>
                  <a:srgbClr val="B44D2E"/>
                </a:solidFill>
                <a:latin typeface="Arial" pitchFamily="34" charset="0"/>
                <a:ea typeface="Arial" pitchFamily="34" charset="-122"/>
                <a:cs typeface="Arial" pitchFamily="34" charset="-120"/>
              </a:rPr>
              <a:t>MIGHTORA MATURITY ASSESSMENT</a:t>
            </a:r>
            <a:endParaRPr lang="en-US" sz="1000" dirty="0"/>
          </a:p>
        </p:txBody>
      </p:sp>
      <p:sp>
        <p:nvSpPr>
          <p:cNvPr id="3" name="Text 1"/>
          <p:cNvSpPr/>
          <p:nvPr/>
        </p:nvSpPr>
        <p:spPr>
          <a:xfrm>
            <a:off x="548640" y="777240"/>
            <a:ext cx="11094415" cy="685800"/>
          </a:xfrm>
          <a:prstGeom prst="rect">
            <a:avLst/>
          </a:prstGeom>
          <a:noFill/>
          <a:ln/>
        </p:spPr>
        <p:txBody>
          <a:bodyPr wrap="square" lIns="0" tIns="0" rIns="0" bIns="0" rtlCol="0" anchor="ctr">
            <a:normAutofit/>
          </a:bodyPr>
          <a:lstStyle/>
          <a:p>
            <a:pPr indent="0" marL="0">
              <a:buNone/>
            </a:pPr>
            <a:r>
              <a:rPr lang="en-US" sz="2700" b="1" dirty="0">
                <a:solidFill>
                  <a:srgbClr val="102A43"/>
                </a:solidFill>
                <a:latin typeface="Arial" pitchFamily="34" charset="0"/>
                <a:ea typeface="Arial" pitchFamily="34" charset="-122"/>
                <a:cs typeface="Arial" pitchFamily="34" charset="-120"/>
              </a:rPr>
              <a:t>Governance and enablement current versus target</a:t>
            </a:r>
            <a:endParaRPr lang="en-US" sz="2700" dirty="0"/>
          </a:p>
        </p:txBody>
      </p:sp>
      <p:sp>
        <p:nvSpPr>
          <p:cNvPr id="4" name="Text 2"/>
          <p:cNvSpPr/>
          <p:nvPr/>
        </p:nvSpPr>
        <p:spPr>
          <a:xfrm>
            <a:off x="548640" y="6492240"/>
            <a:ext cx="11094415" cy="182880"/>
          </a:xfrm>
          <a:prstGeom prst="rect">
            <a:avLst/>
          </a:prstGeom>
          <a:noFill/>
          <a:ln/>
        </p:spPr>
        <p:txBody>
          <a:bodyPr wrap="square" lIns="0" tIns="0" rIns="0" bIns="0" rtlCol="0" anchor="ctr"/>
          <a:lstStyle/>
          <a:p>
            <a:pPr indent="0" marL="0">
              <a:buNone/>
            </a:pPr>
            <a:r>
              <a:rPr lang="en-US" sz="900" dirty="0">
                <a:solidFill>
                  <a:srgbClr val="486581"/>
                </a:solidFill>
                <a:latin typeface="Arial" pitchFamily="34" charset="0"/>
                <a:ea typeface="Arial" pitchFamily="34" charset="-122"/>
                <a:cs typeface="Arial" pitchFamily="34" charset="-120"/>
              </a:rPr>
              <a:t>2026-10-20    1.0    7</a:t>
            </a:r>
            <a:endParaRPr lang="en-US" sz="900" dirty="0"/>
          </a:p>
        </p:txBody>
      </p:sp>
      <p:graphicFrame>
        <p:nvGraphicFramePr>
          <p:cNvPr id="5" name="Chart 0" descr=""/>
          <p:cNvGraphicFramePr/>
          <p:nvPr/>
        </p:nvGraphicFramePr>
        <p:xfrm>
          <a:off x="548640" y="1554480"/>
          <a:ext cx="11094415" cy="475488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9FB"/>
        </a:solidFill>
      </p:bgPr>
    </p:bg>
    <p:spTree>
      <p:nvGrpSpPr>
        <p:cNvPr id="1" name=""/>
        <p:cNvGrpSpPr/>
        <p:nvPr/>
      </p:nvGrpSpPr>
      <p:grpSpPr>
        <a:xfrm>
          <a:off x="0" y="0"/>
          <a:ext cx="0" cy="0"/>
          <a:chOff x="0" y="0"/>
          <a:chExt cx="0" cy="0"/>
        </a:xfrm>
      </p:grpSpPr>
      <p:sp>
        <p:nvSpPr>
          <p:cNvPr id="2" name="Text 0"/>
          <p:cNvSpPr/>
          <p:nvPr/>
        </p:nvSpPr>
        <p:spPr>
          <a:xfrm>
            <a:off x="548640" y="292608"/>
            <a:ext cx="11094415" cy="228600"/>
          </a:xfrm>
          <a:prstGeom prst="rect">
            <a:avLst/>
          </a:prstGeom>
          <a:noFill/>
          <a:ln/>
        </p:spPr>
        <p:txBody>
          <a:bodyPr wrap="square" lIns="0" tIns="0" rIns="0" bIns="0" rtlCol="0" anchor="ctr"/>
          <a:lstStyle/>
          <a:p>
            <a:pPr indent="0" marL="0">
              <a:buNone/>
            </a:pPr>
            <a:r>
              <a:rPr lang="en-US" sz="1000" b="1" dirty="0">
                <a:solidFill>
                  <a:srgbClr val="B44D2E"/>
                </a:solidFill>
                <a:latin typeface="Arial" pitchFamily="34" charset="0"/>
                <a:ea typeface="Arial" pitchFamily="34" charset="-122"/>
                <a:cs typeface="Arial" pitchFamily="34" charset="-120"/>
              </a:rPr>
              <a:t>MIGHTORA MATURITY ASSESSMENT</a:t>
            </a:r>
            <a:endParaRPr lang="en-US" sz="1000" dirty="0"/>
          </a:p>
        </p:txBody>
      </p:sp>
      <p:sp>
        <p:nvSpPr>
          <p:cNvPr id="3" name="Text 1"/>
          <p:cNvSpPr/>
          <p:nvPr/>
        </p:nvSpPr>
        <p:spPr>
          <a:xfrm>
            <a:off x="548640" y="777240"/>
            <a:ext cx="11094415" cy="685800"/>
          </a:xfrm>
          <a:prstGeom prst="rect">
            <a:avLst/>
          </a:prstGeom>
          <a:noFill/>
          <a:ln/>
        </p:spPr>
        <p:txBody>
          <a:bodyPr wrap="square" lIns="0" tIns="0" rIns="0" bIns="0" rtlCol="0" anchor="ctr">
            <a:normAutofit/>
          </a:bodyPr>
          <a:lstStyle/>
          <a:p>
            <a:pPr indent="0" marL="0">
              <a:buNone/>
            </a:pPr>
            <a:r>
              <a:rPr lang="en-US" sz="2700" b="1" dirty="0">
                <a:solidFill>
                  <a:srgbClr val="102A43"/>
                </a:solidFill>
                <a:latin typeface="Arial" pitchFamily="34" charset="0"/>
                <a:ea typeface="Arial" pitchFamily="34" charset="-122"/>
                <a:cs typeface="Arial" pitchFamily="34" charset="-120"/>
              </a:rPr>
              <a:t>Architecture and security current versus target</a:t>
            </a:r>
            <a:endParaRPr lang="en-US" sz="2700" dirty="0"/>
          </a:p>
        </p:txBody>
      </p:sp>
      <p:sp>
        <p:nvSpPr>
          <p:cNvPr id="4" name="Text 2"/>
          <p:cNvSpPr/>
          <p:nvPr/>
        </p:nvSpPr>
        <p:spPr>
          <a:xfrm>
            <a:off x="548640" y="6492240"/>
            <a:ext cx="11094415" cy="182880"/>
          </a:xfrm>
          <a:prstGeom prst="rect">
            <a:avLst/>
          </a:prstGeom>
          <a:noFill/>
          <a:ln/>
        </p:spPr>
        <p:txBody>
          <a:bodyPr wrap="square" lIns="0" tIns="0" rIns="0" bIns="0" rtlCol="0" anchor="ctr"/>
          <a:lstStyle/>
          <a:p>
            <a:pPr indent="0" marL="0">
              <a:buNone/>
            </a:pPr>
            <a:r>
              <a:rPr lang="en-US" sz="900" dirty="0">
                <a:solidFill>
                  <a:srgbClr val="486581"/>
                </a:solidFill>
                <a:latin typeface="Arial" pitchFamily="34" charset="0"/>
                <a:ea typeface="Arial" pitchFamily="34" charset="-122"/>
                <a:cs typeface="Arial" pitchFamily="34" charset="-120"/>
              </a:rPr>
              <a:t>2026-10-20    1.0    8</a:t>
            </a:r>
            <a:endParaRPr lang="en-US" sz="900" dirty="0"/>
          </a:p>
        </p:txBody>
      </p:sp>
      <p:graphicFrame>
        <p:nvGraphicFramePr>
          <p:cNvPr id="5" name="Chart 0" descr=""/>
          <p:cNvGraphicFramePr/>
          <p:nvPr/>
        </p:nvGraphicFramePr>
        <p:xfrm>
          <a:off x="548640" y="1554480"/>
          <a:ext cx="11094415" cy="475488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9FB"/>
        </a:solidFill>
      </p:bgPr>
    </p:bg>
    <p:spTree>
      <p:nvGrpSpPr>
        <p:cNvPr id="1" name=""/>
        <p:cNvGrpSpPr/>
        <p:nvPr/>
      </p:nvGrpSpPr>
      <p:grpSpPr>
        <a:xfrm>
          <a:off x="0" y="0"/>
          <a:ext cx="0" cy="0"/>
          <a:chOff x="0" y="0"/>
          <a:chExt cx="0" cy="0"/>
        </a:xfrm>
      </p:grpSpPr>
      <p:sp>
        <p:nvSpPr>
          <p:cNvPr id="2" name="Text 0"/>
          <p:cNvSpPr/>
          <p:nvPr/>
        </p:nvSpPr>
        <p:spPr>
          <a:xfrm>
            <a:off x="548640" y="292608"/>
            <a:ext cx="11094415" cy="228600"/>
          </a:xfrm>
          <a:prstGeom prst="rect">
            <a:avLst/>
          </a:prstGeom>
          <a:noFill/>
          <a:ln/>
        </p:spPr>
        <p:txBody>
          <a:bodyPr wrap="square" lIns="0" tIns="0" rIns="0" bIns="0" rtlCol="0" anchor="ctr"/>
          <a:lstStyle/>
          <a:p>
            <a:pPr indent="0" marL="0">
              <a:buNone/>
            </a:pPr>
            <a:r>
              <a:rPr lang="en-US" sz="1000" b="1" dirty="0">
                <a:solidFill>
                  <a:srgbClr val="B44D2E"/>
                </a:solidFill>
                <a:latin typeface="Arial" pitchFamily="34" charset="0"/>
                <a:ea typeface="Arial" pitchFamily="34" charset="-122"/>
                <a:cs typeface="Arial" pitchFamily="34" charset="-120"/>
              </a:rPr>
              <a:t>MIGHTORA MATURITY ASSESSMENT</a:t>
            </a:r>
            <a:endParaRPr lang="en-US" sz="1000" dirty="0"/>
          </a:p>
        </p:txBody>
      </p:sp>
      <p:sp>
        <p:nvSpPr>
          <p:cNvPr id="3" name="Text 1"/>
          <p:cNvSpPr/>
          <p:nvPr/>
        </p:nvSpPr>
        <p:spPr>
          <a:xfrm>
            <a:off x="548640" y="777240"/>
            <a:ext cx="11094415" cy="685800"/>
          </a:xfrm>
          <a:prstGeom prst="rect">
            <a:avLst/>
          </a:prstGeom>
          <a:noFill/>
          <a:ln/>
        </p:spPr>
        <p:txBody>
          <a:bodyPr wrap="square" lIns="0" tIns="0" rIns="0" bIns="0" rtlCol="0" anchor="ctr">
            <a:normAutofit/>
          </a:bodyPr>
          <a:lstStyle/>
          <a:p>
            <a:pPr indent="0" marL="0">
              <a:buNone/>
            </a:pPr>
            <a:r>
              <a:rPr lang="en-US" sz="2700" b="1" dirty="0">
                <a:solidFill>
                  <a:srgbClr val="102A43"/>
                </a:solidFill>
                <a:latin typeface="Arial" pitchFamily="34" charset="0"/>
                <a:ea typeface="Arial" pitchFamily="34" charset="-122"/>
                <a:cs typeface="Arial" pitchFamily="34" charset="-120"/>
              </a:rPr>
              <a:t>Engineering and delivery current versus target</a:t>
            </a:r>
            <a:endParaRPr lang="en-US" sz="2700" dirty="0"/>
          </a:p>
        </p:txBody>
      </p:sp>
      <p:sp>
        <p:nvSpPr>
          <p:cNvPr id="4" name="Text 2"/>
          <p:cNvSpPr/>
          <p:nvPr/>
        </p:nvSpPr>
        <p:spPr>
          <a:xfrm>
            <a:off x="548640" y="6492240"/>
            <a:ext cx="11094415" cy="182880"/>
          </a:xfrm>
          <a:prstGeom prst="rect">
            <a:avLst/>
          </a:prstGeom>
          <a:noFill/>
          <a:ln/>
        </p:spPr>
        <p:txBody>
          <a:bodyPr wrap="square" lIns="0" tIns="0" rIns="0" bIns="0" rtlCol="0" anchor="ctr"/>
          <a:lstStyle/>
          <a:p>
            <a:pPr indent="0" marL="0">
              <a:buNone/>
            </a:pPr>
            <a:r>
              <a:rPr lang="en-US" sz="900" dirty="0">
                <a:solidFill>
                  <a:srgbClr val="486581"/>
                </a:solidFill>
                <a:latin typeface="Arial" pitchFamily="34" charset="0"/>
                <a:ea typeface="Arial" pitchFamily="34" charset="-122"/>
                <a:cs typeface="Arial" pitchFamily="34" charset="-120"/>
              </a:rPr>
              <a:t>2026-10-20    1.0    9</a:t>
            </a:r>
            <a:endParaRPr lang="en-US" sz="900" dirty="0"/>
          </a:p>
        </p:txBody>
      </p:sp>
      <p:graphicFrame>
        <p:nvGraphicFramePr>
          <p:cNvPr id="5" name="Chart 0" descr=""/>
          <p:cNvGraphicFramePr/>
          <p:nvPr/>
        </p:nvGraphicFramePr>
        <p:xfrm>
          <a:off x="548640" y="1554480"/>
          <a:ext cx="11094415" cy="475488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9FB"/>
        </a:solidFill>
      </p:bgPr>
    </p:bg>
    <p:spTree>
      <p:nvGrpSpPr>
        <p:cNvPr id="1" name=""/>
        <p:cNvGrpSpPr/>
        <p:nvPr/>
      </p:nvGrpSpPr>
      <p:grpSpPr>
        <a:xfrm>
          <a:off x="0" y="0"/>
          <a:ext cx="0" cy="0"/>
          <a:chOff x="0" y="0"/>
          <a:chExt cx="0" cy="0"/>
        </a:xfrm>
      </p:grpSpPr>
      <p:sp>
        <p:nvSpPr>
          <p:cNvPr id="2" name="Text 0"/>
          <p:cNvSpPr/>
          <p:nvPr/>
        </p:nvSpPr>
        <p:spPr>
          <a:xfrm>
            <a:off x="548640" y="292608"/>
            <a:ext cx="11094415" cy="228600"/>
          </a:xfrm>
          <a:prstGeom prst="rect">
            <a:avLst/>
          </a:prstGeom>
          <a:noFill/>
          <a:ln/>
        </p:spPr>
        <p:txBody>
          <a:bodyPr wrap="square" lIns="0" tIns="0" rIns="0" bIns="0" rtlCol="0" anchor="ctr"/>
          <a:lstStyle/>
          <a:p>
            <a:pPr indent="0" marL="0">
              <a:buNone/>
            </a:pPr>
            <a:r>
              <a:rPr lang="en-US" sz="1000" b="1" dirty="0">
                <a:solidFill>
                  <a:srgbClr val="B44D2E"/>
                </a:solidFill>
                <a:latin typeface="Arial" pitchFamily="34" charset="0"/>
                <a:ea typeface="Arial" pitchFamily="34" charset="-122"/>
                <a:cs typeface="Arial" pitchFamily="34" charset="-120"/>
              </a:rPr>
              <a:t>MIGHTORA MATURITY ASSESSMENT</a:t>
            </a:r>
            <a:endParaRPr lang="en-US" sz="1000" dirty="0"/>
          </a:p>
        </p:txBody>
      </p:sp>
      <p:sp>
        <p:nvSpPr>
          <p:cNvPr id="3" name="Text 1"/>
          <p:cNvSpPr/>
          <p:nvPr/>
        </p:nvSpPr>
        <p:spPr>
          <a:xfrm>
            <a:off x="548640" y="777240"/>
            <a:ext cx="11094415" cy="685800"/>
          </a:xfrm>
          <a:prstGeom prst="rect">
            <a:avLst/>
          </a:prstGeom>
          <a:noFill/>
          <a:ln/>
        </p:spPr>
        <p:txBody>
          <a:bodyPr wrap="square" lIns="0" tIns="0" rIns="0" bIns="0" rtlCol="0" anchor="ctr">
            <a:normAutofit/>
          </a:bodyPr>
          <a:lstStyle/>
          <a:p>
            <a:pPr indent="0" marL="0">
              <a:buNone/>
            </a:pPr>
            <a:r>
              <a:rPr lang="en-US" sz="2700" b="1" dirty="0">
                <a:solidFill>
                  <a:srgbClr val="102A43"/>
                </a:solidFill>
                <a:latin typeface="Arial" pitchFamily="34" charset="0"/>
                <a:ea typeface="Arial" pitchFamily="34" charset="-122"/>
                <a:cs typeface="Arial" pitchFamily="34" charset="-120"/>
              </a:rPr>
              <a:t>Operations and resilience current versus target</a:t>
            </a:r>
            <a:endParaRPr lang="en-US" sz="2700" dirty="0"/>
          </a:p>
        </p:txBody>
      </p:sp>
      <p:sp>
        <p:nvSpPr>
          <p:cNvPr id="4" name="Text 2"/>
          <p:cNvSpPr/>
          <p:nvPr/>
        </p:nvSpPr>
        <p:spPr>
          <a:xfrm>
            <a:off x="548640" y="6492240"/>
            <a:ext cx="11094415" cy="182880"/>
          </a:xfrm>
          <a:prstGeom prst="rect">
            <a:avLst/>
          </a:prstGeom>
          <a:noFill/>
          <a:ln/>
        </p:spPr>
        <p:txBody>
          <a:bodyPr wrap="square" lIns="0" tIns="0" rIns="0" bIns="0" rtlCol="0" anchor="ctr"/>
          <a:lstStyle/>
          <a:p>
            <a:pPr indent="0" marL="0">
              <a:buNone/>
            </a:pPr>
            <a:r>
              <a:rPr lang="en-US" sz="900" dirty="0">
                <a:solidFill>
                  <a:srgbClr val="486581"/>
                </a:solidFill>
                <a:latin typeface="Arial" pitchFamily="34" charset="0"/>
                <a:ea typeface="Arial" pitchFamily="34" charset="-122"/>
                <a:cs typeface="Arial" pitchFamily="34" charset="-120"/>
              </a:rPr>
              <a:t>2026-10-20    1.0    10</a:t>
            </a:r>
            <a:endParaRPr lang="en-US" sz="900" dirty="0"/>
          </a:p>
        </p:txBody>
      </p:sp>
      <p:graphicFrame>
        <p:nvGraphicFramePr>
          <p:cNvPr id="5" name="Chart 0" descr=""/>
          <p:cNvGraphicFramePr/>
          <p:nvPr/>
        </p:nvGraphicFramePr>
        <p:xfrm>
          <a:off x="548640" y="1554480"/>
          <a:ext cx="11094415" cy="475488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9FB"/>
        </a:solidFill>
      </p:bgPr>
    </p:bg>
    <p:spTree>
      <p:nvGrpSpPr>
        <p:cNvPr id="1" name=""/>
        <p:cNvGrpSpPr/>
        <p:nvPr/>
      </p:nvGrpSpPr>
      <p:grpSpPr>
        <a:xfrm>
          <a:off x="0" y="0"/>
          <a:ext cx="0" cy="0"/>
          <a:chOff x="0" y="0"/>
          <a:chExt cx="0" cy="0"/>
        </a:xfrm>
      </p:grpSpPr>
      <p:sp>
        <p:nvSpPr>
          <p:cNvPr id="2" name="Text 0"/>
          <p:cNvSpPr/>
          <p:nvPr/>
        </p:nvSpPr>
        <p:spPr>
          <a:xfrm>
            <a:off x="548640" y="292608"/>
            <a:ext cx="11094415" cy="228600"/>
          </a:xfrm>
          <a:prstGeom prst="rect">
            <a:avLst/>
          </a:prstGeom>
          <a:noFill/>
          <a:ln/>
        </p:spPr>
        <p:txBody>
          <a:bodyPr wrap="square" lIns="0" tIns="0" rIns="0" bIns="0" rtlCol="0" anchor="ctr"/>
          <a:lstStyle/>
          <a:p>
            <a:pPr indent="0" marL="0">
              <a:buNone/>
            </a:pPr>
            <a:r>
              <a:rPr lang="en-US" sz="1000" b="1" dirty="0">
                <a:solidFill>
                  <a:srgbClr val="B44D2E"/>
                </a:solidFill>
                <a:latin typeface="Arial" pitchFamily="34" charset="0"/>
                <a:ea typeface="Arial" pitchFamily="34" charset="-122"/>
                <a:cs typeface="Arial" pitchFamily="34" charset="-120"/>
              </a:rPr>
              <a:t>MIGHTORA MATURITY ASSESSMENT</a:t>
            </a:r>
            <a:endParaRPr lang="en-US" sz="1000" dirty="0"/>
          </a:p>
        </p:txBody>
      </p:sp>
      <p:sp>
        <p:nvSpPr>
          <p:cNvPr id="3" name="Text 1"/>
          <p:cNvSpPr/>
          <p:nvPr/>
        </p:nvSpPr>
        <p:spPr>
          <a:xfrm>
            <a:off x="548640" y="777240"/>
            <a:ext cx="11094415" cy="685800"/>
          </a:xfrm>
          <a:prstGeom prst="rect">
            <a:avLst/>
          </a:prstGeom>
          <a:noFill/>
          <a:ln/>
        </p:spPr>
        <p:txBody>
          <a:bodyPr wrap="square" lIns="0" tIns="0" rIns="0" bIns="0" rtlCol="0" anchor="ctr">
            <a:normAutofit/>
          </a:bodyPr>
          <a:lstStyle/>
          <a:p>
            <a:pPr indent="0" marL="0">
              <a:buNone/>
            </a:pPr>
            <a:r>
              <a:rPr lang="en-US" sz="2700" b="1" dirty="0">
                <a:solidFill>
                  <a:srgbClr val="102A43"/>
                </a:solidFill>
                <a:latin typeface="Arial" pitchFamily="34" charset="0"/>
                <a:ea typeface="Arial" pitchFamily="34" charset="-122"/>
                <a:cs typeface="Arial" pitchFamily="34" charset="-120"/>
              </a:rPr>
              <a:t>Capability gaps</a:t>
            </a:r>
            <a:endParaRPr lang="en-US" sz="2700" dirty="0"/>
          </a:p>
        </p:txBody>
      </p:sp>
      <p:sp>
        <p:nvSpPr>
          <p:cNvPr id="4" name="Text 2"/>
          <p:cNvSpPr/>
          <p:nvPr/>
        </p:nvSpPr>
        <p:spPr>
          <a:xfrm>
            <a:off x="548640" y="6492240"/>
            <a:ext cx="11094415" cy="182880"/>
          </a:xfrm>
          <a:prstGeom prst="rect">
            <a:avLst/>
          </a:prstGeom>
          <a:noFill/>
          <a:ln/>
        </p:spPr>
        <p:txBody>
          <a:bodyPr wrap="square" lIns="0" tIns="0" rIns="0" bIns="0" rtlCol="0" anchor="ctr"/>
          <a:lstStyle/>
          <a:p>
            <a:pPr indent="0" marL="0">
              <a:buNone/>
            </a:pPr>
            <a:r>
              <a:rPr lang="en-US" sz="900" dirty="0">
                <a:solidFill>
                  <a:srgbClr val="486581"/>
                </a:solidFill>
                <a:latin typeface="Arial" pitchFamily="34" charset="0"/>
                <a:ea typeface="Arial" pitchFamily="34" charset="-122"/>
                <a:cs typeface="Arial" pitchFamily="34" charset="-120"/>
              </a:rPr>
              <a:t>2026-10-20    1.0    11</a:t>
            </a:r>
            <a:endParaRPr lang="en-US" sz="9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4415" cy="914400"/>
        </p:xfrm>
        <a:graphic>
          <a:graphicData uri="http://schemas.openxmlformats.org/drawingml/2006/table">
            <a:tbl>
              <a:tblPr/>
              <a:tblGrid>
                <a:gridCol w="4104934"/>
                <a:gridCol w="2218883"/>
                <a:gridCol w="2218883"/>
                <a:gridCol w="1109442"/>
                <a:gridCol w="1442274"/>
              </a:tblGrid>
              <a:tr h="502920">
                <a:tc>
                  <a:txBody>
                    <a:bodyPr/>
                    <a:lstStyle/>
                    <a:p>
                      <a:pPr indent="0" marL="0">
                        <a:buNone/>
                      </a:pPr>
                      <a:r>
                        <a:rPr lang="en-US" sz="1200" b="1" dirty="0">
                          <a:solidFill>
                            <a:srgbClr val="FFFFFF"/>
                          </a:solidFill>
                          <a:latin typeface="Arial" pitchFamily="34" charset="0"/>
                          <a:ea typeface="Arial" pitchFamily="34" charset="-122"/>
                          <a:cs typeface="Arial" pitchFamily="34" charset="-120"/>
                        </a:rPr>
                        <a:t>Capability</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102A43"/>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Current</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102A43"/>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Target</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102A43"/>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Gap</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102A43"/>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Priority</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102A43"/>
                    </a:solidFill>
                  </a:tcPr>
                </a:tc>
              </a:tr>
              <a:tr h="502920">
                <a:tc>
                  <a:txBody>
                    <a:bodyPr/>
                    <a:lstStyle/>
                    <a:p>
                      <a:pPr indent="0" marL="0">
                        <a:buNone/>
                      </a:pPr>
                      <a:r>
                        <a:rPr lang="en-US" sz="1200" dirty="0">
                          <a:solidFill>
                            <a:srgbClr val="102A43"/>
                          </a:solidFill>
                          <a:latin typeface="Arial" pitchFamily="34" charset="0"/>
                          <a:ea typeface="Arial" pitchFamily="34" charset="-122"/>
                          <a:cs typeface="Arial" pitchFamily="34" charset="-120"/>
                        </a:rPr>
                        <a:t>Governance and environment strategy</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200" dirty="0">
                          <a:solidFill>
                            <a:srgbClr val="102A43"/>
                          </a:solidFill>
                          <a:latin typeface="Arial" pitchFamily="34" charset="0"/>
                          <a:ea typeface="Arial" pitchFamily="34" charset="-122"/>
                          <a:cs typeface="Arial" pitchFamily="34" charset="-120"/>
                        </a:rPr>
                        <a:t>2</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200" dirty="0">
                          <a:solidFill>
                            <a:srgbClr val="102A43"/>
                          </a:solidFill>
                          <a:latin typeface="Arial" pitchFamily="34" charset="0"/>
                          <a:ea typeface="Arial" pitchFamily="34" charset="-122"/>
                          <a:cs typeface="Arial" pitchFamily="34" charset="-120"/>
                        </a:rPr>
                        <a:t>5</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200" dirty="0">
                          <a:solidFill>
                            <a:srgbClr val="102A43"/>
                          </a:solidFill>
                          <a:latin typeface="Arial" pitchFamily="34" charset="0"/>
                          <a:ea typeface="Arial" pitchFamily="34" charset="-122"/>
                          <a:cs typeface="Arial" pitchFamily="34" charset="-120"/>
                        </a:rPr>
                        <a:t>3</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200" dirty="0">
                          <a:solidFill>
                            <a:srgbClr val="102A43"/>
                          </a:solidFill>
                          <a:latin typeface="Arial" pitchFamily="34" charset="0"/>
                          <a:ea typeface="Arial" pitchFamily="34" charset="-122"/>
                          <a:cs typeface="Arial" pitchFamily="34" charset="-120"/>
                        </a:rPr>
                        <a:t>High</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r>
              <a:tr h="502920">
                <a:tc>
                  <a:txBody>
                    <a:bodyPr/>
                    <a:lstStyle/>
                    <a:p>
                      <a:pPr indent="0" marL="0">
                        <a:buNone/>
                      </a:pPr>
                      <a:r>
                        <a:rPr lang="en-US" sz="1200" dirty="0">
                          <a:solidFill>
                            <a:srgbClr val="102A43"/>
                          </a:solidFill>
                          <a:latin typeface="Arial" pitchFamily="34" charset="0"/>
                          <a:ea typeface="Arial" pitchFamily="34" charset="-122"/>
                          <a:cs typeface="Arial" pitchFamily="34" charset="-120"/>
                        </a:rPr>
                        <a:t>Data governance</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200" dirty="0">
                          <a:solidFill>
                            <a:srgbClr val="102A43"/>
                          </a:solidFill>
                          <a:latin typeface="Arial" pitchFamily="34" charset="0"/>
                          <a:ea typeface="Arial" pitchFamily="34" charset="-122"/>
                          <a:cs typeface="Arial" pitchFamily="34" charset="-120"/>
                        </a:rPr>
                        <a:t>2</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200" dirty="0">
                          <a:solidFill>
                            <a:srgbClr val="102A43"/>
                          </a:solidFill>
                          <a:latin typeface="Arial" pitchFamily="34" charset="0"/>
                          <a:ea typeface="Arial" pitchFamily="34" charset="-122"/>
                          <a:cs typeface="Arial" pitchFamily="34" charset="-120"/>
                        </a:rPr>
                        <a:t>5</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200" dirty="0">
                          <a:solidFill>
                            <a:srgbClr val="102A43"/>
                          </a:solidFill>
                          <a:latin typeface="Arial" pitchFamily="34" charset="0"/>
                          <a:ea typeface="Arial" pitchFamily="34" charset="-122"/>
                          <a:cs typeface="Arial" pitchFamily="34" charset="-120"/>
                        </a:rPr>
                        <a:t>3</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200" dirty="0">
                          <a:solidFill>
                            <a:srgbClr val="102A43"/>
                          </a:solidFill>
                          <a:latin typeface="Arial" pitchFamily="34" charset="0"/>
                          <a:ea typeface="Arial" pitchFamily="34" charset="-122"/>
                          <a:cs typeface="Arial" pitchFamily="34" charset="-120"/>
                        </a:rPr>
                        <a:t>High</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r>
              <a:tr h="502920">
                <a:tc>
                  <a:txBody>
                    <a:bodyPr/>
                    <a:lstStyle/>
                    <a:p>
                      <a:pPr indent="0" marL="0">
                        <a:buNone/>
                      </a:pPr>
                      <a:r>
                        <a:rPr lang="en-US" sz="1200" dirty="0">
                          <a:solidFill>
                            <a:srgbClr val="102A43"/>
                          </a:solidFill>
                          <a:latin typeface="Arial" pitchFamily="34" charset="0"/>
                          <a:ea typeface="Arial" pitchFamily="34" charset="-122"/>
                          <a:cs typeface="Arial" pitchFamily="34" charset="-120"/>
                        </a:rPr>
                        <a:t>Integration architecture</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200" dirty="0">
                          <a:solidFill>
                            <a:srgbClr val="102A43"/>
                          </a:solidFill>
                          <a:latin typeface="Arial" pitchFamily="34" charset="0"/>
                          <a:ea typeface="Arial" pitchFamily="34" charset="-122"/>
                          <a:cs typeface="Arial" pitchFamily="34" charset="-120"/>
                        </a:rPr>
                        <a:t>2</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200" dirty="0">
                          <a:solidFill>
                            <a:srgbClr val="102A43"/>
                          </a:solidFill>
                          <a:latin typeface="Arial" pitchFamily="34" charset="0"/>
                          <a:ea typeface="Arial" pitchFamily="34" charset="-122"/>
                          <a:cs typeface="Arial" pitchFamily="34" charset="-120"/>
                        </a:rPr>
                        <a:t>5</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200" dirty="0">
                          <a:solidFill>
                            <a:srgbClr val="102A43"/>
                          </a:solidFill>
                          <a:latin typeface="Arial" pitchFamily="34" charset="0"/>
                          <a:ea typeface="Arial" pitchFamily="34" charset="-122"/>
                          <a:cs typeface="Arial" pitchFamily="34" charset="-120"/>
                        </a:rPr>
                        <a:t>3</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200" dirty="0">
                          <a:solidFill>
                            <a:srgbClr val="102A43"/>
                          </a:solidFill>
                          <a:latin typeface="Arial" pitchFamily="34" charset="0"/>
                          <a:ea typeface="Arial" pitchFamily="34" charset="-122"/>
                          <a:cs typeface="Arial" pitchFamily="34" charset="-120"/>
                        </a:rPr>
                        <a:t>High</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r>
              <a:tr h="502920">
                <a:tc>
                  <a:txBody>
                    <a:bodyPr/>
                    <a:lstStyle/>
                    <a:p>
                      <a:pPr indent="0" marL="0">
                        <a:buNone/>
                      </a:pPr>
                      <a:r>
                        <a:rPr lang="en-US" sz="1200" dirty="0">
                          <a:solidFill>
                            <a:srgbClr val="102A43"/>
                          </a:solidFill>
                          <a:latin typeface="Arial" pitchFamily="34" charset="0"/>
                          <a:ea typeface="Arial" pitchFamily="34" charset="-122"/>
                          <a:cs typeface="Arial" pitchFamily="34" charset="-120"/>
                        </a:rPr>
                        <a:t>Automated testing</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200" dirty="0">
                          <a:solidFill>
                            <a:srgbClr val="102A43"/>
                          </a:solidFill>
                          <a:latin typeface="Arial" pitchFamily="34" charset="0"/>
                          <a:ea typeface="Arial" pitchFamily="34" charset="-122"/>
                          <a:cs typeface="Arial" pitchFamily="34" charset="-120"/>
                        </a:rPr>
                        <a:t>2</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200" dirty="0">
                          <a:solidFill>
                            <a:srgbClr val="102A43"/>
                          </a:solidFill>
                          <a:latin typeface="Arial" pitchFamily="34" charset="0"/>
                          <a:ea typeface="Arial" pitchFamily="34" charset="-122"/>
                          <a:cs typeface="Arial" pitchFamily="34" charset="-120"/>
                        </a:rPr>
                        <a:t>5</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200" dirty="0">
                          <a:solidFill>
                            <a:srgbClr val="102A43"/>
                          </a:solidFill>
                          <a:latin typeface="Arial" pitchFamily="34" charset="0"/>
                          <a:ea typeface="Arial" pitchFamily="34" charset="-122"/>
                          <a:cs typeface="Arial" pitchFamily="34" charset="-120"/>
                        </a:rPr>
                        <a:t>3</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200" dirty="0">
                          <a:solidFill>
                            <a:srgbClr val="102A43"/>
                          </a:solidFill>
                          <a:latin typeface="Arial" pitchFamily="34" charset="0"/>
                          <a:ea typeface="Arial" pitchFamily="34" charset="-122"/>
                          <a:cs typeface="Arial" pitchFamily="34" charset="-120"/>
                        </a:rPr>
                        <a:t>High</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r>
              <a:tr h="502920">
                <a:tc>
                  <a:txBody>
                    <a:bodyPr/>
                    <a:lstStyle/>
                    <a:p>
                      <a:pPr indent="0" marL="0">
                        <a:buNone/>
                      </a:pPr>
                      <a:r>
                        <a:rPr lang="en-US" sz="1200" dirty="0">
                          <a:solidFill>
                            <a:srgbClr val="102A43"/>
                          </a:solidFill>
                          <a:latin typeface="Arial" pitchFamily="34" charset="0"/>
                          <a:ea typeface="Arial" pitchFamily="34" charset="-122"/>
                          <a:cs typeface="Arial" pitchFamily="34" charset="-120"/>
                        </a:rPr>
                        <a:t>Dataverse architecture</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200" dirty="0">
                          <a:solidFill>
                            <a:srgbClr val="102A43"/>
                          </a:solidFill>
                          <a:latin typeface="Arial" pitchFamily="34" charset="0"/>
                          <a:ea typeface="Arial" pitchFamily="34" charset="-122"/>
                          <a:cs typeface="Arial" pitchFamily="34" charset="-120"/>
                        </a:rPr>
                        <a:t>3</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200" dirty="0">
                          <a:solidFill>
                            <a:srgbClr val="102A43"/>
                          </a:solidFill>
                          <a:latin typeface="Arial" pitchFamily="34" charset="0"/>
                          <a:ea typeface="Arial" pitchFamily="34" charset="-122"/>
                          <a:cs typeface="Arial" pitchFamily="34" charset="-120"/>
                        </a:rPr>
                        <a:t>5</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200" dirty="0">
                          <a:solidFill>
                            <a:srgbClr val="102A43"/>
                          </a:solidFill>
                          <a:latin typeface="Arial" pitchFamily="34" charset="0"/>
                          <a:ea typeface="Arial" pitchFamily="34" charset="-122"/>
                          <a:cs typeface="Arial" pitchFamily="34" charset="-120"/>
                        </a:rPr>
                        <a:t>2</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200" dirty="0">
                          <a:solidFill>
                            <a:srgbClr val="102A43"/>
                          </a:solidFill>
                          <a:latin typeface="Arial" pitchFamily="34" charset="0"/>
                          <a:ea typeface="Arial" pitchFamily="34" charset="-122"/>
                          <a:cs typeface="Arial" pitchFamily="34" charset="-120"/>
                        </a:rPr>
                        <a:t>High</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r>
              <a:tr h="502920">
                <a:tc>
                  <a:txBody>
                    <a:bodyPr/>
                    <a:lstStyle/>
                    <a:p>
                      <a:pPr indent="0" marL="0">
                        <a:buNone/>
                      </a:pPr>
                      <a:r>
                        <a:rPr lang="en-US" sz="1200" dirty="0">
                          <a:solidFill>
                            <a:srgbClr val="102A43"/>
                          </a:solidFill>
                          <a:latin typeface="Arial" pitchFamily="34" charset="0"/>
                          <a:ea typeface="Arial" pitchFamily="34" charset="-122"/>
                          <a:cs typeface="Arial" pitchFamily="34" charset="-120"/>
                        </a:rPr>
                        <a:t>Application lifecycle management</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200" dirty="0">
                          <a:solidFill>
                            <a:srgbClr val="102A43"/>
                          </a:solidFill>
                          <a:latin typeface="Arial" pitchFamily="34" charset="0"/>
                          <a:ea typeface="Arial" pitchFamily="34" charset="-122"/>
                          <a:cs typeface="Arial" pitchFamily="34" charset="-120"/>
                        </a:rPr>
                        <a:t>3</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200" dirty="0">
                          <a:solidFill>
                            <a:srgbClr val="102A43"/>
                          </a:solidFill>
                          <a:latin typeface="Arial" pitchFamily="34" charset="0"/>
                          <a:ea typeface="Arial" pitchFamily="34" charset="-122"/>
                          <a:cs typeface="Arial" pitchFamily="34" charset="-120"/>
                        </a:rPr>
                        <a:t>5</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200" dirty="0">
                          <a:solidFill>
                            <a:srgbClr val="102A43"/>
                          </a:solidFill>
                          <a:latin typeface="Arial" pitchFamily="34" charset="0"/>
                          <a:ea typeface="Arial" pitchFamily="34" charset="-122"/>
                          <a:cs typeface="Arial" pitchFamily="34" charset="-120"/>
                        </a:rPr>
                        <a:t>2</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200" dirty="0">
                          <a:solidFill>
                            <a:srgbClr val="102A43"/>
                          </a:solidFill>
                          <a:latin typeface="Arial" pitchFamily="34" charset="0"/>
                          <a:ea typeface="Arial" pitchFamily="34" charset="-122"/>
                          <a:cs typeface="Arial" pitchFamily="34" charset="-120"/>
                        </a:rPr>
                        <a:t>High</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r>
              <a:tr h="502920">
                <a:tc>
                  <a:txBody>
                    <a:bodyPr/>
                    <a:lstStyle/>
                    <a:p>
                      <a:pPr indent="0" marL="0">
                        <a:buNone/>
                      </a:pPr>
                      <a:r>
                        <a:rPr lang="en-US" sz="1200" dirty="0">
                          <a:solidFill>
                            <a:srgbClr val="102A43"/>
                          </a:solidFill>
                          <a:latin typeface="Arial" pitchFamily="34" charset="0"/>
                          <a:ea typeface="Arial" pitchFamily="34" charset="-122"/>
                          <a:cs typeface="Arial" pitchFamily="34" charset="-120"/>
                        </a:rPr>
                        <a:t>Deployment automation</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200" dirty="0">
                          <a:solidFill>
                            <a:srgbClr val="102A43"/>
                          </a:solidFill>
                          <a:latin typeface="Arial" pitchFamily="34" charset="0"/>
                          <a:ea typeface="Arial" pitchFamily="34" charset="-122"/>
                          <a:cs typeface="Arial" pitchFamily="34" charset="-120"/>
                        </a:rPr>
                        <a:t>2</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200" dirty="0">
                          <a:solidFill>
                            <a:srgbClr val="102A43"/>
                          </a:solidFill>
                          <a:latin typeface="Arial" pitchFamily="34" charset="0"/>
                          <a:ea typeface="Arial" pitchFamily="34" charset="-122"/>
                          <a:cs typeface="Arial" pitchFamily="34" charset="-120"/>
                        </a:rPr>
                        <a:t>4</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200" dirty="0">
                          <a:solidFill>
                            <a:srgbClr val="102A43"/>
                          </a:solidFill>
                          <a:latin typeface="Arial" pitchFamily="34" charset="0"/>
                          <a:ea typeface="Arial" pitchFamily="34" charset="-122"/>
                          <a:cs typeface="Arial" pitchFamily="34" charset="-120"/>
                        </a:rPr>
                        <a:t>2</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200" dirty="0">
                          <a:solidFill>
                            <a:srgbClr val="102A43"/>
                          </a:solidFill>
                          <a:latin typeface="Arial" pitchFamily="34" charset="0"/>
                          <a:ea typeface="Arial" pitchFamily="34" charset="-122"/>
                          <a:cs typeface="Arial" pitchFamily="34" charset="-120"/>
                        </a:rPr>
                        <a:t>Medium</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9FB"/>
        </a:solidFill>
      </p:bgPr>
    </p:bg>
    <p:spTree>
      <p:nvGrpSpPr>
        <p:cNvPr id="1" name=""/>
        <p:cNvGrpSpPr/>
        <p:nvPr/>
      </p:nvGrpSpPr>
      <p:grpSpPr>
        <a:xfrm>
          <a:off x="0" y="0"/>
          <a:ext cx="0" cy="0"/>
          <a:chOff x="0" y="0"/>
          <a:chExt cx="0" cy="0"/>
        </a:xfrm>
      </p:grpSpPr>
      <p:sp>
        <p:nvSpPr>
          <p:cNvPr id="2" name="Text 0"/>
          <p:cNvSpPr/>
          <p:nvPr/>
        </p:nvSpPr>
        <p:spPr>
          <a:xfrm>
            <a:off x="548640" y="292608"/>
            <a:ext cx="11094415" cy="228600"/>
          </a:xfrm>
          <a:prstGeom prst="rect">
            <a:avLst/>
          </a:prstGeom>
          <a:noFill/>
          <a:ln/>
        </p:spPr>
        <p:txBody>
          <a:bodyPr wrap="square" lIns="0" tIns="0" rIns="0" bIns="0" rtlCol="0" anchor="ctr"/>
          <a:lstStyle/>
          <a:p>
            <a:pPr indent="0" marL="0">
              <a:buNone/>
            </a:pPr>
            <a:r>
              <a:rPr lang="en-US" sz="1000" b="1" dirty="0">
                <a:solidFill>
                  <a:srgbClr val="B44D2E"/>
                </a:solidFill>
                <a:latin typeface="Arial" pitchFamily="34" charset="0"/>
                <a:ea typeface="Arial" pitchFamily="34" charset="-122"/>
                <a:cs typeface="Arial" pitchFamily="34" charset="-120"/>
              </a:rPr>
              <a:t>MIGHTORA MATURITY ASSESSMENT</a:t>
            </a:r>
            <a:endParaRPr lang="en-US" sz="1000" dirty="0"/>
          </a:p>
        </p:txBody>
      </p:sp>
      <p:sp>
        <p:nvSpPr>
          <p:cNvPr id="3" name="Text 1"/>
          <p:cNvSpPr/>
          <p:nvPr/>
        </p:nvSpPr>
        <p:spPr>
          <a:xfrm>
            <a:off x="548640" y="777240"/>
            <a:ext cx="11094415" cy="685800"/>
          </a:xfrm>
          <a:prstGeom prst="rect">
            <a:avLst/>
          </a:prstGeom>
          <a:noFill/>
          <a:ln/>
        </p:spPr>
        <p:txBody>
          <a:bodyPr wrap="square" lIns="0" tIns="0" rIns="0" bIns="0" rtlCol="0" anchor="ctr">
            <a:normAutofit/>
          </a:bodyPr>
          <a:lstStyle/>
          <a:p>
            <a:pPr indent="0" marL="0">
              <a:buNone/>
            </a:pPr>
            <a:r>
              <a:rPr lang="en-US" sz="2700" b="1" dirty="0">
                <a:solidFill>
                  <a:srgbClr val="102A43"/>
                </a:solidFill>
                <a:latin typeface="Arial" pitchFamily="34" charset="0"/>
                <a:ea typeface="Arial" pitchFamily="34" charset="-122"/>
                <a:cs typeface="Arial" pitchFamily="34" charset="-120"/>
              </a:rPr>
              <a:t>Capability gaps continued</a:t>
            </a:r>
            <a:endParaRPr lang="en-US" sz="2700" dirty="0"/>
          </a:p>
        </p:txBody>
      </p:sp>
      <p:sp>
        <p:nvSpPr>
          <p:cNvPr id="4" name="Text 2"/>
          <p:cNvSpPr/>
          <p:nvPr/>
        </p:nvSpPr>
        <p:spPr>
          <a:xfrm>
            <a:off x="548640" y="6492240"/>
            <a:ext cx="11094415" cy="182880"/>
          </a:xfrm>
          <a:prstGeom prst="rect">
            <a:avLst/>
          </a:prstGeom>
          <a:noFill/>
          <a:ln/>
        </p:spPr>
        <p:txBody>
          <a:bodyPr wrap="square" lIns="0" tIns="0" rIns="0" bIns="0" rtlCol="0" anchor="ctr"/>
          <a:lstStyle/>
          <a:p>
            <a:pPr indent="0" marL="0">
              <a:buNone/>
            </a:pPr>
            <a:r>
              <a:rPr lang="en-US" sz="900" dirty="0">
                <a:solidFill>
                  <a:srgbClr val="486581"/>
                </a:solidFill>
                <a:latin typeface="Arial" pitchFamily="34" charset="0"/>
                <a:ea typeface="Arial" pitchFamily="34" charset="-122"/>
                <a:cs typeface="Arial" pitchFamily="34" charset="-120"/>
              </a:rPr>
              <a:t>2026-10-20    1.0    12</a:t>
            </a:r>
            <a:endParaRPr lang="en-US" sz="9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4415" cy="914400"/>
        </p:xfrm>
        <a:graphic>
          <a:graphicData uri="http://schemas.openxmlformats.org/drawingml/2006/table">
            <a:tbl>
              <a:tblPr/>
              <a:tblGrid>
                <a:gridCol w="4104934"/>
                <a:gridCol w="2218883"/>
                <a:gridCol w="2218883"/>
                <a:gridCol w="1109442"/>
                <a:gridCol w="1442274"/>
              </a:tblGrid>
              <a:tr h="502920">
                <a:tc>
                  <a:txBody>
                    <a:bodyPr/>
                    <a:lstStyle/>
                    <a:p>
                      <a:pPr indent="0" marL="0">
                        <a:buNone/>
                      </a:pPr>
                      <a:r>
                        <a:rPr lang="en-US" sz="1200" b="1" dirty="0">
                          <a:solidFill>
                            <a:srgbClr val="FFFFFF"/>
                          </a:solidFill>
                          <a:latin typeface="Arial" pitchFamily="34" charset="0"/>
                          <a:ea typeface="Arial" pitchFamily="34" charset="-122"/>
                          <a:cs typeface="Arial" pitchFamily="34" charset="-120"/>
                        </a:rPr>
                        <a:t>Capability</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102A43"/>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Current</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102A43"/>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Target</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102A43"/>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Gap</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102A43"/>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Priority</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102A43"/>
                    </a:solidFill>
                  </a:tcPr>
                </a:tc>
              </a:tr>
              <a:tr h="502920">
                <a:tc>
                  <a:txBody>
                    <a:bodyPr/>
                    <a:lstStyle/>
                    <a:p>
                      <a:pPr indent="0" marL="0">
                        <a:buNone/>
                      </a:pPr>
                      <a:r>
                        <a:rPr lang="en-US" sz="1200" dirty="0">
                          <a:solidFill>
                            <a:srgbClr val="102A43"/>
                          </a:solidFill>
                          <a:latin typeface="Arial" pitchFamily="34" charset="0"/>
                          <a:ea typeface="Arial" pitchFamily="34" charset="-122"/>
                          <a:cs typeface="Arial" pitchFamily="34" charset="-120"/>
                        </a:rPr>
                        <a:t>Monitoring and observability</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200" dirty="0">
                          <a:solidFill>
                            <a:srgbClr val="102A43"/>
                          </a:solidFill>
                          <a:latin typeface="Arial" pitchFamily="34" charset="0"/>
                          <a:ea typeface="Arial" pitchFamily="34" charset="-122"/>
                          <a:cs typeface="Arial" pitchFamily="34" charset="-120"/>
                        </a:rPr>
                        <a:t>3</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200" dirty="0">
                          <a:solidFill>
                            <a:srgbClr val="102A43"/>
                          </a:solidFill>
                          <a:latin typeface="Arial" pitchFamily="34" charset="0"/>
                          <a:ea typeface="Arial" pitchFamily="34" charset="-122"/>
                          <a:cs typeface="Arial" pitchFamily="34" charset="-120"/>
                        </a:rPr>
                        <a:t>5</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200" dirty="0">
                          <a:solidFill>
                            <a:srgbClr val="102A43"/>
                          </a:solidFill>
                          <a:latin typeface="Arial" pitchFamily="34" charset="0"/>
                          <a:ea typeface="Arial" pitchFamily="34" charset="-122"/>
                          <a:cs typeface="Arial" pitchFamily="34" charset="-120"/>
                        </a:rPr>
                        <a:t>2</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200" dirty="0">
                          <a:solidFill>
                            <a:srgbClr val="102A43"/>
                          </a:solidFill>
                          <a:latin typeface="Arial" pitchFamily="34" charset="0"/>
                          <a:ea typeface="Arial" pitchFamily="34" charset="-122"/>
                          <a:cs typeface="Arial" pitchFamily="34" charset="-120"/>
                        </a:rPr>
                        <a:t>High</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r>
              <a:tr h="502920">
                <a:tc>
                  <a:txBody>
                    <a:bodyPr/>
                    <a:lstStyle/>
                    <a:p>
                      <a:pPr indent="0" marL="0">
                        <a:buNone/>
                      </a:pPr>
                      <a:r>
                        <a:rPr lang="en-US" sz="1200" dirty="0">
                          <a:solidFill>
                            <a:srgbClr val="102A43"/>
                          </a:solidFill>
                          <a:latin typeface="Arial" pitchFamily="34" charset="0"/>
                          <a:ea typeface="Arial" pitchFamily="34" charset="-122"/>
                          <a:cs typeface="Arial" pitchFamily="34" charset="-120"/>
                        </a:rPr>
                        <a:t>Recovery and continuity</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200" dirty="0">
                          <a:solidFill>
                            <a:srgbClr val="102A43"/>
                          </a:solidFill>
                          <a:latin typeface="Arial" pitchFamily="34" charset="0"/>
                          <a:ea typeface="Arial" pitchFamily="34" charset="-122"/>
                          <a:cs typeface="Arial" pitchFamily="34" charset="-120"/>
                        </a:rPr>
                        <a:t>2</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200" dirty="0">
                          <a:solidFill>
                            <a:srgbClr val="102A43"/>
                          </a:solidFill>
                          <a:latin typeface="Arial" pitchFamily="34" charset="0"/>
                          <a:ea typeface="Arial" pitchFamily="34" charset="-122"/>
                          <a:cs typeface="Arial" pitchFamily="34" charset="-120"/>
                        </a:rPr>
                        <a:t>4</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200" dirty="0">
                          <a:solidFill>
                            <a:srgbClr val="102A43"/>
                          </a:solidFill>
                          <a:latin typeface="Arial" pitchFamily="34" charset="0"/>
                          <a:ea typeface="Arial" pitchFamily="34" charset="-122"/>
                          <a:cs typeface="Arial" pitchFamily="34" charset="-120"/>
                        </a:rPr>
                        <a:t>2</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200" dirty="0">
                          <a:solidFill>
                            <a:srgbClr val="102A43"/>
                          </a:solidFill>
                          <a:latin typeface="Arial" pitchFamily="34" charset="0"/>
                          <a:ea typeface="Arial" pitchFamily="34" charset="-122"/>
                          <a:cs typeface="Arial" pitchFamily="34" charset="-120"/>
                        </a:rPr>
                        <a:t>Medium</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r>
              <a:tr h="502920">
                <a:tc>
                  <a:txBody>
                    <a:bodyPr/>
                    <a:lstStyle/>
                    <a:p>
                      <a:pPr indent="0" marL="0">
                        <a:buNone/>
                      </a:pPr>
                      <a:r>
                        <a:rPr lang="en-US" sz="1200" dirty="0">
                          <a:solidFill>
                            <a:srgbClr val="102A43"/>
                          </a:solidFill>
                          <a:latin typeface="Arial" pitchFamily="34" charset="0"/>
                          <a:ea typeface="Arial" pitchFamily="34" charset="-122"/>
                          <a:cs typeface="Arial" pitchFamily="34" charset="-120"/>
                        </a:rPr>
                        <a:t>Capacity and licensing</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200" dirty="0">
                          <a:solidFill>
                            <a:srgbClr val="102A43"/>
                          </a:solidFill>
                          <a:latin typeface="Arial" pitchFamily="34" charset="0"/>
                          <a:ea typeface="Arial" pitchFamily="34" charset="-122"/>
                          <a:cs typeface="Arial" pitchFamily="34" charset="-120"/>
                        </a:rPr>
                        <a:t>3</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200" dirty="0">
                          <a:solidFill>
                            <a:srgbClr val="102A43"/>
                          </a:solidFill>
                          <a:latin typeface="Arial" pitchFamily="34" charset="0"/>
                          <a:ea typeface="Arial" pitchFamily="34" charset="-122"/>
                          <a:cs typeface="Arial" pitchFamily="34" charset="-120"/>
                        </a:rPr>
                        <a:t>5</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200" dirty="0">
                          <a:solidFill>
                            <a:srgbClr val="102A43"/>
                          </a:solidFill>
                          <a:latin typeface="Arial" pitchFamily="34" charset="0"/>
                          <a:ea typeface="Arial" pitchFamily="34" charset="-122"/>
                          <a:cs typeface="Arial" pitchFamily="34" charset="-120"/>
                        </a:rPr>
                        <a:t>2</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200" dirty="0">
                          <a:solidFill>
                            <a:srgbClr val="102A43"/>
                          </a:solidFill>
                          <a:latin typeface="Arial" pitchFamily="34" charset="0"/>
                          <a:ea typeface="Arial" pitchFamily="34" charset="-122"/>
                          <a:cs typeface="Arial" pitchFamily="34" charset="-120"/>
                        </a:rPr>
                        <a:t>High</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r>
              <a:tr h="502920">
                <a:tc>
                  <a:txBody>
                    <a:bodyPr/>
                    <a:lstStyle/>
                    <a:p>
                      <a:pPr indent="0" marL="0">
                        <a:buNone/>
                      </a:pPr>
                      <a:r>
                        <a:rPr lang="en-US" sz="1200" dirty="0">
                          <a:solidFill>
                            <a:srgbClr val="102A43"/>
                          </a:solidFill>
                          <a:latin typeface="Arial" pitchFamily="34" charset="0"/>
                          <a:ea typeface="Arial" pitchFamily="34" charset="-122"/>
                          <a:cs typeface="Arial" pitchFamily="34" charset="-120"/>
                        </a:rPr>
                        <a:t>Citizen developer enablement</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200" dirty="0">
                          <a:solidFill>
                            <a:srgbClr val="102A43"/>
                          </a:solidFill>
                          <a:latin typeface="Arial" pitchFamily="34" charset="0"/>
                          <a:ea typeface="Arial" pitchFamily="34" charset="-122"/>
                          <a:cs typeface="Arial" pitchFamily="34" charset="-120"/>
                        </a:rPr>
                        <a:t>3</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200" dirty="0">
                          <a:solidFill>
                            <a:srgbClr val="102A43"/>
                          </a:solidFill>
                          <a:latin typeface="Arial" pitchFamily="34" charset="0"/>
                          <a:ea typeface="Arial" pitchFamily="34" charset="-122"/>
                          <a:cs typeface="Arial" pitchFamily="34" charset="-120"/>
                        </a:rPr>
                        <a:t>4</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200" dirty="0">
                          <a:solidFill>
                            <a:srgbClr val="102A43"/>
                          </a:solidFill>
                          <a:latin typeface="Arial" pitchFamily="34" charset="0"/>
                          <a:ea typeface="Arial" pitchFamily="34" charset="-122"/>
                          <a:cs typeface="Arial" pitchFamily="34" charset="-120"/>
                        </a:rPr>
                        <a:t>1</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200" dirty="0">
                          <a:solidFill>
                            <a:srgbClr val="102A43"/>
                          </a:solidFill>
                          <a:latin typeface="Arial" pitchFamily="34" charset="0"/>
                          <a:ea typeface="Arial" pitchFamily="34" charset="-122"/>
                          <a:cs typeface="Arial" pitchFamily="34" charset="-120"/>
                        </a:rPr>
                        <a:t>Medium</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r>
              <a:tr h="502920">
                <a:tc>
                  <a:txBody>
                    <a:bodyPr/>
                    <a:lstStyle/>
                    <a:p>
                      <a:pPr indent="0" marL="0">
                        <a:buNone/>
                      </a:pPr>
                      <a:r>
                        <a:rPr lang="en-US" sz="1200" dirty="0">
                          <a:solidFill>
                            <a:srgbClr val="102A43"/>
                          </a:solidFill>
                          <a:latin typeface="Arial" pitchFamily="34" charset="0"/>
                          <a:ea typeface="Arial" pitchFamily="34" charset="-122"/>
                          <a:cs typeface="Arial" pitchFamily="34" charset="-120"/>
                        </a:rPr>
                        <a:t>Security and identity</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200" dirty="0">
                          <a:solidFill>
                            <a:srgbClr val="102A43"/>
                          </a:solidFill>
                          <a:latin typeface="Arial" pitchFamily="34" charset="0"/>
                          <a:ea typeface="Arial" pitchFamily="34" charset="-122"/>
                          <a:cs typeface="Arial" pitchFamily="34" charset="-120"/>
                        </a:rPr>
                        <a:t>4</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200" dirty="0">
                          <a:solidFill>
                            <a:srgbClr val="102A43"/>
                          </a:solidFill>
                          <a:latin typeface="Arial" pitchFamily="34" charset="0"/>
                          <a:ea typeface="Arial" pitchFamily="34" charset="-122"/>
                          <a:cs typeface="Arial" pitchFamily="34" charset="-120"/>
                        </a:rPr>
                        <a:t>4</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200" dirty="0">
                          <a:solidFill>
                            <a:srgbClr val="102A43"/>
                          </a:solidFill>
                          <a:latin typeface="Arial" pitchFamily="34" charset="0"/>
                          <a:ea typeface="Arial" pitchFamily="34" charset="-122"/>
                          <a:cs typeface="Arial" pitchFamily="34" charset="-120"/>
                        </a:rPr>
                        <a:t>0</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200" dirty="0">
                          <a:solidFill>
                            <a:srgbClr val="102A43"/>
                          </a:solidFill>
                          <a:latin typeface="Arial" pitchFamily="34" charset="0"/>
                          <a:ea typeface="Arial" pitchFamily="34" charset="-122"/>
                          <a:cs typeface="Arial" pitchFamily="34" charset="-120"/>
                        </a:rPr>
                        <a:t>Medium</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9FB"/>
        </a:solidFill>
      </p:bgPr>
    </p:bg>
    <p:spTree>
      <p:nvGrpSpPr>
        <p:cNvPr id="1" name=""/>
        <p:cNvGrpSpPr/>
        <p:nvPr/>
      </p:nvGrpSpPr>
      <p:grpSpPr>
        <a:xfrm>
          <a:off x="0" y="0"/>
          <a:ext cx="0" cy="0"/>
          <a:chOff x="0" y="0"/>
          <a:chExt cx="0" cy="0"/>
        </a:xfrm>
      </p:grpSpPr>
      <p:sp>
        <p:nvSpPr>
          <p:cNvPr id="2" name="Text 0"/>
          <p:cNvSpPr/>
          <p:nvPr/>
        </p:nvSpPr>
        <p:spPr>
          <a:xfrm>
            <a:off x="548640" y="292608"/>
            <a:ext cx="11094415" cy="228600"/>
          </a:xfrm>
          <a:prstGeom prst="rect">
            <a:avLst/>
          </a:prstGeom>
          <a:noFill/>
          <a:ln/>
        </p:spPr>
        <p:txBody>
          <a:bodyPr wrap="square" lIns="0" tIns="0" rIns="0" bIns="0" rtlCol="0" anchor="ctr"/>
          <a:lstStyle/>
          <a:p>
            <a:pPr indent="0" marL="0">
              <a:buNone/>
            </a:pPr>
            <a:r>
              <a:rPr lang="en-US" sz="1000" b="1" dirty="0">
                <a:solidFill>
                  <a:srgbClr val="B44D2E"/>
                </a:solidFill>
                <a:latin typeface="Arial" pitchFamily="34" charset="0"/>
                <a:ea typeface="Arial" pitchFamily="34" charset="-122"/>
                <a:cs typeface="Arial" pitchFamily="34" charset="-120"/>
              </a:rPr>
              <a:t>MIGHTORA MATURITY ASSESSMENT</a:t>
            </a:r>
            <a:endParaRPr lang="en-US" sz="1000" dirty="0"/>
          </a:p>
        </p:txBody>
      </p:sp>
      <p:sp>
        <p:nvSpPr>
          <p:cNvPr id="3" name="Text 1"/>
          <p:cNvSpPr/>
          <p:nvPr/>
        </p:nvSpPr>
        <p:spPr>
          <a:xfrm>
            <a:off x="548640" y="777240"/>
            <a:ext cx="11094415" cy="685800"/>
          </a:xfrm>
          <a:prstGeom prst="rect">
            <a:avLst/>
          </a:prstGeom>
          <a:noFill/>
          <a:ln/>
        </p:spPr>
        <p:txBody>
          <a:bodyPr wrap="square" lIns="0" tIns="0" rIns="0" bIns="0" rtlCol="0" anchor="ctr">
            <a:normAutofit/>
          </a:bodyPr>
          <a:lstStyle/>
          <a:p>
            <a:pPr indent="0" marL="0">
              <a:buNone/>
            </a:pPr>
            <a:r>
              <a:rPr lang="en-US" sz="2700" b="1" dirty="0">
                <a:solidFill>
                  <a:srgbClr val="102A43"/>
                </a:solidFill>
                <a:latin typeface="Arial" pitchFamily="34" charset="0"/>
                <a:ea typeface="Arial" pitchFamily="34" charset="-122"/>
                <a:cs typeface="Arial" pitchFamily="34" charset="-120"/>
              </a:rPr>
              <a:t>Prioritised improvements</a:t>
            </a:r>
            <a:endParaRPr lang="en-US" sz="2700" dirty="0"/>
          </a:p>
        </p:txBody>
      </p:sp>
      <p:sp>
        <p:nvSpPr>
          <p:cNvPr id="4" name="Text 2"/>
          <p:cNvSpPr/>
          <p:nvPr/>
        </p:nvSpPr>
        <p:spPr>
          <a:xfrm>
            <a:off x="548640" y="6492240"/>
            <a:ext cx="11094415" cy="182880"/>
          </a:xfrm>
          <a:prstGeom prst="rect">
            <a:avLst/>
          </a:prstGeom>
          <a:noFill/>
          <a:ln/>
        </p:spPr>
        <p:txBody>
          <a:bodyPr wrap="square" lIns="0" tIns="0" rIns="0" bIns="0" rtlCol="0" anchor="ctr"/>
          <a:lstStyle/>
          <a:p>
            <a:pPr indent="0" marL="0">
              <a:buNone/>
            </a:pPr>
            <a:r>
              <a:rPr lang="en-US" sz="900" dirty="0">
                <a:solidFill>
                  <a:srgbClr val="486581"/>
                </a:solidFill>
                <a:latin typeface="Arial" pitchFamily="34" charset="0"/>
                <a:ea typeface="Arial" pitchFamily="34" charset="-122"/>
                <a:cs typeface="Arial" pitchFamily="34" charset="-120"/>
              </a:rPr>
              <a:t>2026-10-20    1.0    13</a:t>
            </a:r>
            <a:endParaRPr lang="en-US" sz="9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4415" cy="914400"/>
        </p:xfrm>
        <a:graphic>
          <a:graphicData uri="http://schemas.openxmlformats.org/drawingml/2006/table">
            <a:tbl>
              <a:tblPr/>
              <a:tblGrid>
                <a:gridCol w="2551715"/>
                <a:gridCol w="1553218"/>
                <a:gridCol w="2551715"/>
                <a:gridCol w="4437766"/>
              </a:tblGrid>
              <a:tr h="502920">
                <a:tc>
                  <a:txBody>
                    <a:bodyPr/>
                    <a:lstStyle/>
                    <a:p>
                      <a:pPr indent="0" marL="0">
                        <a:buNone/>
                      </a:pPr>
                      <a:r>
                        <a:rPr lang="en-US" sz="1200" b="1" dirty="0">
                          <a:solidFill>
                            <a:srgbClr val="FFFFFF"/>
                          </a:solidFill>
                          <a:latin typeface="Arial" pitchFamily="34" charset="0"/>
                          <a:ea typeface="Arial" pitchFamily="34" charset="-122"/>
                          <a:cs typeface="Arial" pitchFamily="34" charset="-120"/>
                        </a:rPr>
                        <a:t>Capability</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102A43"/>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Priority / weight</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102A43"/>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Owner / target date</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102A43"/>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Recommendation</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102A43"/>
                    </a:solidFill>
                  </a:tcPr>
                </a:tc>
              </a:tr>
              <a:tr h="502920">
                <a:tc>
                  <a:txBody>
                    <a:bodyPr/>
                    <a:lstStyle/>
                    <a:p>
                      <a:pPr indent="0" marL="0">
                        <a:buNone/>
                      </a:pPr>
                      <a:r>
                        <a:rPr lang="en-US" sz="1200" dirty="0">
                          <a:solidFill>
                            <a:srgbClr val="102A43"/>
                          </a:solidFill>
                          <a:latin typeface="Arial" pitchFamily="34" charset="0"/>
                          <a:ea typeface="Arial" pitchFamily="34" charset="-122"/>
                          <a:cs typeface="Arial" pitchFamily="34" charset="-120"/>
                        </a:rPr>
                        <a:t>Governance and environment strategy</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200" dirty="0">
                          <a:solidFill>
                            <a:srgbClr val="102A43"/>
                          </a:solidFill>
                          <a:latin typeface="Arial" pitchFamily="34" charset="0"/>
                          <a:ea typeface="Arial" pitchFamily="34" charset="-122"/>
                          <a:cs typeface="Arial" pitchFamily="34" charset="-120"/>
                        </a:rPr>
                        <a:t>High / 2</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200" dirty="0">
                          <a:solidFill>
                            <a:srgbClr val="102A43"/>
                          </a:solidFill>
                          <a:latin typeface="Arial" pitchFamily="34" charset="0"/>
                          <a:ea typeface="Arial" pitchFamily="34" charset="-122"/>
                          <a:cs typeface="Arial" pitchFamily="34" charset="-120"/>
                        </a:rPr>
                        <a:t>Platform lead</a:t>
                      </a:r>
                      <a:endParaRPr lang="en-US" sz="1200" dirty="0">
                        <a:latin typeface="Arial" charset="0"/>
                        <a:ea typeface="Arial" charset="0"/>
                        <a:cs typeface="Arial" charset="0"/>
                      </a:endParaRPr>
                    </a:p>
                    <a:p>
                      <a:pPr indent="0" marL="0">
                        <a:buNone/>
                      </a:pPr>
                      <a:r>
                        <a:rPr lang="en-US" sz="1200" dirty="0">
                          <a:solidFill>
                            <a:srgbClr val="102A43"/>
                          </a:solidFill>
                          <a:latin typeface="Arial" pitchFamily="34" charset="0"/>
                          <a:ea typeface="Arial" pitchFamily="34" charset="-122"/>
                          <a:cs typeface="Arial" pitchFamily="34" charset="-120"/>
                        </a:rPr>
                        <a:t>2027-01-20</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200" dirty="0">
                          <a:solidFill>
                            <a:srgbClr val="102A43"/>
                          </a:solidFill>
                          <a:latin typeface="Arial" pitchFamily="34" charset="0"/>
                          <a:ea typeface="Arial" pitchFamily="34" charset="-122"/>
                          <a:cs typeface="Arial" pitchFamily="34" charset="-120"/>
                        </a:rPr>
                        <a:t>Agree a consistent approach for governance and environment strategy, assign ownership, and review adoption at the next quarterly assessment.</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r>
              <a:tr h="502920">
                <a:tc>
                  <a:txBody>
                    <a:bodyPr/>
                    <a:lstStyle/>
                    <a:p>
                      <a:pPr indent="0" marL="0">
                        <a:buNone/>
                      </a:pPr>
                      <a:r>
                        <a:rPr lang="en-US" sz="1200" dirty="0">
                          <a:solidFill>
                            <a:srgbClr val="102A43"/>
                          </a:solidFill>
                          <a:latin typeface="Arial" pitchFamily="34" charset="0"/>
                          <a:ea typeface="Arial" pitchFamily="34" charset="-122"/>
                          <a:cs typeface="Arial" pitchFamily="34" charset="-120"/>
                        </a:rPr>
                        <a:t>Data governance</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200" dirty="0">
                          <a:solidFill>
                            <a:srgbClr val="102A43"/>
                          </a:solidFill>
                          <a:latin typeface="Arial" pitchFamily="34" charset="0"/>
                          <a:ea typeface="Arial" pitchFamily="34" charset="-122"/>
                          <a:cs typeface="Arial" pitchFamily="34" charset="-120"/>
                        </a:rPr>
                        <a:t>High / 1</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200" dirty="0">
                          <a:solidFill>
                            <a:srgbClr val="102A43"/>
                          </a:solidFill>
                          <a:latin typeface="Arial" pitchFamily="34" charset="0"/>
                          <a:ea typeface="Arial" pitchFamily="34" charset="-122"/>
                          <a:cs typeface="Arial" pitchFamily="34" charset="-120"/>
                        </a:rPr>
                        <a:t>Platform lead</a:t>
                      </a:r>
                      <a:endParaRPr lang="en-US" sz="1200" dirty="0">
                        <a:latin typeface="Arial" charset="0"/>
                        <a:ea typeface="Arial" charset="0"/>
                        <a:cs typeface="Arial" charset="0"/>
                      </a:endParaRPr>
                    </a:p>
                    <a:p>
                      <a:pPr indent="0" marL="0">
                        <a:buNone/>
                      </a:pPr>
                      <a:r>
                        <a:rPr lang="en-US" sz="1200" dirty="0">
                          <a:solidFill>
                            <a:srgbClr val="102A43"/>
                          </a:solidFill>
                          <a:latin typeface="Arial" pitchFamily="34" charset="0"/>
                          <a:ea typeface="Arial" pitchFamily="34" charset="-122"/>
                          <a:cs typeface="Arial" pitchFamily="34" charset="-120"/>
                        </a:rPr>
                        <a:t>2027-01-20</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200" dirty="0">
                          <a:solidFill>
                            <a:srgbClr val="102A43"/>
                          </a:solidFill>
                          <a:latin typeface="Arial" pitchFamily="34" charset="0"/>
                          <a:ea typeface="Arial" pitchFamily="34" charset="-122"/>
                          <a:cs typeface="Arial" pitchFamily="34" charset="-120"/>
                        </a:rPr>
                        <a:t>Agree a consistent approach for data governance, assign ownership, and review adoption at the next quarterly assessment.</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r>
              <a:tr h="502920">
                <a:tc>
                  <a:txBody>
                    <a:bodyPr/>
                    <a:lstStyle/>
                    <a:p>
                      <a:pPr indent="0" marL="0">
                        <a:buNone/>
                      </a:pPr>
                      <a:r>
                        <a:rPr lang="en-US" sz="1200" dirty="0">
                          <a:solidFill>
                            <a:srgbClr val="102A43"/>
                          </a:solidFill>
                          <a:latin typeface="Arial" pitchFamily="34" charset="0"/>
                          <a:ea typeface="Arial" pitchFamily="34" charset="-122"/>
                          <a:cs typeface="Arial" pitchFamily="34" charset="-120"/>
                        </a:rPr>
                        <a:t>Integration architecture</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200" dirty="0">
                          <a:solidFill>
                            <a:srgbClr val="102A43"/>
                          </a:solidFill>
                          <a:latin typeface="Arial" pitchFamily="34" charset="0"/>
                          <a:ea typeface="Arial" pitchFamily="34" charset="-122"/>
                          <a:cs typeface="Arial" pitchFamily="34" charset="-120"/>
                        </a:rPr>
                        <a:t>High / 1</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200" dirty="0">
                          <a:solidFill>
                            <a:srgbClr val="102A43"/>
                          </a:solidFill>
                          <a:latin typeface="Arial" pitchFamily="34" charset="0"/>
                          <a:ea typeface="Arial" pitchFamily="34" charset="-122"/>
                          <a:cs typeface="Arial" pitchFamily="34" charset="-120"/>
                        </a:rPr>
                        <a:t>Solution architect</a:t>
                      </a:r>
                      <a:endParaRPr lang="en-US" sz="1200" dirty="0">
                        <a:latin typeface="Arial" charset="0"/>
                        <a:ea typeface="Arial" charset="0"/>
                        <a:cs typeface="Arial" charset="0"/>
                      </a:endParaRPr>
                    </a:p>
                    <a:p>
                      <a:pPr indent="0" marL="0">
                        <a:buNone/>
                      </a:pPr>
                      <a:r>
                        <a:rPr lang="en-US" sz="1200" dirty="0">
                          <a:solidFill>
                            <a:srgbClr val="102A43"/>
                          </a:solidFill>
                          <a:latin typeface="Arial" pitchFamily="34" charset="0"/>
                          <a:ea typeface="Arial" pitchFamily="34" charset="-122"/>
                          <a:cs typeface="Arial" pitchFamily="34" charset="-120"/>
                        </a:rPr>
                        <a:t>2027-02-20</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200" dirty="0">
                          <a:solidFill>
                            <a:srgbClr val="102A43"/>
                          </a:solidFill>
                          <a:latin typeface="Arial" pitchFamily="34" charset="0"/>
                          <a:ea typeface="Arial" pitchFamily="34" charset="-122"/>
                          <a:cs typeface="Arial" pitchFamily="34" charset="-120"/>
                        </a:rPr>
                        <a:t>Agree a consistent approach for integration architecture, assign ownership, and review adoption at the next quarterly assessment.</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r>
              <a:tr h="502920">
                <a:tc>
                  <a:txBody>
                    <a:bodyPr/>
                    <a:lstStyle/>
                    <a:p>
                      <a:pPr indent="0" marL="0">
                        <a:buNone/>
                      </a:pPr>
                      <a:r>
                        <a:rPr lang="en-US" sz="1200" dirty="0">
                          <a:solidFill>
                            <a:srgbClr val="102A43"/>
                          </a:solidFill>
                          <a:latin typeface="Arial" pitchFamily="34" charset="0"/>
                          <a:ea typeface="Arial" pitchFamily="34" charset="-122"/>
                          <a:cs typeface="Arial" pitchFamily="34" charset="-120"/>
                        </a:rPr>
                        <a:t>Automated testing</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200" dirty="0">
                          <a:solidFill>
                            <a:srgbClr val="102A43"/>
                          </a:solidFill>
                          <a:latin typeface="Arial" pitchFamily="34" charset="0"/>
                          <a:ea typeface="Arial" pitchFamily="34" charset="-122"/>
                          <a:cs typeface="Arial" pitchFamily="34" charset="-120"/>
                        </a:rPr>
                        <a:t>High / 1</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200" dirty="0">
                          <a:solidFill>
                            <a:srgbClr val="102A43"/>
                          </a:solidFill>
                          <a:latin typeface="Arial" pitchFamily="34" charset="0"/>
                          <a:ea typeface="Arial" pitchFamily="34" charset="-122"/>
                          <a:cs typeface="Arial" pitchFamily="34" charset="-120"/>
                        </a:rPr>
                        <a:t>Engineering lead</a:t>
                      </a:r>
                      <a:endParaRPr lang="en-US" sz="1200" dirty="0">
                        <a:latin typeface="Arial" charset="0"/>
                        <a:ea typeface="Arial" charset="0"/>
                        <a:cs typeface="Arial" charset="0"/>
                      </a:endParaRPr>
                    </a:p>
                    <a:p>
                      <a:pPr indent="0" marL="0">
                        <a:buNone/>
                      </a:pPr>
                      <a:r>
                        <a:rPr lang="en-US" sz="1200" dirty="0">
                          <a:solidFill>
                            <a:srgbClr val="102A43"/>
                          </a:solidFill>
                          <a:latin typeface="Arial" pitchFamily="34" charset="0"/>
                          <a:ea typeface="Arial" pitchFamily="34" charset="-122"/>
                          <a:cs typeface="Arial" pitchFamily="34" charset="-120"/>
                        </a:rPr>
                        <a:t>2027-03-20</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200" dirty="0">
                          <a:solidFill>
                            <a:srgbClr val="102A43"/>
                          </a:solidFill>
                          <a:latin typeface="Arial" pitchFamily="34" charset="0"/>
                          <a:ea typeface="Arial" pitchFamily="34" charset="-122"/>
                          <a:cs typeface="Arial" pitchFamily="34" charset="-120"/>
                        </a:rPr>
                        <a:t>Agree a consistent approach for automated testing, assign ownership, and review adoption at the next quarterly assessment.</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9FB"/>
        </a:solidFill>
      </p:bgPr>
    </p:bg>
    <p:spTree>
      <p:nvGrpSpPr>
        <p:cNvPr id="1" name=""/>
        <p:cNvGrpSpPr/>
        <p:nvPr/>
      </p:nvGrpSpPr>
      <p:grpSpPr>
        <a:xfrm>
          <a:off x="0" y="0"/>
          <a:ext cx="0" cy="0"/>
          <a:chOff x="0" y="0"/>
          <a:chExt cx="0" cy="0"/>
        </a:xfrm>
      </p:grpSpPr>
      <p:sp>
        <p:nvSpPr>
          <p:cNvPr id="2" name="Text 0"/>
          <p:cNvSpPr/>
          <p:nvPr/>
        </p:nvSpPr>
        <p:spPr>
          <a:xfrm>
            <a:off x="548640" y="292608"/>
            <a:ext cx="11094415" cy="228600"/>
          </a:xfrm>
          <a:prstGeom prst="rect">
            <a:avLst/>
          </a:prstGeom>
          <a:noFill/>
          <a:ln/>
        </p:spPr>
        <p:txBody>
          <a:bodyPr wrap="square" lIns="0" tIns="0" rIns="0" bIns="0" rtlCol="0" anchor="ctr"/>
          <a:lstStyle/>
          <a:p>
            <a:pPr indent="0" marL="0">
              <a:buNone/>
            </a:pPr>
            <a:r>
              <a:rPr lang="en-US" sz="1000" b="1" dirty="0">
                <a:solidFill>
                  <a:srgbClr val="B44D2E"/>
                </a:solidFill>
                <a:latin typeface="Arial" pitchFamily="34" charset="0"/>
                <a:ea typeface="Arial" pitchFamily="34" charset="-122"/>
                <a:cs typeface="Arial" pitchFamily="34" charset="-120"/>
              </a:rPr>
              <a:t>MIGHTORA MATURITY ASSESSMENT</a:t>
            </a:r>
            <a:endParaRPr lang="en-US" sz="1000" dirty="0"/>
          </a:p>
        </p:txBody>
      </p:sp>
      <p:sp>
        <p:nvSpPr>
          <p:cNvPr id="3" name="Text 1"/>
          <p:cNvSpPr/>
          <p:nvPr/>
        </p:nvSpPr>
        <p:spPr>
          <a:xfrm>
            <a:off x="548640" y="777240"/>
            <a:ext cx="11094415" cy="685800"/>
          </a:xfrm>
          <a:prstGeom prst="rect">
            <a:avLst/>
          </a:prstGeom>
          <a:noFill/>
          <a:ln/>
        </p:spPr>
        <p:txBody>
          <a:bodyPr wrap="square" lIns="0" tIns="0" rIns="0" bIns="0" rtlCol="0" anchor="ctr">
            <a:normAutofit/>
          </a:bodyPr>
          <a:lstStyle/>
          <a:p>
            <a:pPr indent="0" marL="0">
              <a:buNone/>
            </a:pPr>
            <a:r>
              <a:rPr lang="en-US" sz="2700" b="1" dirty="0">
                <a:solidFill>
                  <a:srgbClr val="102A43"/>
                </a:solidFill>
                <a:latin typeface="Arial" pitchFamily="34" charset="0"/>
                <a:ea typeface="Arial" pitchFamily="34" charset="-122"/>
                <a:cs typeface="Arial" pitchFamily="34" charset="-120"/>
              </a:rPr>
              <a:t>Prioritised improvements continued</a:t>
            </a:r>
            <a:endParaRPr lang="en-US" sz="2700" dirty="0"/>
          </a:p>
        </p:txBody>
      </p:sp>
      <p:sp>
        <p:nvSpPr>
          <p:cNvPr id="4" name="Text 2"/>
          <p:cNvSpPr/>
          <p:nvPr/>
        </p:nvSpPr>
        <p:spPr>
          <a:xfrm>
            <a:off x="548640" y="6492240"/>
            <a:ext cx="11094415" cy="182880"/>
          </a:xfrm>
          <a:prstGeom prst="rect">
            <a:avLst/>
          </a:prstGeom>
          <a:noFill/>
          <a:ln/>
        </p:spPr>
        <p:txBody>
          <a:bodyPr wrap="square" lIns="0" tIns="0" rIns="0" bIns="0" rtlCol="0" anchor="ctr"/>
          <a:lstStyle/>
          <a:p>
            <a:pPr indent="0" marL="0">
              <a:buNone/>
            </a:pPr>
            <a:r>
              <a:rPr lang="en-US" sz="900" dirty="0">
                <a:solidFill>
                  <a:srgbClr val="486581"/>
                </a:solidFill>
                <a:latin typeface="Arial" pitchFamily="34" charset="0"/>
                <a:ea typeface="Arial" pitchFamily="34" charset="-122"/>
                <a:cs typeface="Arial" pitchFamily="34" charset="-120"/>
              </a:rPr>
              <a:t>2026-10-20    1.0    14</a:t>
            </a:r>
            <a:endParaRPr lang="en-US" sz="9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4415" cy="914400"/>
        </p:xfrm>
        <a:graphic>
          <a:graphicData uri="http://schemas.openxmlformats.org/drawingml/2006/table">
            <a:tbl>
              <a:tblPr/>
              <a:tblGrid>
                <a:gridCol w="2551715"/>
                <a:gridCol w="1553218"/>
                <a:gridCol w="2551715"/>
                <a:gridCol w="4437766"/>
              </a:tblGrid>
              <a:tr h="502920">
                <a:tc>
                  <a:txBody>
                    <a:bodyPr/>
                    <a:lstStyle/>
                    <a:p>
                      <a:pPr indent="0" marL="0">
                        <a:buNone/>
                      </a:pPr>
                      <a:r>
                        <a:rPr lang="en-US" sz="1200" b="1" dirty="0">
                          <a:solidFill>
                            <a:srgbClr val="FFFFFF"/>
                          </a:solidFill>
                          <a:latin typeface="Arial" pitchFamily="34" charset="0"/>
                          <a:ea typeface="Arial" pitchFamily="34" charset="-122"/>
                          <a:cs typeface="Arial" pitchFamily="34" charset="-120"/>
                        </a:rPr>
                        <a:t>Capability</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102A43"/>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Priority / weight</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102A43"/>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Owner / target date</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102A43"/>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Recommendation</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102A43"/>
                    </a:solidFill>
                  </a:tcPr>
                </a:tc>
              </a:tr>
              <a:tr h="502920">
                <a:tc>
                  <a:txBody>
                    <a:bodyPr/>
                    <a:lstStyle/>
                    <a:p>
                      <a:pPr indent="0" marL="0">
                        <a:buNone/>
                      </a:pPr>
                      <a:r>
                        <a:rPr lang="en-US" sz="1200" dirty="0">
                          <a:solidFill>
                            <a:srgbClr val="102A43"/>
                          </a:solidFill>
                          <a:latin typeface="Arial" pitchFamily="34" charset="0"/>
                          <a:ea typeface="Arial" pitchFamily="34" charset="-122"/>
                          <a:cs typeface="Arial" pitchFamily="34" charset="-120"/>
                        </a:rPr>
                        <a:t>Dataverse architecture</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200" dirty="0">
                          <a:solidFill>
                            <a:srgbClr val="102A43"/>
                          </a:solidFill>
                          <a:latin typeface="Arial" pitchFamily="34" charset="0"/>
                          <a:ea typeface="Arial" pitchFamily="34" charset="-122"/>
                          <a:cs typeface="Arial" pitchFamily="34" charset="-120"/>
                        </a:rPr>
                        <a:t>High / 2</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200" dirty="0">
                          <a:solidFill>
                            <a:srgbClr val="102A43"/>
                          </a:solidFill>
                          <a:latin typeface="Arial" pitchFamily="34" charset="0"/>
                          <a:ea typeface="Arial" pitchFamily="34" charset="-122"/>
                          <a:cs typeface="Arial" pitchFamily="34" charset="-120"/>
                        </a:rPr>
                        <a:t>Solution architect</a:t>
                      </a:r>
                      <a:endParaRPr lang="en-US" sz="1200" dirty="0">
                        <a:latin typeface="Arial" charset="0"/>
                        <a:ea typeface="Arial" charset="0"/>
                        <a:cs typeface="Arial" charset="0"/>
                      </a:endParaRPr>
                    </a:p>
                    <a:p>
                      <a:pPr indent="0" marL="0">
                        <a:buNone/>
                      </a:pPr>
                      <a:r>
                        <a:rPr lang="en-US" sz="1200" dirty="0">
                          <a:solidFill>
                            <a:srgbClr val="102A43"/>
                          </a:solidFill>
                          <a:latin typeface="Arial" pitchFamily="34" charset="0"/>
                          <a:ea typeface="Arial" pitchFamily="34" charset="-122"/>
                          <a:cs typeface="Arial" pitchFamily="34" charset="-120"/>
                        </a:rPr>
                        <a:t>2027-02-20</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200" dirty="0">
                          <a:solidFill>
                            <a:srgbClr val="102A43"/>
                          </a:solidFill>
                          <a:latin typeface="Arial" pitchFamily="34" charset="0"/>
                          <a:ea typeface="Arial" pitchFamily="34" charset="-122"/>
                          <a:cs typeface="Arial" pitchFamily="34" charset="-120"/>
                        </a:rPr>
                        <a:t>Agree a consistent approach for dataverse architecture, assign ownership, and review adoption at the next quarterly assessment.</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r>
              <a:tr h="502920">
                <a:tc>
                  <a:txBody>
                    <a:bodyPr/>
                    <a:lstStyle/>
                    <a:p>
                      <a:pPr indent="0" marL="0">
                        <a:buNone/>
                      </a:pPr>
                      <a:r>
                        <a:rPr lang="en-US" sz="1200" dirty="0">
                          <a:solidFill>
                            <a:srgbClr val="102A43"/>
                          </a:solidFill>
                          <a:latin typeface="Arial" pitchFamily="34" charset="0"/>
                          <a:ea typeface="Arial" pitchFamily="34" charset="-122"/>
                          <a:cs typeface="Arial" pitchFamily="34" charset="-120"/>
                        </a:rPr>
                        <a:t>Application lifecycle management</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200" dirty="0">
                          <a:solidFill>
                            <a:srgbClr val="102A43"/>
                          </a:solidFill>
                          <a:latin typeface="Arial" pitchFamily="34" charset="0"/>
                          <a:ea typeface="Arial" pitchFamily="34" charset="-122"/>
                          <a:cs typeface="Arial" pitchFamily="34" charset="-120"/>
                        </a:rPr>
                        <a:t>High / 2</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200" dirty="0">
                          <a:solidFill>
                            <a:srgbClr val="102A43"/>
                          </a:solidFill>
                          <a:latin typeface="Arial" pitchFamily="34" charset="0"/>
                          <a:ea typeface="Arial" pitchFamily="34" charset="-122"/>
                          <a:cs typeface="Arial" pitchFamily="34" charset="-120"/>
                        </a:rPr>
                        <a:t>Engineering lead</a:t>
                      </a:r>
                      <a:endParaRPr lang="en-US" sz="1200" dirty="0">
                        <a:latin typeface="Arial" charset="0"/>
                        <a:ea typeface="Arial" charset="0"/>
                        <a:cs typeface="Arial" charset="0"/>
                      </a:endParaRPr>
                    </a:p>
                    <a:p>
                      <a:pPr indent="0" marL="0">
                        <a:buNone/>
                      </a:pPr>
                      <a:r>
                        <a:rPr lang="en-US" sz="1200" dirty="0">
                          <a:solidFill>
                            <a:srgbClr val="102A43"/>
                          </a:solidFill>
                          <a:latin typeface="Arial" pitchFamily="34" charset="0"/>
                          <a:ea typeface="Arial" pitchFamily="34" charset="-122"/>
                          <a:cs typeface="Arial" pitchFamily="34" charset="-120"/>
                        </a:rPr>
                        <a:t>2027-03-20</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200" dirty="0">
                          <a:solidFill>
                            <a:srgbClr val="102A43"/>
                          </a:solidFill>
                          <a:latin typeface="Arial" pitchFamily="34" charset="0"/>
                          <a:ea typeface="Arial" pitchFamily="34" charset="-122"/>
                          <a:cs typeface="Arial" pitchFamily="34" charset="-120"/>
                        </a:rPr>
                        <a:t>Agree a consistent approach for application lifecycle management, assign ownership, and review adoption at the next quarterly assessment.</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r>
              <a:tr h="502920">
                <a:tc>
                  <a:txBody>
                    <a:bodyPr/>
                    <a:lstStyle/>
                    <a:p>
                      <a:pPr indent="0" marL="0">
                        <a:buNone/>
                      </a:pPr>
                      <a:r>
                        <a:rPr lang="en-US" sz="1200" dirty="0">
                          <a:solidFill>
                            <a:srgbClr val="102A43"/>
                          </a:solidFill>
                          <a:latin typeface="Arial" pitchFamily="34" charset="0"/>
                          <a:ea typeface="Arial" pitchFamily="34" charset="-122"/>
                          <a:cs typeface="Arial" pitchFamily="34" charset="-120"/>
                        </a:rPr>
                        <a:t>Monitoring and observability</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200" dirty="0">
                          <a:solidFill>
                            <a:srgbClr val="102A43"/>
                          </a:solidFill>
                          <a:latin typeface="Arial" pitchFamily="34" charset="0"/>
                          <a:ea typeface="Arial" pitchFamily="34" charset="-122"/>
                          <a:cs typeface="Arial" pitchFamily="34" charset="-120"/>
                        </a:rPr>
                        <a:t>High / 2</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200" dirty="0">
                          <a:solidFill>
                            <a:srgbClr val="102A43"/>
                          </a:solidFill>
                          <a:latin typeface="Arial" pitchFamily="34" charset="0"/>
                          <a:ea typeface="Arial" pitchFamily="34" charset="-122"/>
                          <a:cs typeface="Arial" pitchFamily="34" charset="-120"/>
                        </a:rPr>
                        <a:t>Service owner</a:t>
                      </a:r>
                      <a:endParaRPr lang="en-US" sz="1200" dirty="0">
                        <a:latin typeface="Arial" charset="0"/>
                        <a:ea typeface="Arial" charset="0"/>
                        <a:cs typeface="Arial" charset="0"/>
                      </a:endParaRPr>
                    </a:p>
                    <a:p>
                      <a:pPr indent="0" marL="0">
                        <a:buNone/>
                      </a:pPr>
                      <a:r>
                        <a:rPr lang="en-US" sz="1200" dirty="0">
                          <a:solidFill>
                            <a:srgbClr val="102A43"/>
                          </a:solidFill>
                          <a:latin typeface="Arial" pitchFamily="34" charset="0"/>
                          <a:ea typeface="Arial" pitchFamily="34" charset="-122"/>
                          <a:cs typeface="Arial" pitchFamily="34" charset="-120"/>
                        </a:rPr>
                        <a:t>2027-04-20</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200" dirty="0">
                          <a:solidFill>
                            <a:srgbClr val="102A43"/>
                          </a:solidFill>
                          <a:latin typeface="Arial" pitchFamily="34" charset="0"/>
                          <a:ea typeface="Arial" pitchFamily="34" charset="-122"/>
                          <a:cs typeface="Arial" pitchFamily="34" charset="-120"/>
                        </a:rPr>
                        <a:t>Agree a consistent approach for monitoring and observability, assign ownership, and review adoption at the next quarterly assessment.</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r>
              <a:tr h="502920">
                <a:tc>
                  <a:txBody>
                    <a:bodyPr/>
                    <a:lstStyle/>
                    <a:p>
                      <a:pPr indent="0" marL="0">
                        <a:buNone/>
                      </a:pPr>
                      <a:r>
                        <a:rPr lang="en-US" sz="1200" dirty="0">
                          <a:solidFill>
                            <a:srgbClr val="102A43"/>
                          </a:solidFill>
                          <a:latin typeface="Arial" pitchFamily="34" charset="0"/>
                          <a:ea typeface="Arial" pitchFamily="34" charset="-122"/>
                          <a:cs typeface="Arial" pitchFamily="34" charset="-120"/>
                        </a:rPr>
                        <a:t>Capacity and licensing</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200" dirty="0">
                          <a:solidFill>
                            <a:srgbClr val="102A43"/>
                          </a:solidFill>
                          <a:latin typeface="Arial" pitchFamily="34" charset="0"/>
                          <a:ea typeface="Arial" pitchFamily="34" charset="-122"/>
                          <a:cs typeface="Arial" pitchFamily="34" charset="-120"/>
                        </a:rPr>
                        <a:t>High / 1</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200" dirty="0">
                          <a:solidFill>
                            <a:srgbClr val="102A43"/>
                          </a:solidFill>
                          <a:latin typeface="Arial" pitchFamily="34" charset="0"/>
                          <a:ea typeface="Arial" pitchFamily="34" charset="-122"/>
                          <a:cs typeface="Arial" pitchFamily="34" charset="-120"/>
                        </a:rPr>
                        <a:t>Service owner</a:t>
                      </a:r>
                      <a:endParaRPr lang="en-US" sz="1200" dirty="0">
                        <a:latin typeface="Arial" charset="0"/>
                        <a:ea typeface="Arial" charset="0"/>
                        <a:cs typeface="Arial" charset="0"/>
                      </a:endParaRPr>
                    </a:p>
                    <a:p>
                      <a:pPr indent="0" marL="0">
                        <a:buNone/>
                      </a:pPr>
                      <a:r>
                        <a:rPr lang="en-US" sz="1200" dirty="0">
                          <a:solidFill>
                            <a:srgbClr val="102A43"/>
                          </a:solidFill>
                          <a:latin typeface="Arial" pitchFamily="34" charset="0"/>
                          <a:ea typeface="Arial" pitchFamily="34" charset="-122"/>
                          <a:cs typeface="Arial" pitchFamily="34" charset="-120"/>
                        </a:rPr>
                        <a:t>2027-04-20</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200" dirty="0">
                          <a:solidFill>
                            <a:srgbClr val="102A43"/>
                          </a:solidFill>
                          <a:latin typeface="Arial" pitchFamily="34" charset="0"/>
                          <a:ea typeface="Arial" pitchFamily="34" charset="-122"/>
                          <a:cs typeface="Arial" pitchFamily="34" charset="-120"/>
                        </a:rPr>
                        <a:t>Agree a consistent approach for capacity and licensing, assign ownership, and review adoption at the next quarterly assessment.</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9FB"/>
        </a:solidFill>
      </p:bgPr>
    </p:bg>
    <p:spTree>
      <p:nvGrpSpPr>
        <p:cNvPr id="1" name=""/>
        <p:cNvGrpSpPr/>
        <p:nvPr/>
      </p:nvGrpSpPr>
      <p:grpSpPr>
        <a:xfrm>
          <a:off x="0" y="0"/>
          <a:ext cx="0" cy="0"/>
          <a:chOff x="0" y="0"/>
          <a:chExt cx="0" cy="0"/>
        </a:xfrm>
      </p:grpSpPr>
      <p:sp>
        <p:nvSpPr>
          <p:cNvPr id="2" name="Text 0"/>
          <p:cNvSpPr/>
          <p:nvPr/>
        </p:nvSpPr>
        <p:spPr>
          <a:xfrm>
            <a:off x="548640" y="292608"/>
            <a:ext cx="11094415" cy="228600"/>
          </a:xfrm>
          <a:prstGeom prst="rect">
            <a:avLst/>
          </a:prstGeom>
          <a:noFill/>
          <a:ln/>
        </p:spPr>
        <p:txBody>
          <a:bodyPr wrap="square" lIns="0" tIns="0" rIns="0" bIns="0" rtlCol="0" anchor="ctr"/>
          <a:lstStyle/>
          <a:p>
            <a:pPr indent="0" marL="0">
              <a:buNone/>
            </a:pPr>
            <a:r>
              <a:rPr lang="en-US" sz="1000" b="1" dirty="0">
                <a:solidFill>
                  <a:srgbClr val="B44D2E"/>
                </a:solidFill>
                <a:latin typeface="Arial" pitchFamily="34" charset="0"/>
                <a:ea typeface="Arial" pitchFamily="34" charset="-122"/>
                <a:cs typeface="Arial" pitchFamily="34" charset="-120"/>
              </a:rPr>
              <a:t>MIGHTORA MATURITY ASSESSMENT</a:t>
            </a:r>
            <a:endParaRPr lang="en-US" sz="1000" dirty="0"/>
          </a:p>
        </p:txBody>
      </p:sp>
      <p:sp>
        <p:nvSpPr>
          <p:cNvPr id="3" name="Text 1"/>
          <p:cNvSpPr/>
          <p:nvPr/>
        </p:nvSpPr>
        <p:spPr>
          <a:xfrm>
            <a:off x="548640" y="777240"/>
            <a:ext cx="11094415" cy="685800"/>
          </a:xfrm>
          <a:prstGeom prst="rect">
            <a:avLst/>
          </a:prstGeom>
          <a:noFill/>
          <a:ln/>
        </p:spPr>
        <p:txBody>
          <a:bodyPr wrap="square" lIns="0" tIns="0" rIns="0" bIns="0" rtlCol="0" anchor="ctr">
            <a:normAutofit/>
          </a:bodyPr>
          <a:lstStyle/>
          <a:p>
            <a:pPr indent="0" marL="0">
              <a:buNone/>
            </a:pPr>
            <a:r>
              <a:rPr lang="en-US" sz="2700" b="1" dirty="0">
                <a:solidFill>
                  <a:srgbClr val="102A43"/>
                </a:solidFill>
                <a:latin typeface="Arial" pitchFamily="34" charset="0"/>
                <a:ea typeface="Arial" pitchFamily="34" charset="-122"/>
                <a:cs typeface="Arial" pitchFamily="34" charset="-120"/>
              </a:rPr>
              <a:t>Prioritised improvements continued</a:t>
            </a:r>
            <a:endParaRPr lang="en-US" sz="2700" dirty="0"/>
          </a:p>
        </p:txBody>
      </p:sp>
      <p:sp>
        <p:nvSpPr>
          <p:cNvPr id="4" name="Text 2"/>
          <p:cNvSpPr/>
          <p:nvPr/>
        </p:nvSpPr>
        <p:spPr>
          <a:xfrm>
            <a:off x="548640" y="6492240"/>
            <a:ext cx="11094415" cy="182880"/>
          </a:xfrm>
          <a:prstGeom prst="rect">
            <a:avLst/>
          </a:prstGeom>
          <a:noFill/>
          <a:ln/>
        </p:spPr>
        <p:txBody>
          <a:bodyPr wrap="square" lIns="0" tIns="0" rIns="0" bIns="0" rtlCol="0" anchor="ctr"/>
          <a:lstStyle/>
          <a:p>
            <a:pPr indent="0" marL="0">
              <a:buNone/>
            </a:pPr>
            <a:r>
              <a:rPr lang="en-US" sz="900" dirty="0">
                <a:solidFill>
                  <a:srgbClr val="486581"/>
                </a:solidFill>
                <a:latin typeface="Arial" pitchFamily="34" charset="0"/>
                <a:ea typeface="Arial" pitchFamily="34" charset="-122"/>
                <a:cs typeface="Arial" pitchFamily="34" charset="-120"/>
              </a:rPr>
              <a:t>2026-10-20    1.0    15</a:t>
            </a:r>
            <a:endParaRPr lang="en-US" sz="9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4415" cy="914400"/>
        </p:xfrm>
        <a:graphic>
          <a:graphicData uri="http://schemas.openxmlformats.org/drawingml/2006/table">
            <a:tbl>
              <a:tblPr/>
              <a:tblGrid>
                <a:gridCol w="2551715"/>
                <a:gridCol w="1553218"/>
                <a:gridCol w="2551715"/>
                <a:gridCol w="4437766"/>
              </a:tblGrid>
              <a:tr h="502920">
                <a:tc>
                  <a:txBody>
                    <a:bodyPr/>
                    <a:lstStyle/>
                    <a:p>
                      <a:pPr indent="0" marL="0">
                        <a:buNone/>
                      </a:pPr>
                      <a:r>
                        <a:rPr lang="en-US" sz="1200" b="1" dirty="0">
                          <a:solidFill>
                            <a:srgbClr val="FFFFFF"/>
                          </a:solidFill>
                          <a:latin typeface="Arial" pitchFamily="34" charset="0"/>
                          <a:ea typeface="Arial" pitchFamily="34" charset="-122"/>
                          <a:cs typeface="Arial" pitchFamily="34" charset="-120"/>
                        </a:rPr>
                        <a:t>Capability</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102A43"/>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Priority / weight</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102A43"/>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Owner / target date</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102A43"/>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Recommendation</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102A43"/>
                    </a:solidFill>
                  </a:tcPr>
                </a:tc>
              </a:tr>
              <a:tr h="502920">
                <a:tc>
                  <a:txBody>
                    <a:bodyPr/>
                    <a:lstStyle/>
                    <a:p>
                      <a:pPr indent="0" marL="0">
                        <a:buNone/>
                      </a:pPr>
                      <a:r>
                        <a:rPr lang="en-US" sz="1200" dirty="0">
                          <a:solidFill>
                            <a:srgbClr val="102A43"/>
                          </a:solidFill>
                          <a:latin typeface="Arial" pitchFamily="34" charset="0"/>
                          <a:ea typeface="Arial" pitchFamily="34" charset="-122"/>
                          <a:cs typeface="Arial" pitchFamily="34" charset="-120"/>
                        </a:rPr>
                        <a:t>Deployment automation</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200" dirty="0">
                          <a:solidFill>
                            <a:srgbClr val="102A43"/>
                          </a:solidFill>
                          <a:latin typeface="Arial" pitchFamily="34" charset="0"/>
                          <a:ea typeface="Arial" pitchFamily="34" charset="-122"/>
                          <a:cs typeface="Arial" pitchFamily="34" charset="-120"/>
                        </a:rPr>
                        <a:t>Medium / 1</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200" dirty="0">
                          <a:solidFill>
                            <a:srgbClr val="102A43"/>
                          </a:solidFill>
                          <a:latin typeface="Arial" pitchFamily="34" charset="0"/>
                          <a:ea typeface="Arial" pitchFamily="34" charset="-122"/>
                          <a:cs typeface="Arial" pitchFamily="34" charset="-120"/>
                        </a:rPr>
                        <a:t>Engineering lead</a:t>
                      </a:r>
                      <a:endParaRPr lang="en-US" sz="1200" dirty="0">
                        <a:latin typeface="Arial" charset="0"/>
                        <a:ea typeface="Arial" charset="0"/>
                        <a:cs typeface="Arial" charset="0"/>
                      </a:endParaRPr>
                    </a:p>
                    <a:p>
                      <a:pPr indent="0" marL="0">
                        <a:buNone/>
                      </a:pPr>
                      <a:r>
                        <a:rPr lang="en-US" sz="1200" dirty="0">
                          <a:solidFill>
                            <a:srgbClr val="102A43"/>
                          </a:solidFill>
                          <a:latin typeface="Arial" pitchFamily="34" charset="0"/>
                          <a:ea typeface="Arial" pitchFamily="34" charset="-122"/>
                          <a:cs typeface="Arial" pitchFamily="34" charset="-120"/>
                        </a:rPr>
                        <a:t>2027-03-20</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200" dirty="0">
                          <a:solidFill>
                            <a:srgbClr val="102A43"/>
                          </a:solidFill>
                          <a:latin typeface="Arial" pitchFamily="34" charset="0"/>
                          <a:ea typeface="Arial" pitchFamily="34" charset="-122"/>
                          <a:cs typeface="Arial" pitchFamily="34" charset="-120"/>
                        </a:rPr>
                        <a:t>Agree a consistent approach for deployment automation, assign ownership, and review adoption at the next quarterly assessment.</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r>
              <a:tr h="502920">
                <a:tc>
                  <a:txBody>
                    <a:bodyPr/>
                    <a:lstStyle/>
                    <a:p>
                      <a:pPr indent="0" marL="0">
                        <a:buNone/>
                      </a:pPr>
                      <a:r>
                        <a:rPr lang="en-US" sz="1200" dirty="0">
                          <a:solidFill>
                            <a:srgbClr val="102A43"/>
                          </a:solidFill>
                          <a:latin typeface="Arial" pitchFamily="34" charset="0"/>
                          <a:ea typeface="Arial" pitchFamily="34" charset="-122"/>
                          <a:cs typeface="Arial" pitchFamily="34" charset="-120"/>
                        </a:rPr>
                        <a:t>Recovery and continuity</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200" dirty="0">
                          <a:solidFill>
                            <a:srgbClr val="102A43"/>
                          </a:solidFill>
                          <a:latin typeface="Arial" pitchFamily="34" charset="0"/>
                          <a:ea typeface="Arial" pitchFamily="34" charset="-122"/>
                          <a:cs typeface="Arial" pitchFamily="34" charset="-120"/>
                        </a:rPr>
                        <a:t>Medium / 1</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200" dirty="0">
                          <a:solidFill>
                            <a:srgbClr val="102A43"/>
                          </a:solidFill>
                          <a:latin typeface="Arial" pitchFamily="34" charset="0"/>
                          <a:ea typeface="Arial" pitchFamily="34" charset="-122"/>
                          <a:cs typeface="Arial" pitchFamily="34" charset="-120"/>
                        </a:rPr>
                        <a:t>Service owner</a:t>
                      </a:r>
                      <a:endParaRPr lang="en-US" sz="1200" dirty="0">
                        <a:latin typeface="Arial" charset="0"/>
                        <a:ea typeface="Arial" charset="0"/>
                        <a:cs typeface="Arial" charset="0"/>
                      </a:endParaRPr>
                    </a:p>
                    <a:p>
                      <a:pPr indent="0" marL="0">
                        <a:buNone/>
                      </a:pPr>
                      <a:r>
                        <a:rPr lang="en-US" sz="1200" dirty="0">
                          <a:solidFill>
                            <a:srgbClr val="102A43"/>
                          </a:solidFill>
                          <a:latin typeface="Arial" pitchFamily="34" charset="0"/>
                          <a:ea typeface="Arial" pitchFamily="34" charset="-122"/>
                          <a:cs typeface="Arial" pitchFamily="34" charset="-120"/>
                        </a:rPr>
                        <a:t>2027-04-20</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200" dirty="0">
                          <a:solidFill>
                            <a:srgbClr val="102A43"/>
                          </a:solidFill>
                          <a:latin typeface="Arial" pitchFamily="34" charset="0"/>
                          <a:ea typeface="Arial" pitchFamily="34" charset="-122"/>
                          <a:cs typeface="Arial" pitchFamily="34" charset="-120"/>
                        </a:rPr>
                        <a:t>Agree a consistent approach for recovery and continuity, assign ownership, and review adoption at the next quarterly assessment.</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r>
              <a:tr h="502920">
                <a:tc>
                  <a:txBody>
                    <a:bodyPr/>
                    <a:lstStyle/>
                    <a:p>
                      <a:pPr indent="0" marL="0">
                        <a:buNone/>
                      </a:pPr>
                      <a:r>
                        <a:rPr lang="en-US" sz="1200" dirty="0">
                          <a:solidFill>
                            <a:srgbClr val="102A43"/>
                          </a:solidFill>
                          <a:latin typeface="Arial" pitchFamily="34" charset="0"/>
                          <a:ea typeface="Arial" pitchFamily="34" charset="-122"/>
                          <a:cs typeface="Arial" pitchFamily="34" charset="-120"/>
                        </a:rPr>
                        <a:t>Citizen developer enablement</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200" dirty="0">
                          <a:solidFill>
                            <a:srgbClr val="102A43"/>
                          </a:solidFill>
                          <a:latin typeface="Arial" pitchFamily="34" charset="0"/>
                          <a:ea typeface="Arial" pitchFamily="34" charset="-122"/>
                          <a:cs typeface="Arial" pitchFamily="34" charset="-120"/>
                        </a:rPr>
                        <a:t>Medium / 1</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200" dirty="0">
                          <a:solidFill>
                            <a:srgbClr val="102A43"/>
                          </a:solidFill>
                          <a:latin typeface="Arial" pitchFamily="34" charset="0"/>
                          <a:ea typeface="Arial" pitchFamily="34" charset="-122"/>
                          <a:cs typeface="Arial" pitchFamily="34" charset="-120"/>
                        </a:rPr>
                        <a:t>Platform lead</a:t>
                      </a:r>
                      <a:endParaRPr lang="en-US" sz="1200" dirty="0">
                        <a:latin typeface="Arial" charset="0"/>
                        <a:ea typeface="Arial" charset="0"/>
                        <a:cs typeface="Arial" charset="0"/>
                      </a:endParaRPr>
                    </a:p>
                    <a:p>
                      <a:pPr indent="0" marL="0">
                        <a:buNone/>
                      </a:pPr>
                      <a:r>
                        <a:rPr lang="en-US" sz="1200" dirty="0">
                          <a:solidFill>
                            <a:srgbClr val="102A43"/>
                          </a:solidFill>
                          <a:latin typeface="Arial" pitchFamily="34" charset="0"/>
                          <a:ea typeface="Arial" pitchFamily="34" charset="-122"/>
                          <a:cs typeface="Arial" pitchFamily="34" charset="-120"/>
                        </a:rPr>
                        <a:t>2027-01-20</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200" dirty="0">
                          <a:solidFill>
                            <a:srgbClr val="102A43"/>
                          </a:solidFill>
                          <a:latin typeface="Arial" pitchFamily="34" charset="0"/>
                          <a:ea typeface="Arial" pitchFamily="34" charset="-122"/>
                          <a:cs typeface="Arial" pitchFamily="34" charset="-120"/>
                        </a:rPr>
                        <a:t>Agree a consistent approach for citizen developer enablement, assign ownership, and review adoption at the next quarterly assessment.</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r>
              <a:tr h="502920">
                <a:tc>
                  <a:txBody>
                    <a:bodyPr/>
                    <a:lstStyle/>
                    <a:p>
                      <a:pPr indent="0" marL="0">
                        <a:buNone/>
                      </a:pPr>
                      <a:r>
                        <a:rPr lang="en-US" sz="1200" dirty="0">
                          <a:solidFill>
                            <a:srgbClr val="102A43"/>
                          </a:solidFill>
                          <a:latin typeface="Arial" pitchFamily="34" charset="0"/>
                          <a:ea typeface="Arial" pitchFamily="34" charset="-122"/>
                          <a:cs typeface="Arial" pitchFamily="34" charset="-120"/>
                        </a:rPr>
                        <a:t>Security and identity</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200" dirty="0">
                          <a:solidFill>
                            <a:srgbClr val="102A43"/>
                          </a:solidFill>
                          <a:latin typeface="Arial" pitchFamily="34" charset="0"/>
                          <a:ea typeface="Arial" pitchFamily="34" charset="-122"/>
                          <a:cs typeface="Arial" pitchFamily="34" charset="-120"/>
                        </a:rPr>
                        <a:t>Medium / 1</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200" dirty="0">
                          <a:solidFill>
                            <a:srgbClr val="102A43"/>
                          </a:solidFill>
                          <a:latin typeface="Arial" pitchFamily="34" charset="0"/>
                          <a:ea typeface="Arial" pitchFamily="34" charset="-122"/>
                          <a:cs typeface="Arial" pitchFamily="34" charset="-120"/>
                        </a:rPr>
                        <a:t>Solution architect</a:t>
                      </a:r>
                      <a:endParaRPr lang="en-US" sz="1200" dirty="0">
                        <a:latin typeface="Arial" charset="0"/>
                        <a:ea typeface="Arial" charset="0"/>
                        <a:cs typeface="Arial" charset="0"/>
                      </a:endParaRPr>
                    </a:p>
                    <a:p>
                      <a:pPr indent="0" marL="0">
                        <a:buNone/>
                      </a:pPr>
                      <a:r>
                        <a:rPr lang="en-US" sz="1200" dirty="0">
                          <a:solidFill>
                            <a:srgbClr val="102A43"/>
                          </a:solidFill>
                          <a:latin typeface="Arial" pitchFamily="34" charset="0"/>
                          <a:ea typeface="Arial" pitchFamily="34" charset="-122"/>
                          <a:cs typeface="Arial" pitchFamily="34" charset="-120"/>
                        </a:rPr>
                        <a:t>2027-02-20</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200" dirty="0">
                          <a:solidFill>
                            <a:srgbClr val="102A43"/>
                          </a:solidFill>
                          <a:latin typeface="Arial" pitchFamily="34" charset="0"/>
                          <a:ea typeface="Arial" pitchFamily="34" charset="-122"/>
                          <a:cs typeface="Arial" pitchFamily="34" charset="-120"/>
                        </a:rPr>
                        <a:t>Agree a consistent approach for security and identity, assign ownership, and review adoption at the next quarterly assessment.</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9FB"/>
        </a:solidFill>
      </p:bgPr>
    </p:bg>
    <p:spTree>
      <p:nvGrpSpPr>
        <p:cNvPr id="1" name=""/>
        <p:cNvGrpSpPr/>
        <p:nvPr/>
      </p:nvGrpSpPr>
      <p:grpSpPr>
        <a:xfrm>
          <a:off x="0" y="0"/>
          <a:ext cx="0" cy="0"/>
          <a:chOff x="0" y="0"/>
          <a:chExt cx="0" cy="0"/>
        </a:xfrm>
      </p:grpSpPr>
      <p:sp>
        <p:nvSpPr>
          <p:cNvPr id="2" name="Text 0"/>
          <p:cNvSpPr/>
          <p:nvPr/>
        </p:nvSpPr>
        <p:spPr>
          <a:xfrm>
            <a:off x="548640" y="292608"/>
            <a:ext cx="11094415" cy="228600"/>
          </a:xfrm>
          <a:prstGeom prst="rect">
            <a:avLst/>
          </a:prstGeom>
          <a:noFill/>
          <a:ln/>
        </p:spPr>
        <p:txBody>
          <a:bodyPr wrap="square" lIns="0" tIns="0" rIns="0" bIns="0" rtlCol="0" anchor="ctr"/>
          <a:lstStyle/>
          <a:p>
            <a:pPr indent="0" marL="0">
              <a:buNone/>
            </a:pPr>
            <a:r>
              <a:rPr lang="en-US" sz="1000" b="1" dirty="0">
                <a:solidFill>
                  <a:srgbClr val="B44D2E"/>
                </a:solidFill>
                <a:latin typeface="Arial" pitchFamily="34" charset="0"/>
                <a:ea typeface="Arial" pitchFamily="34" charset="-122"/>
                <a:cs typeface="Arial" pitchFamily="34" charset="-120"/>
              </a:rPr>
              <a:t>MIGHTORA MATURITY ASSESSMENT</a:t>
            </a:r>
            <a:endParaRPr lang="en-US" sz="1000" dirty="0"/>
          </a:p>
        </p:txBody>
      </p:sp>
      <p:sp>
        <p:nvSpPr>
          <p:cNvPr id="3" name="Text 1"/>
          <p:cNvSpPr/>
          <p:nvPr/>
        </p:nvSpPr>
        <p:spPr>
          <a:xfrm>
            <a:off x="548640" y="777240"/>
            <a:ext cx="11094415" cy="685800"/>
          </a:xfrm>
          <a:prstGeom prst="rect">
            <a:avLst/>
          </a:prstGeom>
          <a:noFill/>
          <a:ln/>
        </p:spPr>
        <p:txBody>
          <a:bodyPr wrap="square" lIns="0" tIns="0" rIns="0" bIns="0" rtlCol="0" anchor="ctr">
            <a:normAutofit/>
          </a:bodyPr>
          <a:lstStyle/>
          <a:p>
            <a:pPr indent="0" marL="0">
              <a:buNone/>
            </a:pPr>
            <a:r>
              <a:rPr lang="en-US" sz="2700" b="1" dirty="0">
                <a:solidFill>
                  <a:srgbClr val="102A43"/>
                </a:solidFill>
                <a:latin typeface="Arial" pitchFamily="34" charset="0"/>
                <a:ea typeface="Arial" pitchFamily="34" charset="-122"/>
                <a:cs typeface="Arial" pitchFamily="34" charset="-120"/>
              </a:rPr>
              <a:t>Historical comparison</a:t>
            </a:r>
            <a:endParaRPr lang="en-US" sz="2700" dirty="0"/>
          </a:p>
        </p:txBody>
      </p:sp>
      <p:sp>
        <p:nvSpPr>
          <p:cNvPr id="4" name="Text 2"/>
          <p:cNvSpPr/>
          <p:nvPr/>
        </p:nvSpPr>
        <p:spPr>
          <a:xfrm>
            <a:off x="548640" y="6492240"/>
            <a:ext cx="11094415" cy="182880"/>
          </a:xfrm>
          <a:prstGeom prst="rect">
            <a:avLst/>
          </a:prstGeom>
          <a:noFill/>
          <a:ln/>
        </p:spPr>
        <p:txBody>
          <a:bodyPr wrap="square" lIns="0" tIns="0" rIns="0" bIns="0" rtlCol="0" anchor="ctr"/>
          <a:lstStyle/>
          <a:p>
            <a:pPr indent="0" marL="0">
              <a:buNone/>
            </a:pPr>
            <a:r>
              <a:rPr lang="en-US" sz="900" dirty="0">
                <a:solidFill>
                  <a:srgbClr val="486581"/>
                </a:solidFill>
                <a:latin typeface="Arial" pitchFamily="34" charset="0"/>
                <a:ea typeface="Arial" pitchFamily="34" charset="-122"/>
                <a:cs typeface="Arial" pitchFamily="34" charset="-120"/>
              </a:rPr>
              <a:t>2026-10-20    1.0    16</a:t>
            </a:r>
            <a:endParaRPr lang="en-US" sz="9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4415" cy="914400"/>
        </p:xfrm>
        <a:graphic>
          <a:graphicData uri="http://schemas.openxmlformats.org/drawingml/2006/table">
            <a:tbl>
              <a:tblPr/>
              <a:tblGrid>
                <a:gridCol w="3550213"/>
                <a:gridCol w="2218883"/>
                <a:gridCol w="3328325"/>
                <a:gridCol w="1996995"/>
              </a:tblGrid>
              <a:tr h="502920">
                <a:tc>
                  <a:txBody>
                    <a:bodyPr/>
                    <a:lstStyle/>
                    <a:p>
                      <a:pPr indent="0" marL="0">
                        <a:buNone/>
                      </a:pPr>
                      <a:r>
                        <a:rPr lang="en-US" sz="1200" b="1" dirty="0">
                          <a:solidFill>
                            <a:srgbClr val="FFFFFF"/>
                          </a:solidFill>
                          <a:latin typeface="Arial" pitchFamily="34" charset="0"/>
                          <a:ea typeface="Arial" pitchFamily="34" charset="-122"/>
                          <a:cs typeface="Arial" pitchFamily="34" charset="-120"/>
                        </a:rPr>
                        <a:t>Snapshot</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102A43"/>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Date</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102A43"/>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Current / original max</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102A43"/>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Assessed</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102A43"/>
                    </a:solidFill>
                  </a:tcPr>
                </a:tc>
              </a:tr>
              <a:tr h="502920">
                <a:tc>
                  <a:txBody>
                    <a:bodyPr/>
                    <a:lstStyle/>
                    <a:p>
                      <a:pPr indent="0" marL="0">
                        <a:buNone/>
                      </a:pPr>
                      <a:r>
                        <a:rPr lang="en-US" sz="1200" dirty="0">
                          <a:solidFill>
                            <a:srgbClr val="102A43"/>
                          </a:solidFill>
                          <a:latin typeface="Arial" pitchFamily="34" charset="0"/>
                          <a:ea typeface="Arial" pitchFamily="34" charset="-122"/>
                          <a:cs typeface="Arial" pitchFamily="34" charset="-120"/>
                        </a:rPr>
                        <a:t>April baseline</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200" dirty="0">
                          <a:solidFill>
                            <a:srgbClr val="102A43"/>
                          </a:solidFill>
                          <a:latin typeface="Arial" pitchFamily="34" charset="0"/>
                          <a:ea typeface="Arial" pitchFamily="34" charset="-122"/>
                          <a:cs typeface="Arial" pitchFamily="34" charset="-120"/>
                        </a:rPr>
                        <a:t>2026-04-20</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200" dirty="0">
                          <a:solidFill>
                            <a:srgbClr val="102A43"/>
                          </a:solidFill>
                          <a:latin typeface="Arial" pitchFamily="34" charset="0"/>
                          <a:ea typeface="Arial" pitchFamily="34" charset="-122"/>
                          <a:cs typeface="Arial" pitchFamily="34" charset="-120"/>
                        </a:rPr>
                        <a:t>1.58 / 5</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200" dirty="0">
                          <a:solidFill>
                            <a:srgbClr val="102A43"/>
                          </a:solidFill>
                          <a:latin typeface="Arial" pitchFamily="34" charset="0"/>
                          <a:ea typeface="Arial" pitchFamily="34" charset="-122"/>
                          <a:cs typeface="Arial" pitchFamily="34" charset="-120"/>
                        </a:rPr>
                        <a:t>12</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r>
              <a:tr h="502920">
                <a:tc>
                  <a:txBody>
                    <a:bodyPr/>
                    <a:lstStyle/>
                    <a:p>
                      <a:pPr indent="0" marL="0">
                        <a:buNone/>
                      </a:pPr>
                      <a:r>
                        <a:rPr lang="en-US" sz="1200" dirty="0">
                          <a:solidFill>
                            <a:srgbClr val="102A43"/>
                          </a:solidFill>
                          <a:latin typeface="Arial" pitchFamily="34" charset="0"/>
                          <a:ea typeface="Arial" pitchFamily="34" charset="-122"/>
                          <a:cs typeface="Arial" pitchFamily="34" charset="-120"/>
                        </a:rPr>
                        <a:t>July review</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200" dirty="0">
                          <a:solidFill>
                            <a:srgbClr val="102A43"/>
                          </a:solidFill>
                          <a:latin typeface="Arial" pitchFamily="34" charset="0"/>
                          <a:ea typeface="Arial" pitchFamily="34" charset="-122"/>
                          <a:cs typeface="Arial" pitchFamily="34" charset="-120"/>
                        </a:rPr>
                        <a:t>2026-07-20</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200" dirty="0">
                          <a:solidFill>
                            <a:srgbClr val="102A43"/>
                          </a:solidFill>
                          <a:latin typeface="Arial" pitchFamily="34" charset="0"/>
                          <a:ea typeface="Arial" pitchFamily="34" charset="-122"/>
                          <a:cs typeface="Arial" pitchFamily="34" charset="-120"/>
                        </a:rPr>
                        <a:t>2.58 / 5</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200" dirty="0">
                          <a:solidFill>
                            <a:srgbClr val="102A43"/>
                          </a:solidFill>
                          <a:latin typeface="Arial" pitchFamily="34" charset="0"/>
                          <a:ea typeface="Arial" pitchFamily="34" charset="-122"/>
                          <a:cs typeface="Arial" pitchFamily="34" charset="-120"/>
                        </a:rPr>
                        <a:t>12</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r>
              <a:tr h="502920">
                <a:tc>
                  <a:txBody>
                    <a:bodyPr/>
                    <a:lstStyle/>
                    <a:p>
                      <a:pPr indent="0" marL="0">
                        <a:buNone/>
                      </a:pPr>
                      <a:r>
                        <a:rPr lang="en-US" sz="1200" dirty="0">
                          <a:solidFill>
                            <a:srgbClr val="102A43"/>
                          </a:solidFill>
                          <a:latin typeface="Arial" pitchFamily="34" charset="0"/>
                          <a:ea typeface="Arial" pitchFamily="34" charset="-122"/>
                          <a:cs typeface="Arial" pitchFamily="34" charset="-120"/>
                        </a:rPr>
                        <a:t>Current assessment</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200" dirty="0">
                          <a:solidFill>
                            <a:srgbClr val="102A43"/>
                          </a:solidFill>
                          <a:latin typeface="Arial" pitchFamily="34" charset="0"/>
                          <a:ea typeface="Arial" pitchFamily="34" charset="-122"/>
                          <a:cs typeface="Arial" pitchFamily="34" charset="-120"/>
                        </a:rPr>
                        <a:t>2026-10-20</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200" dirty="0">
                          <a:solidFill>
                            <a:srgbClr val="102A43"/>
                          </a:solidFill>
                          <a:latin typeface="Arial" pitchFamily="34" charset="0"/>
                          <a:ea typeface="Arial" pitchFamily="34" charset="-122"/>
                          <a:cs typeface="Arial" pitchFamily="34" charset="-120"/>
                        </a:rPr>
                        <a:t>2.58 / 5</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200" dirty="0">
                          <a:solidFill>
                            <a:srgbClr val="102A43"/>
                          </a:solidFill>
                          <a:latin typeface="Arial" pitchFamily="34" charset="0"/>
                          <a:ea typeface="Arial" pitchFamily="34" charset="-122"/>
                          <a:cs typeface="Arial" pitchFamily="34" charset="-120"/>
                        </a:rPr>
                        <a:t>12</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9FB"/>
        </a:solidFill>
      </p:bgPr>
    </p:bg>
    <p:spTree>
      <p:nvGrpSpPr>
        <p:cNvPr id="1" name=""/>
        <p:cNvGrpSpPr/>
        <p:nvPr/>
      </p:nvGrpSpPr>
      <p:grpSpPr>
        <a:xfrm>
          <a:off x="0" y="0"/>
          <a:ext cx="0" cy="0"/>
          <a:chOff x="0" y="0"/>
          <a:chExt cx="0" cy="0"/>
        </a:xfrm>
      </p:grpSpPr>
      <p:sp>
        <p:nvSpPr>
          <p:cNvPr id="2" name="Text 0"/>
          <p:cNvSpPr/>
          <p:nvPr/>
        </p:nvSpPr>
        <p:spPr>
          <a:xfrm>
            <a:off x="548640" y="292608"/>
            <a:ext cx="11094415" cy="228600"/>
          </a:xfrm>
          <a:prstGeom prst="rect">
            <a:avLst/>
          </a:prstGeom>
          <a:noFill/>
          <a:ln/>
        </p:spPr>
        <p:txBody>
          <a:bodyPr wrap="square" lIns="0" tIns="0" rIns="0" bIns="0" rtlCol="0" anchor="ctr"/>
          <a:lstStyle/>
          <a:p>
            <a:pPr indent="0" marL="0">
              <a:buNone/>
            </a:pPr>
            <a:r>
              <a:rPr lang="en-US" sz="1000" b="1" dirty="0">
                <a:solidFill>
                  <a:srgbClr val="B44D2E"/>
                </a:solidFill>
                <a:latin typeface="Arial" pitchFamily="34" charset="0"/>
                <a:ea typeface="Arial" pitchFamily="34" charset="-122"/>
                <a:cs typeface="Arial" pitchFamily="34" charset="-120"/>
              </a:rPr>
              <a:t>CAPABILITY DETAILS</a:t>
            </a:r>
            <a:endParaRPr lang="en-US" sz="1000" dirty="0"/>
          </a:p>
        </p:txBody>
      </p:sp>
      <p:sp>
        <p:nvSpPr>
          <p:cNvPr id="3" name="Text 1"/>
          <p:cNvSpPr/>
          <p:nvPr/>
        </p:nvSpPr>
        <p:spPr>
          <a:xfrm>
            <a:off x="548640" y="777240"/>
            <a:ext cx="11094415" cy="685800"/>
          </a:xfrm>
          <a:prstGeom prst="rect">
            <a:avLst/>
          </a:prstGeom>
          <a:noFill/>
          <a:ln/>
        </p:spPr>
        <p:txBody>
          <a:bodyPr wrap="square" lIns="0" tIns="0" rIns="0" bIns="0" rtlCol="0" anchor="ctr">
            <a:normAutofit/>
          </a:bodyPr>
          <a:lstStyle/>
          <a:p>
            <a:pPr indent="0" marL="0">
              <a:buNone/>
            </a:pPr>
            <a:r>
              <a:rPr lang="en-US" sz="2700" b="1" dirty="0">
                <a:solidFill>
                  <a:srgbClr val="102A43"/>
                </a:solidFill>
                <a:latin typeface="Arial" pitchFamily="34" charset="0"/>
                <a:ea typeface="Arial" pitchFamily="34" charset="-122"/>
                <a:cs typeface="Arial" pitchFamily="34" charset="-120"/>
              </a:rPr>
              <a:t>Governance and environment strategy</a:t>
            </a:r>
            <a:endParaRPr lang="en-US" sz="2700" dirty="0"/>
          </a:p>
        </p:txBody>
      </p:sp>
      <p:sp>
        <p:nvSpPr>
          <p:cNvPr id="4" name="Text 2"/>
          <p:cNvSpPr/>
          <p:nvPr/>
        </p:nvSpPr>
        <p:spPr>
          <a:xfrm>
            <a:off x="548640" y="6492240"/>
            <a:ext cx="11094415" cy="182880"/>
          </a:xfrm>
          <a:prstGeom prst="rect">
            <a:avLst/>
          </a:prstGeom>
          <a:noFill/>
          <a:ln/>
        </p:spPr>
        <p:txBody>
          <a:bodyPr wrap="square" lIns="0" tIns="0" rIns="0" bIns="0" rtlCol="0" anchor="ctr"/>
          <a:lstStyle/>
          <a:p>
            <a:pPr indent="0" marL="0">
              <a:buNone/>
            </a:pPr>
            <a:r>
              <a:rPr lang="en-US" sz="900" dirty="0">
                <a:solidFill>
                  <a:srgbClr val="486581"/>
                </a:solidFill>
                <a:latin typeface="Arial" pitchFamily="34" charset="0"/>
                <a:ea typeface="Arial" pitchFamily="34" charset="-122"/>
                <a:cs typeface="Arial" pitchFamily="34" charset="-120"/>
              </a:rPr>
              <a:t>2026-10-20    1.0    17</a:t>
            </a:r>
            <a:endParaRPr lang="en-US" sz="900" dirty="0"/>
          </a:p>
        </p:txBody>
      </p:sp>
      <p:sp>
        <p:nvSpPr>
          <p:cNvPr id="5" name="Text 3"/>
          <p:cNvSpPr/>
          <p:nvPr/>
        </p:nvSpPr>
        <p:spPr>
          <a:xfrm>
            <a:off x="640080" y="1691640"/>
            <a:ext cx="10911535" cy="4526280"/>
          </a:xfrm>
          <a:prstGeom prst="rect">
            <a:avLst/>
          </a:prstGeom>
          <a:noFill/>
          <a:ln/>
        </p:spPr>
        <p:txBody>
          <a:bodyPr wrap="square" lIns="0" tIns="0" rIns="0" bIns="0" rtlCol="0" anchor="t">
            <a:normAutofit/>
          </a:bodyPr>
          <a:lstStyle/>
          <a:p>
            <a:pPr indent="0" marL="0">
              <a:buNone/>
            </a:pPr>
            <a:r>
              <a:rPr lang="en-US" sz="1700" dirty="0">
                <a:solidFill>
                  <a:srgbClr val="102A43"/>
                </a:solidFill>
                <a:latin typeface="Arial" pitchFamily="34" charset="0"/>
                <a:ea typeface="Arial" pitchFamily="34" charset="-122"/>
                <a:cs typeface="Arial" pitchFamily="34" charset="-120"/>
              </a:rPr>
              <a:t>Governance and enablement / Core practices</a:t>
            </a:r>
            <a:endParaRPr lang="en-US" sz="1700" dirty="0"/>
          </a:p>
          <a:p>
            <a:pPr indent="0" marL="0">
              <a:buNone/>
            </a:pP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Separate workloads by purpose, sensitivity and lifecycle with clear ownership.</a:t>
            </a:r>
            <a:endParaRPr lang="en-US" sz="1700" dirty="0"/>
          </a:p>
          <a:p>
            <a:pPr indent="0" marL="0">
              <a:buNone/>
            </a:pP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Current: 2 · Developing</a:t>
            </a: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Target: 5 · Optimised</a:t>
            </a: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Gap: 3    Priority: High    Weight: 2</a:t>
            </a:r>
            <a:endParaRPr lang="en-US" sz="1700" dirty="0"/>
          </a:p>
          <a:p>
            <a:pPr indent="0" marL="0">
              <a:buNone/>
            </a:pP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Owner: Platform lead    Target date: 2027-01-20</a:t>
            </a:r>
            <a:endParaRPr lang="en-US" sz="1700" dirty="0"/>
          </a:p>
          <a:p>
            <a:pPr indent="0" marL="0">
              <a:buNone/>
            </a:pP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Evidence</a:t>
            </a: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Illustrative evidence: Review environment inventory, provisioning rules and exception decisions. A sample review in September found the practice in two of four teams, with inconsistent follow-up.</a:t>
            </a:r>
            <a:endParaRPr lang="en-US" sz="1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9FB"/>
        </a:solidFill>
      </p:bgPr>
    </p:bg>
    <p:spTree>
      <p:nvGrpSpPr>
        <p:cNvPr id="1" name=""/>
        <p:cNvGrpSpPr/>
        <p:nvPr/>
      </p:nvGrpSpPr>
      <p:grpSpPr>
        <a:xfrm>
          <a:off x="0" y="0"/>
          <a:ext cx="0" cy="0"/>
          <a:chOff x="0" y="0"/>
          <a:chExt cx="0" cy="0"/>
        </a:xfrm>
      </p:grpSpPr>
      <p:sp>
        <p:nvSpPr>
          <p:cNvPr id="2" name="Text 0"/>
          <p:cNvSpPr/>
          <p:nvPr/>
        </p:nvSpPr>
        <p:spPr>
          <a:xfrm>
            <a:off x="548640" y="292608"/>
            <a:ext cx="11094415" cy="228600"/>
          </a:xfrm>
          <a:prstGeom prst="rect">
            <a:avLst/>
          </a:prstGeom>
          <a:noFill/>
          <a:ln/>
        </p:spPr>
        <p:txBody>
          <a:bodyPr wrap="square" lIns="0" tIns="0" rIns="0" bIns="0" rtlCol="0" anchor="ctr"/>
          <a:lstStyle/>
          <a:p>
            <a:pPr indent="0" marL="0">
              <a:buNone/>
            </a:pPr>
            <a:r>
              <a:rPr lang="en-US" sz="1000" b="1" dirty="0">
                <a:solidFill>
                  <a:srgbClr val="B44D2E"/>
                </a:solidFill>
                <a:latin typeface="Arial" pitchFamily="34" charset="0"/>
                <a:ea typeface="Arial" pitchFamily="34" charset="-122"/>
                <a:cs typeface="Arial" pitchFamily="34" charset="-120"/>
              </a:rPr>
              <a:t>CAPABILITY DETAILS</a:t>
            </a:r>
            <a:endParaRPr lang="en-US" sz="1000" dirty="0"/>
          </a:p>
        </p:txBody>
      </p:sp>
      <p:sp>
        <p:nvSpPr>
          <p:cNvPr id="3" name="Text 1"/>
          <p:cNvSpPr/>
          <p:nvPr/>
        </p:nvSpPr>
        <p:spPr>
          <a:xfrm>
            <a:off x="548640" y="777240"/>
            <a:ext cx="11094415" cy="685800"/>
          </a:xfrm>
          <a:prstGeom prst="rect">
            <a:avLst/>
          </a:prstGeom>
          <a:noFill/>
          <a:ln/>
        </p:spPr>
        <p:txBody>
          <a:bodyPr wrap="square" lIns="0" tIns="0" rIns="0" bIns="0" rtlCol="0" anchor="ctr">
            <a:normAutofit/>
          </a:bodyPr>
          <a:lstStyle/>
          <a:p>
            <a:pPr indent="0" marL="0">
              <a:buNone/>
            </a:pPr>
            <a:r>
              <a:rPr lang="en-US" sz="2700" b="1" dirty="0">
                <a:solidFill>
                  <a:srgbClr val="102A43"/>
                </a:solidFill>
                <a:latin typeface="Arial" pitchFamily="34" charset="0"/>
                <a:ea typeface="Arial" pitchFamily="34" charset="-122"/>
                <a:cs typeface="Arial" pitchFamily="34" charset="-120"/>
              </a:rPr>
              <a:t>Governance and environment strategy continued</a:t>
            </a:r>
            <a:endParaRPr lang="en-US" sz="2700" dirty="0"/>
          </a:p>
        </p:txBody>
      </p:sp>
      <p:sp>
        <p:nvSpPr>
          <p:cNvPr id="4" name="Text 2"/>
          <p:cNvSpPr/>
          <p:nvPr/>
        </p:nvSpPr>
        <p:spPr>
          <a:xfrm>
            <a:off x="548640" y="6492240"/>
            <a:ext cx="11094415" cy="182880"/>
          </a:xfrm>
          <a:prstGeom prst="rect">
            <a:avLst/>
          </a:prstGeom>
          <a:noFill/>
          <a:ln/>
        </p:spPr>
        <p:txBody>
          <a:bodyPr wrap="square" lIns="0" tIns="0" rIns="0" bIns="0" rtlCol="0" anchor="ctr"/>
          <a:lstStyle/>
          <a:p>
            <a:pPr indent="0" marL="0">
              <a:buNone/>
            </a:pPr>
            <a:r>
              <a:rPr lang="en-US" sz="900" dirty="0">
                <a:solidFill>
                  <a:srgbClr val="486581"/>
                </a:solidFill>
                <a:latin typeface="Arial" pitchFamily="34" charset="0"/>
                <a:ea typeface="Arial" pitchFamily="34" charset="-122"/>
                <a:cs typeface="Arial" pitchFamily="34" charset="-120"/>
              </a:rPr>
              <a:t>2026-10-20    1.0    18</a:t>
            </a:r>
            <a:endParaRPr lang="en-US" sz="900" dirty="0"/>
          </a:p>
        </p:txBody>
      </p:sp>
      <p:sp>
        <p:nvSpPr>
          <p:cNvPr id="5" name="Text 3"/>
          <p:cNvSpPr/>
          <p:nvPr/>
        </p:nvSpPr>
        <p:spPr>
          <a:xfrm>
            <a:off x="640080" y="1691640"/>
            <a:ext cx="10911535" cy="4526280"/>
          </a:xfrm>
          <a:prstGeom prst="rect">
            <a:avLst/>
          </a:prstGeom>
          <a:noFill/>
          <a:ln/>
        </p:spPr>
        <p:txBody>
          <a:bodyPr wrap="square" lIns="0" tIns="0" rIns="0" bIns="0" rtlCol="0" anchor="t">
            <a:normAutofit/>
          </a:bodyPr>
          <a:lstStyle/>
          <a:p>
            <a:pPr indent="0" marL="0">
              <a:buNone/>
            </a:pPr>
            <a:r>
              <a:rPr lang="en-US" sz="1700" dirty="0">
                <a:solidFill>
                  <a:srgbClr val="102A43"/>
                </a:solidFill>
                <a:latin typeface="Arial" pitchFamily="34" charset="0"/>
                <a:ea typeface="Arial" pitchFamily="34" charset="-122"/>
                <a:cs typeface="Arial" pitchFamily="34" charset="-120"/>
              </a:rPr>
              <a:t>Recommendations</a:t>
            </a: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Agree a consistent approach for governance and environment strategy, assign ownership, and review adoption at the next quarterly assessment.</a:t>
            </a:r>
            <a:endParaRPr lang="en-US" sz="1700" dirty="0"/>
          </a:p>
          <a:p>
            <a:pPr indent="0" marL="0">
              <a:buNone/>
            </a:pP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Risks and issues</a:t>
            </a: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Inconsistent adoption could leave critical services without a clear accountable owner.</a:t>
            </a:r>
            <a:endParaRPr lang="en-US" sz="1700" dirty="0"/>
          </a:p>
          <a:p>
            <a:pPr indent="0" marL="0">
              <a:buNone/>
            </a:pP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Notes</a:t>
            </a: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Fictional data supplied to demonstrate the tool. Replace with your own assessment.</a:t>
            </a:r>
            <a:endParaRPr lang="en-US" sz="17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9FB"/>
        </a:solidFill>
      </p:bgPr>
    </p:bg>
    <p:spTree>
      <p:nvGrpSpPr>
        <p:cNvPr id="1" name=""/>
        <p:cNvGrpSpPr/>
        <p:nvPr/>
      </p:nvGrpSpPr>
      <p:grpSpPr>
        <a:xfrm>
          <a:off x="0" y="0"/>
          <a:ext cx="0" cy="0"/>
          <a:chOff x="0" y="0"/>
          <a:chExt cx="0" cy="0"/>
        </a:xfrm>
      </p:grpSpPr>
      <p:sp>
        <p:nvSpPr>
          <p:cNvPr id="2" name="Text 0"/>
          <p:cNvSpPr/>
          <p:nvPr/>
        </p:nvSpPr>
        <p:spPr>
          <a:xfrm>
            <a:off x="548640" y="292608"/>
            <a:ext cx="11094415" cy="228600"/>
          </a:xfrm>
          <a:prstGeom prst="rect">
            <a:avLst/>
          </a:prstGeom>
          <a:noFill/>
          <a:ln/>
        </p:spPr>
        <p:txBody>
          <a:bodyPr wrap="square" lIns="0" tIns="0" rIns="0" bIns="0" rtlCol="0" anchor="ctr"/>
          <a:lstStyle/>
          <a:p>
            <a:pPr indent="0" marL="0">
              <a:buNone/>
            </a:pPr>
            <a:r>
              <a:rPr lang="en-US" sz="1000" b="1" dirty="0">
                <a:solidFill>
                  <a:srgbClr val="B44D2E"/>
                </a:solidFill>
                <a:latin typeface="Arial" pitchFamily="34" charset="0"/>
                <a:ea typeface="Arial" pitchFamily="34" charset="-122"/>
                <a:cs typeface="Arial" pitchFamily="34" charset="-120"/>
              </a:rPr>
              <a:t>CAPABILITY DETAILS</a:t>
            </a:r>
            <a:endParaRPr lang="en-US" sz="1000" dirty="0"/>
          </a:p>
        </p:txBody>
      </p:sp>
      <p:sp>
        <p:nvSpPr>
          <p:cNvPr id="3" name="Text 1"/>
          <p:cNvSpPr/>
          <p:nvPr/>
        </p:nvSpPr>
        <p:spPr>
          <a:xfrm>
            <a:off x="548640" y="777240"/>
            <a:ext cx="11094415" cy="685800"/>
          </a:xfrm>
          <a:prstGeom prst="rect">
            <a:avLst/>
          </a:prstGeom>
          <a:noFill/>
          <a:ln/>
        </p:spPr>
        <p:txBody>
          <a:bodyPr wrap="square" lIns="0" tIns="0" rIns="0" bIns="0" rtlCol="0" anchor="ctr">
            <a:normAutofit/>
          </a:bodyPr>
          <a:lstStyle/>
          <a:p>
            <a:pPr indent="0" marL="0">
              <a:buNone/>
            </a:pPr>
            <a:r>
              <a:rPr lang="en-US" sz="2700" b="1" dirty="0">
                <a:solidFill>
                  <a:srgbClr val="102A43"/>
                </a:solidFill>
                <a:latin typeface="Arial" pitchFamily="34" charset="0"/>
                <a:ea typeface="Arial" pitchFamily="34" charset="-122"/>
                <a:cs typeface="Arial" pitchFamily="34" charset="-120"/>
              </a:rPr>
              <a:t>Governance and environment strategy continued</a:t>
            </a:r>
            <a:endParaRPr lang="en-US" sz="2700" dirty="0"/>
          </a:p>
        </p:txBody>
      </p:sp>
      <p:sp>
        <p:nvSpPr>
          <p:cNvPr id="4" name="Text 2"/>
          <p:cNvSpPr/>
          <p:nvPr/>
        </p:nvSpPr>
        <p:spPr>
          <a:xfrm>
            <a:off x="548640" y="6492240"/>
            <a:ext cx="11094415" cy="182880"/>
          </a:xfrm>
          <a:prstGeom prst="rect">
            <a:avLst/>
          </a:prstGeom>
          <a:noFill/>
          <a:ln/>
        </p:spPr>
        <p:txBody>
          <a:bodyPr wrap="square" lIns="0" tIns="0" rIns="0" bIns="0" rtlCol="0" anchor="ctr"/>
          <a:lstStyle/>
          <a:p>
            <a:pPr indent="0" marL="0">
              <a:buNone/>
            </a:pPr>
            <a:r>
              <a:rPr lang="en-US" sz="900" dirty="0">
                <a:solidFill>
                  <a:srgbClr val="486581"/>
                </a:solidFill>
                <a:latin typeface="Arial" pitchFamily="34" charset="0"/>
                <a:ea typeface="Arial" pitchFamily="34" charset="-122"/>
                <a:cs typeface="Arial" pitchFamily="34" charset="-120"/>
              </a:rPr>
              <a:t>2026-10-20    1.0    19</a:t>
            </a:r>
            <a:endParaRPr lang="en-US" sz="900" dirty="0"/>
          </a:p>
        </p:txBody>
      </p:sp>
      <p:sp>
        <p:nvSpPr>
          <p:cNvPr id="5" name="Text 3"/>
          <p:cNvSpPr/>
          <p:nvPr/>
        </p:nvSpPr>
        <p:spPr>
          <a:xfrm>
            <a:off x="640080" y="1691640"/>
            <a:ext cx="10911535" cy="4526280"/>
          </a:xfrm>
          <a:prstGeom prst="rect">
            <a:avLst/>
          </a:prstGeom>
          <a:noFill/>
          <a:ln/>
        </p:spPr>
        <p:txBody>
          <a:bodyPr wrap="square" lIns="0" tIns="0" rIns="0" bIns="0" rtlCol="0" anchor="t">
            <a:normAutofit/>
          </a:bodyPr>
          <a:lstStyle/>
          <a:p>
            <a:pPr indent="0" marL="0">
              <a:buNone/>
            </a:pPr>
            <a:r>
              <a:rPr lang="en-US" sz="1700" dirty="0">
                <a:solidFill>
                  <a:srgbClr val="102A43"/>
                </a:solidFill>
                <a:latin typeface="Arial" pitchFamily="34" charset="0"/>
                <a:ea typeface="Arial" pitchFamily="34" charset="-122"/>
                <a:cs typeface="Arial" pitchFamily="34" charset="-120"/>
              </a:rPr>
              <a:t>Assessment criteria</a:t>
            </a: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Met: Review environment inventory, provisioning rules and exception decisions.</a:t>
            </a: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Evidence: Illustrative review notes, September 2026.</a:t>
            </a:r>
            <a:endParaRPr lang="en-US" sz="1700" dirty="0"/>
          </a:p>
          <a:p>
            <a:pPr indent="0" marL="0">
              <a:buNone/>
            </a:pP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Not confirmed: Confirm consistent adoption across the agreed assessment scope, supported by dated evidence.</a:t>
            </a: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Evidence: Not recorded</a:t>
            </a:r>
            <a:endParaRPr lang="en-US" sz="17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9FB"/>
        </a:solidFill>
      </p:bgPr>
    </p:bg>
    <p:spTree>
      <p:nvGrpSpPr>
        <p:cNvPr id="1" name=""/>
        <p:cNvGrpSpPr/>
        <p:nvPr/>
      </p:nvGrpSpPr>
      <p:grpSpPr>
        <a:xfrm>
          <a:off x="0" y="0"/>
          <a:ext cx="0" cy="0"/>
          <a:chOff x="0" y="0"/>
          <a:chExt cx="0" cy="0"/>
        </a:xfrm>
      </p:grpSpPr>
      <p:sp>
        <p:nvSpPr>
          <p:cNvPr id="2" name="Text 0"/>
          <p:cNvSpPr/>
          <p:nvPr/>
        </p:nvSpPr>
        <p:spPr>
          <a:xfrm>
            <a:off x="548640" y="292608"/>
            <a:ext cx="11094415" cy="228600"/>
          </a:xfrm>
          <a:prstGeom prst="rect">
            <a:avLst/>
          </a:prstGeom>
          <a:noFill/>
          <a:ln/>
        </p:spPr>
        <p:txBody>
          <a:bodyPr wrap="square" lIns="0" tIns="0" rIns="0" bIns="0" rtlCol="0" anchor="ctr"/>
          <a:lstStyle/>
          <a:p>
            <a:pPr indent="0" marL="0">
              <a:buNone/>
            </a:pPr>
            <a:r>
              <a:rPr lang="en-US" sz="1000" b="1" dirty="0">
                <a:solidFill>
                  <a:srgbClr val="B44D2E"/>
                </a:solidFill>
                <a:latin typeface="Arial" pitchFamily="34" charset="0"/>
                <a:ea typeface="Arial" pitchFamily="34" charset="-122"/>
                <a:cs typeface="Arial" pitchFamily="34" charset="-120"/>
              </a:rPr>
              <a:t>CAPABILITY DETAILS</a:t>
            </a:r>
            <a:endParaRPr lang="en-US" sz="1000" dirty="0"/>
          </a:p>
        </p:txBody>
      </p:sp>
      <p:sp>
        <p:nvSpPr>
          <p:cNvPr id="3" name="Text 1"/>
          <p:cNvSpPr/>
          <p:nvPr/>
        </p:nvSpPr>
        <p:spPr>
          <a:xfrm>
            <a:off x="548640" y="777240"/>
            <a:ext cx="11094415" cy="685800"/>
          </a:xfrm>
          <a:prstGeom prst="rect">
            <a:avLst/>
          </a:prstGeom>
          <a:noFill/>
          <a:ln/>
        </p:spPr>
        <p:txBody>
          <a:bodyPr wrap="square" lIns="0" tIns="0" rIns="0" bIns="0" rtlCol="0" anchor="ctr">
            <a:normAutofit/>
          </a:bodyPr>
          <a:lstStyle/>
          <a:p>
            <a:pPr indent="0" marL="0">
              <a:buNone/>
            </a:pPr>
            <a:r>
              <a:rPr lang="en-US" sz="2700" b="1" dirty="0">
                <a:solidFill>
                  <a:srgbClr val="102A43"/>
                </a:solidFill>
                <a:latin typeface="Arial" pitchFamily="34" charset="0"/>
                <a:ea typeface="Arial" pitchFamily="34" charset="-122"/>
                <a:cs typeface="Arial" pitchFamily="34" charset="-120"/>
              </a:rPr>
              <a:t>Citizen developer enablement</a:t>
            </a:r>
            <a:endParaRPr lang="en-US" sz="2700" dirty="0"/>
          </a:p>
        </p:txBody>
      </p:sp>
      <p:sp>
        <p:nvSpPr>
          <p:cNvPr id="4" name="Text 2"/>
          <p:cNvSpPr/>
          <p:nvPr/>
        </p:nvSpPr>
        <p:spPr>
          <a:xfrm>
            <a:off x="548640" y="6492240"/>
            <a:ext cx="11094415" cy="182880"/>
          </a:xfrm>
          <a:prstGeom prst="rect">
            <a:avLst/>
          </a:prstGeom>
          <a:noFill/>
          <a:ln/>
        </p:spPr>
        <p:txBody>
          <a:bodyPr wrap="square" lIns="0" tIns="0" rIns="0" bIns="0" rtlCol="0" anchor="ctr"/>
          <a:lstStyle/>
          <a:p>
            <a:pPr indent="0" marL="0">
              <a:buNone/>
            </a:pPr>
            <a:r>
              <a:rPr lang="en-US" sz="900" dirty="0">
                <a:solidFill>
                  <a:srgbClr val="486581"/>
                </a:solidFill>
                <a:latin typeface="Arial" pitchFamily="34" charset="0"/>
                <a:ea typeface="Arial" pitchFamily="34" charset="-122"/>
                <a:cs typeface="Arial" pitchFamily="34" charset="-120"/>
              </a:rPr>
              <a:t>2026-10-20    1.0    20</a:t>
            </a:r>
            <a:endParaRPr lang="en-US" sz="900" dirty="0"/>
          </a:p>
        </p:txBody>
      </p:sp>
      <p:sp>
        <p:nvSpPr>
          <p:cNvPr id="5" name="Text 3"/>
          <p:cNvSpPr/>
          <p:nvPr/>
        </p:nvSpPr>
        <p:spPr>
          <a:xfrm>
            <a:off x="640080" y="1691640"/>
            <a:ext cx="10911535" cy="4526280"/>
          </a:xfrm>
          <a:prstGeom prst="rect">
            <a:avLst/>
          </a:prstGeom>
          <a:noFill/>
          <a:ln/>
        </p:spPr>
        <p:txBody>
          <a:bodyPr wrap="square" lIns="0" tIns="0" rIns="0" bIns="0" rtlCol="0" anchor="t">
            <a:normAutofit/>
          </a:bodyPr>
          <a:lstStyle/>
          <a:p>
            <a:pPr indent="0" marL="0">
              <a:buNone/>
            </a:pPr>
            <a:r>
              <a:rPr lang="en-US" sz="1700" dirty="0">
                <a:solidFill>
                  <a:srgbClr val="102A43"/>
                </a:solidFill>
                <a:latin typeface="Arial" pitchFamily="34" charset="0"/>
                <a:ea typeface="Arial" pitchFamily="34" charset="-122"/>
                <a:cs typeface="Arial" pitchFamily="34" charset="-120"/>
              </a:rPr>
              <a:t>Governance and enablement / Core practices</a:t>
            </a:r>
            <a:endParaRPr lang="en-US" sz="1700" dirty="0"/>
          </a:p>
          <a:p>
            <a:pPr indent="0" marL="0">
              <a:buNone/>
            </a:pP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Support makers through training, reusable guidance and a proportionate review process.</a:t>
            </a:r>
            <a:endParaRPr lang="en-US" sz="1700" dirty="0"/>
          </a:p>
          <a:p>
            <a:pPr indent="0" marL="0">
              <a:buNone/>
            </a:pP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Current: 3 · Defined</a:t>
            </a: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Target: 4 · Managed</a:t>
            </a: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Gap: 1    Priority: Medium    Weight: 1</a:t>
            </a:r>
            <a:endParaRPr lang="en-US" sz="1700" dirty="0"/>
          </a:p>
          <a:p>
            <a:pPr indent="0" marL="0">
              <a:buNone/>
            </a:pP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Owner: Platform lead    Target date: 2027-01-20</a:t>
            </a:r>
            <a:endParaRPr lang="en-US" sz="1700" dirty="0"/>
          </a:p>
          <a:p>
            <a:pPr indent="0" marL="0">
              <a:buNone/>
            </a:pP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Evidence</a:t>
            </a: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Illustrative evidence: Inspect training records, support channels and escalation routes. A sample review in September found the practice in two of four teams, with inconsistent follow-up.</a:t>
            </a:r>
            <a:endParaRPr lang="en-US" sz="17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9FB"/>
        </a:solidFill>
      </p:bgPr>
    </p:bg>
    <p:spTree>
      <p:nvGrpSpPr>
        <p:cNvPr id="1" name=""/>
        <p:cNvGrpSpPr/>
        <p:nvPr/>
      </p:nvGrpSpPr>
      <p:grpSpPr>
        <a:xfrm>
          <a:off x="0" y="0"/>
          <a:ext cx="0" cy="0"/>
          <a:chOff x="0" y="0"/>
          <a:chExt cx="0" cy="0"/>
        </a:xfrm>
      </p:grpSpPr>
      <p:sp>
        <p:nvSpPr>
          <p:cNvPr id="2" name="Text 0"/>
          <p:cNvSpPr/>
          <p:nvPr/>
        </p:nvSpPr>
        <p:spPr>
          <a:xfrm>
            <a:off x="548640" y="292608"/>
            <a:ext cx="11094415" cy="228600"/>
          </a:xfrm>
          <a:prstGeom prst="rect">
            <a:avLst/>
          </a:prstGeom>
          <a:noFill/>
          <a:ln/>
        </p:spPr>
        <p:txBody>
          <a:bodyPr wrap="square" lIns="0" tIns="0" rIns="0" bIns="0" rtlCol="0" anchor="ctr"/>
          <a:lstStyle/>
          <a:p>
            <a:pPr indent="0" marL="0">
              <a:buNone/>
            </a:pPr>
            <a:r>
              <a:rPr lang="en-US" sz="1000" b="1" dirty="0">
                <a:solidFill>
                  <a:srgbClr val="B44D2E"/>
                </a:solidFill>
                <a:latin typeface="Arial" pitchFamily="34" charset="0"/>
                <a:ea typeface="Arial" pitchFamily="34" charset="-122"/>
                <a:cs typeface="Arial" pitchFamily="34" charset="-120"/>
              </a:rPr>
              <a:t>CAPABILITY DETAILS</a:t>
            </a:r>
            <a:endParaRPr lang="en-US" sz="1000" dirty="0"/>
          </a:p>
        </p:txBody>
      </p:sp>
      <p:sp>
        <p:nvSpPr>
          <p:cNvPr id="3" name="Text 1"/>
          <p:cNvSpPr/>
          <p:nvPr/>
        </p:nvSpPr>
        <p:spPr>
          <a:xfrm>
            <a:off x="548640" y="777240"/>
            <a:ext cx="11094415" cy="685800"/>
          </a:xfrm>
          <a:prstGeom prst="rect">
            <a:avLst/>
          </a:prstGeom>
          <a:noFill/>
          <a:ln/>
        </p:spPr>
        <p:txBody>
          <a:bodyPr wrap="square" lIns="0" tIns="0" rIns="0" bIns="0" rtlCol="0" anchor="ctr">
            <a:normAutofit/>
          </a:bodyPr>
          <a:lstStyle/>
          <a:p>
            <a:pPr indent="0" marL="0">
              <a:buNone/>
            </a:pPr>
            <a:r>
              <a:rPr lang="en-US" sz="2700" b="1" dirty="0">
                <a:solidFill>
                  <a:srgbClr val="102A43"/>
                </a:solidFill>
                <a:latin typeface="Arial" pitchFamily="34" charset="0"/>
                <a:ea typeface="Arial" pitchFamily="34" charset="-122"/>
                <a:cs typeface="Arial" pitchFamily="34" charset="-120"/>
              </a:rPr>
              <a:t>Citizen developer enablement continued</a:t>
            </a:r>
            <a:endParaRPr lang="en-US" sz="2700" dirty="0"/>
          </a:p>
        </p:txBody>
      </p:sp>
      <p:sp>
        <p:nvSpPr>
          <p:cNvPr id="4" name="Text 2"/>
          <p:cNvSpPr/>
          <p:nvPr/>
        </p:nvSpPr>
        <p:spPr>
          <a:xfrm>
            <a:off x="548640" y="6492240"/>
            <a:ext cx="11094415" cy="182880"/>
          </a:xfrm>
          <a:prstGeom prst="rect">
            <a:avLst/>
          </a:prstGeom>
          <a:noFill/>
          <a:ln/>
        </p:spPr>
        <p:txBody>
          <a:bodyPr wrap="square" lIns="0" tIns="0" rIns="0" bIns="0" rtlCol="0" anchor="ctr"/>
          <a:lstStyle/>
          <a:p>
            <a:pPr indent="0" marL="0">
              <a:buNone/>
            </a:pPr>
            <a:r>
              <a:rPr lang="en-US" sz="900" dirty="0">
                <a:solidFill>
                  <a:srgbClr val="486581"/>
                </a:solidFill>
                <a:latin typeface="Arial" pitchFamily="34" charset="0"/>
                <a:ea typeface="Arial" pitchFamily="34" charset="-122"/>
                <a:cs typeface="Arial" pitchFamily="34" charset="-120"/>
              </a:rPr>
              <a:t>2026-10-20    1.0    21</a:t>
            </a:r>
            <a:endParaRPr lang="en-US" sz="900" dirty="0"/>
          </a:p>
        </p:txBody>
      </p:sp>
      <p:sp>
        <p:nvSpPr>
          <p:cNvPr id="5" name="Text 3"/>
          <p:cNvSpPr/>
          <p:nvPr/>
        </p:nvSpPr>
        <p:spPr>
          <a:xfrm>
            <a:off x="640080" y="1691640"/>
            <a:ext cx="10911535" cy="4526280"/>
          </a:xfrm>
          <a:prstGeom prst="rect">
            <a:avLst/>
          </a:prstGeom>
          <a:noFill/>
          <a:ln/>
        </p:spPr>
        <p:txBody>
          <a:bodyPr wrap="square" lIns="0" tIns="0" rIns="0" bIns="0" rtlCol="0" anchor="t">
            <a:normAutofit/>
          </a:bodyPr>
          <a:lstStyle/>
          <a:p>
            <a:pPr indent="0" marL="0">
              <a:buNone/>
            </a:pPr>
            <a:r>
              <a:rPr lang="en-US" sz="1700" dirty="0">
                <a:solidFill>
                  <a:srgbClr val="102A43"/>
                </a:solidFill>
                <a:latin typeface="Arial" pitchFamily="34" charset="0"/>
                <a:ea typeface="Arial" pitchFamily="34" charset="-122"/>
                <a:cs typeface="Arial" pitchFamily="34" charset="-120"/>
              </a:rPr>
              <a:t>Recommendations</a:t>
            </a: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Agree a consistent approach for citizen developer enablement, assign ownership, and review adoption at the next quarterly assessment.</a:t>
            </a:r>
            <a:endParaRPr lang="en-US" sz="1700" dirty="0"/>
          </a:p>
          <a:p>
            <a:pPr indent="0" marL="0">
              <a:buNone/>
            </a:pP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Notes</a:t>
            </a: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Fictional data supplied to demonstrate the tool. Replace with your own assessment.</a:t>
            </a:r>
            <a:endParaRPr lang="en-US" sz="1700" dirty="0"/>
          </a:p>
          <a:p>
            <a:pPr indent="0" marL="0">
              <a:buNone/>
            </a:pP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Assessment criteria</a:t>
            </a: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Met: Inspect training records, support channels and escalation routes.</a:t>
            </a: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Evidence: Illustrative review notes, September 2026.</a:t>
            </a:r>
            <a:endParaRPr lang="en-US" sz="1700" dirty="0"/>
          </a:p>
          <a:p>
            <a:pPr indent="0" marL="0">
              <a:buNone/>
            </a:pP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Not confirmed: Confirm consistent adoption across the agreed assessment scope, supported by dated evidence.</a:t>
            </a: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Evidence: Not recorded</a:t>
            </a:r>
            <a:endParaRPr lang="en-US" sz="17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9FB"/>
        </a:solidFill>
      </p:bgPr>
    </p:bg>
    <p:spTree>
      <p:nvGrpSpPr>
        <p:cNvPr id="1" name=""/>
        <p:cNvGrpSpPr/>
        <p:nvPr/>
      </p:nvGrpSpPr>
      <p:grpSpPr>
        <a:xfrm>
          <a:off x="0" y="0"/>
          <a:ext cx="0" cy="0"/>
          <a:chOff x="0" y="0"/>
          <a:chExt cx="0" cy="0"/>
        </a:xfrm>
      </p:grpSpPr>
      <p:sp>
        <p:nvSpPr>
          <p:cNvPr id="2" name="Text 0"/>
          <p:cNvSpPr/>
          <p:nvPr/>
        </p:nvSpPr>
        <p:spPr>
          <a:xfrm>
            <a:off x="548640" y="292608"/>
            <a:ext cx="11094415" cy="228600"/>
          </a:xfrm>
          <a:prstGeom prst="rect">
            <a:avLst/>
          </a:prstGeom>
          <a:noFill/>
          <a:ln/>
        </p:spPr>
        <p:txBody>
          <a:bodyPr wrap="square" lIns="0" tIns="0" rIns="0" bIns="0" rtlCol="0" anchor="ctr"/>
          <a:lstStyle/>
          <a:p>
            <a:pPr indent="0" marL="0">
              <a:buNone/>
            </a:pPr>
            <a:r>
              <a:rPr lang="en-US" sz="1000" b="1" dirty="0">
                <a:solidFill>
                  <a:srgbClr val="B44D2E"/>
                </a:solidFill>
                <a:latin typeface="Arial" pitchFamily="34" charset="0"/>
                <a:ea typeface="Arial" pitchFamily="34" charset="-122"/>
                <a:cs typeface="Arial" pitchFamily="34" charset="-120"/>
              </a:rPr>
              <a:t>CAPABILITY DETAILS</a:t>
            </a:r>
            <a:endParaRPr lang="en-US" sz="1000" dirty="0"/>
          </a:p>
        </p:txBody>
      </p:sp>
      <p:sp>
        <p:nvSpPr>
          <p:cNvPr id="3" name="Text 1"/>
          <p:cNvSpPr/>
          <p:nvPr/>
        </p:nvSpPr>
        <p:spPr>
          <a:xfrm>
            <a:off x="548640" y="777240"/>
            <a:ext cx="11094415" cy="685800"/>
          </a:xfrm>
          <a:prstGeom prst="rect">
            <a:avLst/>
          </a:prstGeom>
          <a:noFill/>
          <a:ln/>
        </p:spPr>
        <p:txBody>
          <a:bodyPr wrap="square" lIns="0" tIns="0" rIns="0" bIns="0" rtlCol="0" anchor="ctr">
            <a:normAutofit/>
          </a:bodyPr>
          <a:lstStyle/>
          <a:p>
            <a:pPr indent="0" marL="0">
              <a:buNone/>
            </a:pPr>
            <a:r>
              <a:rPr lang="en-US" sz="2700" b="1" dirty="0">
                <a:solidFill>
                  <a:srgbClr val="102A43"/>
                </a:solidFill>
                <a:latin typeface="Arial" pitchFamily="34" charset="0"/>
                <a:ea typeface="Arial" pitchFamily="34" charset="-122"/>
                <a:cs typeface="Arial" pitchFamily="34" charset="-120"/>
              </a:rPr>
              <a:t>Data governance</a:t>
            </a:r>
            <a:endParaRPr lang="en-US" sz="2700" dirty="0"/>
          </a:p>
        </p:txBody>
      </p:sp>
      <p:sp>
        <p:nvSpPr>
          <p:cNvPr id="4" name="Text 2"/>
          <p:cNvSpPr/>
          <p:nvPr/>
        </p:nvSpPr>
        <p:spPr>
          <a:xfrm>
            <a:off x="548640" y="6492240"/>
            <a:ext cx="11094415" cy="182880"/>
          </a:xfrm>
          <a:prstGeom prst="rect">
            <a:avLst/>
          </a:prstGeom>
          <a:noFill/>
          <a:ln/>
        </p:spPr>
        <p:txBody>
          <a:bodyPr wrap="square" lIns="0" tIns="0" rIns="0" bIns="0" rtlCol="0" anchor="ctr"/>
          <a:lstStyle/>
          <a:p>
            <a:pPr indent="0" marL="0">
              <a:buNone/>
            </a:pPr>
            <a:r>
              <a:rPr lang="en-US" sz="900" dirty="0">
                <a:solidFill>
                  <a:srgbClr val="486581"/>
                </a:solidFill>
                <a:latin typeface="Arial" pitchFamily="34" charset="0"/>
                <a:ea typeface="Arial" pitchFamily="34" charset="-122"/>
                <a:cs typeface="Arial" pitchFamily="34" charset="-120"/>
              </a:rPr>
              <a:t>2026-10-20    1.0    22</a:t>
            </a:r>
            <a:endParaRPr lang="en-US" sz="900" dirty="0"/>
          </a:p>
        </p:txBody>
      </p:sp>
      <p:sp>
        <p:nvSpPr>
          <p:cNvPr id="5" name="Text 3"/>
          <p:cNvSpPr/>
          <p:nvPr/>
        </p:nvSpPr>
        <p:spPr>
          <a:xfrm>
            <a:off x="640080" y="1691640"/>
            <a:ext cx="10911535" cy="4526280"/>
          </a:xfrm>
          <a:prstGeom prst="rect">
            <a:avLst/>
          </a:prstGeom>
          <a:noFill/>
          <a:ln/>
        </p:spPr>
        <p:txBody>
          <a:bodyPr wrap="square" lIns="0" tIns="0" rIns="0" bIns="0" rtlCol="0" anchor="t">
            <a:normAutofit/>
          </a:bodyPr>
          <a:lstStyle/>
          <a:p>
            <a:pPr indent="0" marL="0">
              <a:buNone/>
            </a:pPr>
            <a:r>
              <a:rPr lang="en-US" sz="1700" dirty="0">
                <a:solidFill>
                  <a:srgbClr val="102A43"/>
                </a:solidFill>
                <a:latin typeface="Arial" pitchFamily="34" charset="0"/>
                <a:ea typeface="Arial" pitchFamily="34" charset="-122"/>
                <a:cs typeface="Arial" pitchFamily="34" charset="-120"/>
              </a:rPr>
              <a:t>Governance and enablement / Core practices</a:t>
            </a:r>
            <a:endParaRPr lang="en-US" sz="1700" dirty="0"/>
          </a:p>
          <a:p>
            <a:pPr indent="0" marL="0">
              <a:buNone/>
            </a:pP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Classify business data and apply connector policies with reviewed exceptions.</a:t>
            </a:r>
            <a:endParaRPr lang="en-US" sz="1700" dirty="0"/>
          </a:p>
          <a:p>
            <a:pPr indent="0" marL="0">
              <a:buNone/>
            </a:pP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Current: 2 · Developing</a:t>
            </a: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Target: 5 · Optimised</a:t>
            </a: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Gap: 3    Priority: High    Weight: 1</a:t>
            </a:r>
            <a:endParaRPr lang="en-US" sz="1700" dirty="0"/>
          </a:p>
          <a:p>
            <a:pPr indent="0" marL="0">
              <a:buNone/>
            </a:pP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Owner: Platform lead    Target date: 2027-01-20</a:t>
            </a:r>
            <a:endParaRPr lang="en-US" sz="1700" dirty="0"/>
          </a:p>
          <a:p>
            <a:pPr indent="0" marL="0">
              <a:buNone/>
            </a:pP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Evidence</a:t>
            </a: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Illustrative evidence: Inspect DLP policy scope, data owners and exception reviews. A sample review in September found the practice in two of four teams, with inconsistent follow-up.</a:t>
            </a:r>
            <a:endParaRPr lang="en-US" sz="17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9FB"/>
        </a:solidFill>
      </p:bgPr>
    </p:bg>
    <p:spTree>
      <p:nvGrpSpPr>
        <p:cNvPr id="1" name=""/>
        <p:cNvGrpSpPr/>
        <p:nvPr/>
      </p:nvGrpSpPr>
      <p:grpSpPr>
        <a:xfrm>
          <a:off x="0" y="0"/>
          <a:ext cx="0" cy="0"/>
          <a:chOff x="0" y="0"/>
          <a:chExt cx="0" cy="0"/>
        </a:xfrm>
      </p:grpSpPr>
      <p:sp>
        <p:nvSpPr>
          <p:cNvPr id="2" name="Text 0"/>
          <p:cNvSpPr/>
          <p:nvPr/>
        </p:nvSpPr>
        <p:spPr>
          <a:xfrm>
            <a:off x="548640" y="292608"/>
            <a:ext cx="11094415" cy="228600"/>
          </a:xfrm>
          <a:prstGeom prst="rect">
            <a:avLst/>
          </a:prstGeom>
          <a:noFill/>
          <a:ln/>
        </p:spPr>
        <p:txBody>
          <a:bodyPr wrap="square" lIns="0" tIns="0" rIns="0" bIns="0" rtlCol="0" anchor="ctr"/>
          <a:lstStyle/>
          <a:p>
            <a:pPr indent="0" marL="0">
              <a:buNone/>
            </a:pPr>
            <a:r>
              <a:rPr lang="en-US" sz="1000" b="1" dirty="0">
                <a:solidFill>
                  <a:srgbClr val="B44D2E"/>
                </a:solidFill>
                <a:latin typeface="Arial" pitchFamily="34" charset="0"/>
                <a:ea typeface="Arial" pitchFamily="34" charset="-122"/>
                <a:cs typeface="Arial" pitchFamily="34" charset="-120"/>
              </a:rPr>
              <a:t>CAPABILITY DETAILS</a:t>
            </a:r>
            <a:endParaRPr lang="en-US" sz="1000" dirty="0"/>
          </a:p>
        </p:txBody>
      </p:sp>
      <p:sp>
        <p:nvSpPr>
          <p:cNvPr id="3" name="Text 1"/>
          <p:cNvSpPr/>
          <p:nvPr/>
        </p:nvSpPr>
        <p:spPr>
          <a:xfrm>
            <a:off x="548640" y="777240"/>
            <a:ext cx="11094415" cy="685800"/>
          </a:xfrm>
          <a:prstGeom prst="rect">
            <a:avLst/>
          </a:prstGeom>
          <a:noFill/>
          <a:ln/>
        </p:spPr>
        <p:txBody>
          <a:bodyPr wrap="square" lIns="0" tIns="0" rIns="0" bIns="0" rtlCol="0" anchor="ctr">
            <a:normAutofit/>
          </a:bodyPr>
          <a:lstStyle/>
          <a:p>
            <a:pPr indent="0" marL="0">
              <a:buNone/>
            </a:pPr>
            <a:r>
              <a:rPr lang="en-US" sz="2700" b="1" dirty="0">
                <a:solidFill>
                  <a:srgbClr val="102A43"/>
                </a:solidFill>
                <a:latin typeface="Arial" pitchFamily="34" charset="0"/>
                <a:ea typeface="Arial" pitchFamily="34" charset="-122"/>
                <a:cs typeface="Arial" pitchFamily="34" charset="-120"/>
              </a:rPr>
              <a:t>Data governance continued</a:t>
            </a:r>
            <a:endParaRPr lang="en-US" sz="2700" dirty="0"/>
          </a:p>
        </p:txBody>
      </p:sp>
      <p:sp>
        <p:nvSpPr>
          <p:cNvPr id="4" name="Text 2"/>
          <p:cNvSpPr/>
          <p:nvPr/>
        </p:nvSpPr>
        <p:spPr>
          <a:xfrm>
            <a:off x="548640" y="6492240"/>
            <a:ext cx="11094415" cy="182880"/>
          </a:xfrm>
          <a:prstGeom prst="rect">
            <a:avLst/>
          </a:prstGeom>
          <a:noFill/>
          <a:ln/>
        </p:spPr>
        <p:txBody>
          <a:bodyPr wrap="square" lIns="0" tIns="0" rIns="0" bIns="0" rtlCol="0" anchor="ctr"/>
          <a:lstStyle/>
          <a:p>
            <a:pPr indent="0" marL="0">
              <a:buNone/>
            </a:pPr>
            <a:r>
              <a:rPr lang="en-US" sz="900" dirty="0">
                <a:solidFill>
                  <a:srgbClr val="486581"/>
                </a:solidFill>
                <a:latin typeface="Arial" pitchFamily="34" charset="0"/>
                <a:ea typeface="Arial" pitchFamily="34" charset="-122"/>
                <a:cs typeface="Arial" pitchFamily="34" charset="-120"/>
              </a:rPr>
              <a:t>2026-10-20    1.0    23</a:t>
            </a:r>
            <a:endParaRPr lang="en-US" sz="900" dirty="0"/>
          </a:p>
        </p:txBody>
      </p:sp>
      <p:sp>
        <p:nvSpPr>
          <p:cNvPr id="5" name="Text 3"/>
          <p:cNvSpPr/>
          <p:nvPr/>
        </p:nvSpPr>
        <p:spPr>
          <a:xfrm>
            <a:off x="640080" y="1691640"/>
            <a:ext cx="10911535" cy="4526280"/>
          </a:xfrm>
          <a:prstGeom prst="rect">
            <a:avLst/>
          </a:prstGeom>
          <a:noFill/>
          <a:ln/>
        </p:spPr>
        <p:txBody>
          <a:bodyPr wrap="square" lIns="0" tIns="0" rIns="0" bIns="0" rtlCol="0" anchor="t">
            <a:normAutofit/>
          </a:bodyPr>
          <a:lstStyle/>
          <a:p>
            <a:pPr indent="0" marL="0">
              <a:buNone/>
            </a:pPr>
            <a:r>
              <a:rPr lang="en-US" sz="1700" dirty="0">
                <a:solidFill>
                  <a:srgbClr val="102A43"/>
                </a:solidFill>
                <a:latin typeface="Arial" pitchFamily="34" charset="0"/>
                <a:ea typeface="Arial" pitchFamily="34" charset="-122"/>
                <a:cs typeface="Arial" pitchFamily="34" charset="-120"/>
              </a:rPr>
              <a:t>Recommendations</a:t>
            </a: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Agree a consistent approach for data governance, assign ownership, and review adoption at the next quarterly assessment.</a:t>
            </a:r>
            <a:endParaRPr lang="en-US" sz="1700" dirty="0"/>
          </a:p>
          <a:p>
            <a:pPr indent="0" marL="0">
              <a:buNone/>
            </a:pP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Notes</a:t>
            </a: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Fictional data supplied to demonstrate the tool. Replace with your own assessment.</a:t>
            </a:r>
            <a:endParaRPr lang="en-US" sz="1700" dirty="0"/>
          </a:p>
          <a:p>
            <a:pPr indent="0" marL="0">
              <a:buNone/>
            </a:pP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Assessment criteria</a:t>
            </a: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Met: Inspect DLP policy scope, data owners and exception reviews.</a:t>
            </a: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Evidence: Illustrative review notes, September 2026.</a:t>
            </a:r>
            <a:endParaRPr lang="en-US" sz="1700" dirty="0"/>
          </a:p>
          <a:p>
            <a:pPr indent="0" marL="0">
              <a:buNone/>
            </a:pP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Not confirmed: Confirm consistent adoption across the agreed assessment scope, supported by dated evidence.</a:t>
            </a: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Evidence: Not recorded</a:t>
            </a:r>
            <a:endParaRPr lang="en-US" sz="17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7F9FB"/>
        </a:solidFill>
      </p:bgPr>
    </p:bg>
    <p:spTree>
      <p:nvGrpSpPr>
        <p:cNvPr id="1" name=""/>
        <p:cNvGrpSpPr/>
        <p:nvPr/>
      </p:nvGrpSpPr>
      <p:grpSpPr>
        <a:xfrm>
          <a:off x="0" y="0"/>
          <a:ext cx="0" cy="0"/>
          <a:chOff x="0" y="0"/>
          <a:chExt cx="0" cy="0"/>
        </a:xfrm>
      </p:grpSpPr>
      <p:sp>
        <p:nvSpPr>
          <p:cNvPr id="2" name="Text 0"/>
          <p:cNvSpPr/>
          <p:nvPr/>
        </p:nvSpPr>
        <p:spPr>
          <a:xfrm>
            <a:off x="548640" y="292608"/>
            <a:ext cx="11094415" cy="228600"/>
          </a:xfrm>
          <a:prstGeom prst="rect">
            <a:avLst/>
          </a:prstGeom>
          <a:noFill/>
          <a:ln/>
        </p:spPr>
        <p:txBody>
          <a:bodyPr wrap="square" lIns="0" tIns="0" rIns="0" bIns="0" rtlCol="0" anchor="ctr"/>
          <a:lstStyle/>
          <a:p>
            <a:pPr indent="0" marL="0">
              <a:buNone/>
            </a:pPr>
            <a:r>
              <a:rPr lang="en-US" sz="1000" b="1" dirty="0">
                <a:solidFill>
                  <a:srgbClr val="B44D2E"/>
                </a:solidFill>
                <a:latin typeface="Arial" pitchFamily="34" charset="0"/>
                <a:ea typeface="Arial" pitchFamily="34" charset="-122"/>
                <a:cs typeface="Arial" pitchFamily="34" charset="-120"/>
              </a:rPr>
              <a:t>CAPABILITY DETAILS</a:t>
            </a:r>
            <a:endParaRPr lang="en-US" sz="1000" dirty="0"/>
          </a:p>
        </p:txBody>
      </p:sp>
      <p:sp>
        <p:nvSpPr>
          <p:cNvPr id="3" name="Text 1"/>
          <p:cNvSpPr/>
          <p:nvPr/>
        </p:nvSpPr>
        <p:spPr>
          <a:xfrm>
            <a:off x="548640" y="777240"/>
            <a:ext cx="11094415" cy="685800"/>
          </a:xfrm>
          <a:prstGeom prst="rect">
            <a:avLst/>
          </a:prstGeom>
          <a:noFill/>
          <a:ln/>
        </p:spPr>
        <p:txBody>
          <a:bodyPr wrap="square" lIns="0" tIns="0" rIns="0" bIns="0" rtlCol="0" anchor="ctr">
            <a:normAutofit/>
          </a:bodyPr>
          <a:lstStyle/>
          <a:p>
            <a:pPr indent="0" marL="0">
              <a:buNone/>
            </a:pPr>
            <a:r>
              <a:rPr lang="en-US" sz="2700" b="1" dirty="0">
                <a:solidFill>
                  <a:srgbClr val="102A43"/>
                </a:solidFill>
                <a:latin typeface="Arial" pitchFamily="34" charset="0"/>
                <a:ea typeface="Arial" pitchFamily="34" charset="-122"/>
                <a:cs typeface="Arial" pitchFamily="34" charset="-120"/>
              </a:rPr>
              <a:t>Dataverse architecture</a:t>
            </a:r>
            <a:endParaRPr lang="en-US" sz="2700" dirty="0"/>
          </a:p>
        </p:txBody>
      </p:sp>
      <p:sp>
        <p:nvSpPr>
          <p:cNvPr id="4" name="Text 2"/>
          <p:cNvSpPr/>
          <p:nvPr/>
        </p:nvSpPr>
        <p:spPr>
          <a:xfrm>
            <a:off x="548640" y="6492240"/>
            <a:ext cx="11094415" cy="182880"/>
          </a:xfrm>
          <a:prstGeom prst="rect">
            <a:avLst/>
          </a:prstGeom>
          <a:noFill/>
          <a:ln/>
        </p:spPr>
        <p:txBody>
          <a:bodyPr wrap="square" lIns="0" tIns="0" rIns="0" bIns="0" rtlCol="0" anchor="ctr"/>
          <a:lstStyle/>
          <a:p>
            <a:pPr indent="0" marL="0">
              <a:buNone/>
            </a:pPr>
            <a:r>
              <a:rPr lang="en-US" sz="900" dirty="0">
                <a:solidFill>
                  <a:srgbClr val="486581"/>
                </a:solidFill>
                <a:latin typeface="Arial" pitchFamily="34" charset="0"/>
                <a:ea typeface="Arial" pitchFamily="34" charset="-122"/>
                <a:cs typeface="Arial" pitchFamily="34" charset="-120"/>
              </a:rPr>
              <a:t>2026-10-20    1.0    24</a:t>
            </a:r>
            <a:endParaRPr lang="en-US" sz="900" dirty="0"/>
          </a:p>
        </p:txBody>
      </p:sp>
      <p:sp>
        <p:nvSpPr>
          <p:cNvPr id="5" name="Text 3"/>
          <p:cNvSpPr/>
          <p:nvPr/>
        </p:nvSpPr>
        <p:spPr>
          <a:xfrm>
            <a:off x="640080" y="1691640"/>
            <a:ext cx="10911535" cy="4526280"/>
          </a:xfrm>
          <a:prstGeom prst="rect">
            <a:avLst/>
          </a:prstGeom>
          <a:noFill/>
          <a:ln/>
        </p:spPr>
        <p:txBody>
          <a:bodyPr wrap="square" lIns="0" tIns="0" rIns="0" bIns="0" rtlCol="0" anchor="t">
            <a:normAutofit/>
          </a:bodyPr>
          <a:lstStyle/>
          <a:p>
            <a:pPr indent="0" marL="0">
              <a:buNone/>
            </a:pPr>
            <a:r>
              <a:rPr lang="en-US" sz="1700" dirty="0">
                <a:solidFill>
                  <a:srgbClr val="102A43"/>
                </a:solidFill>
                <a:latin typeface="Arial" pitchFamily="34" charset="0"/>
                <a:ea typeface="Arial" pitchFamily="34" charset="-122"/>
                <a:cs typeface="Arial" pitchFamily="34" charset="-120"/>
              </a:rPr>
              <a:t>Architecture and security / Core practices</a:t>
            </a:r>
            <a:endParaRPr lang="en-US" sz="1700" dirty="0"/>
          </a:p>
          <a:p>
            <a:pPr indent="0" marL="0">
              <a:buNone/>
            </a:pP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Apply deliberate table design, ownership, relationships and capacity planning.</a:t>
            </a:r>
            <a:endParaRPr lang="en-US" sz="1700" dirty="0"/>
          </a:p>
          <a:p>
            <a:pPr indent="0" marL="0">
              <a:buNone/>
            </a:pP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Current: 3 · Defined</a:t>
            </a: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Target: 5 · Optimised</a:t>
            </a: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Gap: 2    Priority: High    Weight: 2</a:t>
            </a:r>
            <a:endParaRPr lang="en-US" sz="1700" dirty="0"/>
          </a:p>
          <a:p>
            <a:pPr indent="0" marL="0">
              <a:buNone/>
            </a:pP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Owner: Solution architect    Target date: 2027-02-20</a:t>
            </a:r>
            <a:endParaRPr lang="en-US" sz="1700" dirty="0"/>
          </a:p>
          <a:p>
            <a:pPr indent="0" marL="0">
              <a:buNone/>
            </a:pP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Evidence</a:t>
            </a: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Illustrative evidence: Review data models, table ownership and capacity forecasts. A sample review in September found the practice in two of four teams, with inconsistent follow-up.</a:t>
            </a:r>
            <a:endParaRPr lang="en-US" sz="17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7F9FB"/>
        </a:solidFill>
      </p:bgPr>
    </p:bg>
    <p:spTree>
      <p:nvGrpSpPr>
        <p:cNvPr id="1" name=""/>
        <p:cNvGrpSpPr/>
        <p:nvPr/>
      </p:nvGrpSpPr>
      <p:grpSpPr>
        <a:xfrm>
          <a:off x="0" y="0"/>
          <a:ext cx="0" cy="0"/>
          <a:chOff x="0" y="0"/>
          <a:chExt cx="0" cy="0"/>
        </a:xfrm>
      </p:grpSpPr>
      <p:sp>
        <p:nvSpPr>
          <p:cNvPr id="2" name="Text 0"/>
          <p:cNvSpPr/>
          <p:nvPr/>
        </p:nvSpPr>
        <p:spPr>
          <a:xfrm>
            <a:off x="548640" y="292608"/>
            <a:ext cx="11094415" cy="228600"/>
          </a:xfrm>
          <a:prstGeom prst="rect">
            <a:avLst/>
          </a:prstGeom>
          <a:noFill/>
          <a:ln/>
        </p:spPr>
        <p:txBody>
          <a:bodyPr wrap="square" lIns="0" tIns="0" rIns="0" bIns="0" rtlCol="0" anchor="ctr"/>
          <a:lstStyle/>
          <a:p>
            <a:pPr indent="0" marL="0">
              <a:buNone/>
            </a:pPr>
            <a:r>
              <a:rPr lang="en-US" sz="1000" b="1" dirty="0">
                <a:solidFill>
                  <a:srgbClr val="B44D2E"/>
                </a:solidFill>
                <a:latin typeface="Arial" pitchFamily="34" charset="0"/>
                <a:ea typeface="Arial" pitchFamily="34" charset="-122"/>
                <a:cs typeface="Arial" pitchFamily="34" charset="-120"/>
              </a:rPr>
              <a:t>CAPABILITY DETAILS</a:t>
            </a:r>
            <a:endParaRPr lang="en-US" sz="1000" dirty="0"/>
          </a:p>
        </p:txBody>
      </p:sp>
      <p:sp>
        <p:nvSpPr>
          <p:cNvPr id="3" name="Text 1"/>
          <p:cNvSpPr/>
          <p:nvPr/>
        </p:nvSpPr>
        <p:spPr>
          <a:xfrm>
            <a:off x="548640" y="777240"/>
            <a:ext cx="11094415" cy="685800"/>
          </a:xfrm>
          <a:prstGeom prst="rect">
            <a:avLst/>
          </a:prstGeom>
          <a:noFill/>
          <a:ln/>
        </p:spPr>
        <p:txBody>
          <a:bodyPr wrap="square" lIns="0" tIns="0" rIns="0" bIns="0" rtlCol="0" anchor="ctr">
            <a:normAutofit/>
          </a:bodyPr>
          <a:lstStyle/>
          <a:p>
            <a:pPr indent="0" marL="0">
              <a:buNone/>
            </a:pPr>
            <a:r>
              <a:rPr lang="en-US" sz="2700" b="1" dirty="0">
                <a:solidFill>
                  <a:srgbClr val="102A43"/>
                </a:solidFill>
                <a:latin typeface="Arial" pitchFamily="34" charset="0"/>
                <a:ea typeface="Arial" pitchFamily="34" charset="-122"/>
                <a:cs typeface="Arial" pitchFamily="34" charset="-120"/>
              </a:rPr>
              <a:t>Dataverse architecture continued</a:t>
            </a:r>
            <a:endParaRPr lang="en-US" sz="2700" dirty="0"/>
          </a:p>
        </p:txBody>
      </p:sp>
      <p:sp>
        <p:nvSpPr>
          <p:cNvPr id="4" name="Text 2"/>
          <p:cNvSpPr/>
          <p:nvPr/>
        </p:nvSpPr>
        <p:spPr>
          <a:xfrm>
            <a:off x="548640" y="6492240"/>
            <a:ext cx="11094415" cy="182880"/>
          </a:xfrm>
          <a:prstGeom prst="rect">
            <a:avLst/>
          </a:prstGeom>
          <a:noFill/>
          <a:ln/>
        </p:spPr>
        <p:txBody>
          <a:bodyPr wrap="square" lIns="0" tIns="0" rIns="0" bIns="0" rtlCol="0" anchor="ctr"/>
          <a:lstStyle/>
          <a:p>
            <a:pPr indent="0" marL="0">
              <a:buNone/>
            </a:pPr>
            <a:r>
              <a:rPr lang="en-US" sz="900" dirty="0">
                <a:solidFill>
                  <a:srgbClr val="486581"/>
                </a:solidFill>
                <a:latin typeface="Arial" pitchFamily="34" charset="0"/>
                <a:ea typeface="Arial" pitchFamily="34" charset="-122"/>
                <a:cs typeface="Arial" pitchFamily="34" charset="-120"/>
              </a:rPr>
              <a:t>2026-10-20    1.0    25</a:t>
            </a:r>
            <a:endParaRPr lang="en-US" sz="900" dirty="0"/>
          </a:p>
        </p:txBody>
      </p:sp>
      <p:sp>
        <p:nvSpPr>
          <p:cNvPr id="5" name="Text 3"/>
          <p:cNvSpPr/>
          <p:nvPr/>
        </p:nvSpPr>
        <p:spPr>
          <a:xfrm>
            <a:off x="640080" y="1691640"/>
            <a:ext cx="10911535" cy="4526280"/>
          </a:xfrm>
          <a:prstGeom prst="rect">
            <a:avLst/>
          </a:prstGeom>
          <a:noFill/>
          <a:ln/>
        </p:spPr>
        <p:txBody>
          <a:bodyPr wrap="square" lIns="0" tIns="0" rIns="0" bIns="0" rtlCol="0" anchor="t">
            <a:normAutofit/>
          </a:bodyPr>
          <a:lstStyle/>
          <a:p>
            <a:pPr indent="0" marL="0">
              <a:buNone/>
            </a:pPr>
            <a:r>
              <a:rPr lang="en-US" sz="1700" dirty="0">
                <a:solidFill>
                  <a:srgbClr val="102A43"/>
                </a:solidFill>
                <a:latin typeface="Arial" pitchFamily="34" charset="0"/>
                <a:ea typeface="Arial" pitchFamily="34" charset="-122"/>
                <a:cs typeface="Arial" pitchFamily="34" charset="-120"/>
              </a:rPr>
              <a:t>Recommendations</a:t>
            </a: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Agree a consistent approach for dataverse architecture, assign ownership, and review adoption at the next quarterly assessment.</a:t>
            </a:r>
            <a:endParaRPr lang="en-US" sz="1700" dirty="0"/>
          </a:p>
          <a:p>
            <a:pPr indent="0" marL="0">
              <a:buNone/>
            </a:pP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Risks and issues</a:t>
            </a: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Inconsistent adoption could leave critical services without a clear accountable owner.</a:t>
            </a:r>
            <a:endParaRPr lang="en-US" sz="1700" dirty="0"/>
          </a:p>
          <a:p>
            <a:pPr indent="0" marL="0">
              <a:buNone/>
            </a:pP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Notes</a:t>
            </a: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Fictional data supplied to demonstrate the tool. Replace with your own assessment.</a:t>
            </a:r>
            <a:endParaRPr lang="en-US" sz="17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7F9FB"/>
        </a:solidFill>
      </p:bgPr>
    </p:bg>
    <p:spTree>
      <p:nvGrpSpPr>
        <p:cNvPr id="1" name=""/>
        <p:cNvGrpSpPr/>
        <p:nvPr/>
      </p:nvGrpSpPr>
      <p:grpSpPr>
        <a:xfrm>
          <a:off x="0" y="0"/>
          <a:ext cx="0" cy="0"/>
          <a:chOff x="0" y="0"/>
          <a:chExt cx="0" cy="0"/>
        </a:xfrm>
      </p:grpSpPr>
      <p:sp>
        <p:nvSpPr>
          <p:cNvPr id="2" name="Text 0"/>
          <p:cNvSpPr/>
          <p:nvPr/>
        </p:nvSpPr>
        <p:spPr>
          <a:xfrm>
            <a:off x="548640" y="292608"/>
            <a:ext cx="11094415" cy="228600"/>
          </a:xfrm>
          <a:prstGeom prst="rect">
            <a:avLst/>
          </a:prstGeom>
          <a:noFill/>
          <a:ln/>
        </p:spPr>
        <p:txBody>
          <a:bodyPr wrap="square" lIns="0" tIns="0" rIns="0" bIns="0" rtlCol="0" anchor="ctr"/>
          <a:lstStyle/>
          <a:p>
            <a:pPr indent="0" marL="0">
              <a:buNone/>
            </a:pPr>
            <a:r>
              <a:rPr lang="en-US" sz="1000" b="1" dirty="0">
                <a:solidFill>
                  <a:srgbClr val="B44D2E"/>
                </a:solidFill>
                <a:latin typeface="Arial" pitchFamily="34" charset="0"/>
                <a:ea typeface="Arial" pitchFamily="34" charset="-122"/>
                <a:cs typeface="Arial" pitchFamily="34" charset="-120"/>
              </a:rPr>
              <a:t>CAPABILITY DETAILS</a:t>
            </a:r>
            <a:endParaRPr lang="en-US" sz="1000" dirty="0"/>
          </a:p>
        </p:txBody>
      </p:sp>
      <p:sp>
        <p:nvSpPr>
          <p:cNvPr id="3" name="Text 1"/>
          <p:cNvSpPr/>
          <p:nvPr/>
        </p:nvSpPr>
        <p:spPr>
          <a:xfrm>
            <a:off x="548640" y="777240"/>
            <a:ext cx="11094415" cy="685800"/>
          </a:xfrm>
          <a:prstGeom prst="rect">
            <a:avLst/>
          </a:prstGeom>
          <a:noFill/>
          <a:ln/>
        </p:spPr>
        <p:txBody>
          <a:bodyPr wrap="square" lIns="0" tIns="0" rIns="0" bIns="0" rtlCol="0" anchor="ctr">
            <a:normAutofit/>
          </a:bodyPr>
          <a:lstStyle/>
          <a:p>
            <a:pPr indent="0" marL="0">
              <a:buNone/>
            </a:pPr>
            <a:r>
              <a:rPr lang="en-US" sz="2700" b="1" dirty="0">
                <a:solidFill>
                  <a:srgbClr val="102A43"/>
                </a:solidFill>
                <a:latin typeface="Arial" pitchFamily="34" charset="0"/>
                <a:ea typeface="Arial" pitchFamily="34" charset="-122"/>
                <a:cs typeface="Arial" pitchFamily="34" charset="-120"/>
              </a:rPr>
              <a:t>Dataverse architecture continued</a:t>
            </a:r>
            <a:endParaRPr lang="en-US" sz="2700" dirty="0"/>
          </a:p>
        </p:txBody>
      </p:sp>
      <p:sp>
        <p:nvSpPr>
          <p:cNvPr id="4" name="Text 2"/>
          <p:cNvSpPr/>
          <p:nvPr/>
        </p:nvSpPr>
        <p:spPr>
          <a:xfrm>
            <a:off x="548640" y="6492240"/>
            <a:ext cx="11094415" cy="182880"/>
          </a:xfrm>
          <a:prstGeom prst="rect">
            <a:avLst/>
          </a:prstGeom>
          <a:noFill/>
          <a:ln/>
        </p:spPr>
        <p:txBody>
          <a:bodyPr wrap="square" lIns="0" tIns="0" rIns="0" bIns="0" rtlCol="0" anchor="ctr"/>
          <a:lstStyle/>
          <a:p>
            <a:pPr indent="0" marL="0">
              <a:buNone/>
            </a:pPr>
            <a:r>
              <a:rPr lang="en-US" sz="900" dirty="0">
                <a:solidFill>
                  <a:srgbClr val="486581"/>
                </a:solidFill>
                <a:latin typeface="Arial" pitchFamily="34" charset="0"/>
                <a:ea typeface="Arial" pitchFamily="34" charset="-122"/>
                <a:cs typeface="Arial" pitchFamily="34" charset="-120"/>
              </a:rPr>
              <a:t>2026-10-20    1.0    26</a:t>
            </a:r>
            <a:endParaRPr lang="en-US" sz="900" dirty="0"/>
          </a:p>
        </p:txBody>
      </p:sp>
      <p:sp>
        <p:nvSpPr>
          <p:cNvPr id="5" name="Text 3"/>
          <p:cNvSpPr/>
          <p:nvPr/>
        </p:nvSpPr>
        <p:spPr>
          <a:xfrm>
            <a:off x="640080" y="1691640"/>
            <a:ext cx="10911535" cy="4526280"/>
          </a:xfrm>
          <a:prstGeom prst="rect">
            <a:avLst/>
          </a:prstGeom>
          <a:noFill/>
          <a:ln/>
        </p:spPr>
        <p:txBody>
          <a:bodyPr wrap="square" lIns="0" tIns="0" rIns="0" bIns="0" rtlCol="0" anchor="t">
            <a:normAutofit/>
          </a:bodyPr>
          <a:lstStyle/>
          <a:p>
            <a:pPr indent="0" marL="0">
              <a:buNone/>
            </a:pPr>
            <a:r>
              <a:rPr lang="en-US" sz="1700" dirty="0">
                <a:solidFill>
                  <a:srgbClr val="102A43"/>
                </a:solidFill>
                <a:latin typeface="Arial" pitchFamily="34" charset="0"/>
                <a:ea typeface="Arial" pitchFamily="34" charset="-122"/>
                <a:cs typeface="Arial" pitchFamily="34" charset="-120"/>
              </a:rPr>
              <a:t>Assessment criteria</a:t>
            </a: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Met: Review data models, table ownership and capacity forecasts.</a:t>
            </a: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Evidence: Illustrative review notes, September 2026.</a:t>
            </a:r>
            <a:endParaRPr lang="en-US" sz="1700" dirty="0"/>
          </a:p>
          <a:p>
            <a:pPr indent="0" marL="0">
              <a:buNone/>
            </a:pP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Not confirmed: Confirm consistent adoption across the agreed assessment scope, supported by dated evidence.</a:t>
            </a: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Evidence: Not recorded</a:t>
            </a:r>
            <a:endParaRPr lang="en-US" sz="17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7F9FB"/>
        </a:solidFill>
      </p:bgPr>
    </p:bg>
    <p:spTree>
      <p:nvGrpSpPr>
        <p:cNvPr id="1" name=""/>
        <p:cNvGrpSpPr/>
        <p:nvPr/>
      </p:nvGrpSpPr>
      <p:grpSpPr>
        <a:xfrm>
          <a:off x="0" y="0"/>
          <a:ext cx="0" cy="0"/>
          <a:chOff x="0" y="0"/>
          <a:chExt cx="0" cy="0"/>
        </a:xfrm>
      </p:grpSpPr>
      <p:sp>
        <p:nvSpPr>
          <p:cNvPr id="2" name="Text 0"/>
          <p:cNvSpPr/>
          <p:nvPr/>
        </p:nvSpPr>
        <p:spPr>
          <a:xfrm>
            <a:off x="548640" y="292608"/>
            <a:ext cx="11094415" cy="228600"/>
          </a:xfrm>
          <a:prstGeom prst="rect">
            <a:avLst/>
          </a:prstGeom>
          <a:noFill/>
          <a:ln/>
        </p:spPr>
        <p:txBody>
          <a:bodyPr wrap="square" lIns="0" tIns="0" rIns="0" bIns="0" rtlCol="0" anchor="ctr"/>
          <a:lstStyle/>
          <a:p>
            <a:pPr indent="0" marL="0">
              <a:buNone/>
            </a:pPr>
            <a:r>
              <a:rPr lang="en-US" sz="1000" b="1" dirty="0">
                <a:solidFill>
                  <a:srgbClr val="B44D2E"/>
                </a:solidFill>
                <a:latin typeface="Arial" pitchFamily="34" charset="0"/>
                <a:ea typeface="Arial" pitchFamily="34" charset="-122"/>
                <a:cs typeface="Arial" pitchFamily="34" charset="-120"/>
              </a:rPr>
              <a:t>CAPABILITY DETAILS</a:t>
            </a:r>
            <a:endParaRPr lang="en-US" sz="1000" dirty="0"/>
          </a:p>
        </p:txBody>
      </p:sp>
      <p:sp>
        <p:nvSpPr>
          <p:cNvPr id="3" name="Text 1"/>
          <p:cNvSpPr/>
          <p:nvPr/>
        </p:nvSpPr>
        <p:spPr>
          <a:xfrm>
            <a:off x="548640" y="777240"/>
            <a:ext cx="11094415" cy="685800"/>
          </a:xfrm>
          <a:prstGeom prst="rect">
            <a:avLst/>
          </a:prstGeom>
          <a:noFill/>
          <a:ln/>
        </p:spPr>
        <p:txBody>
          <a:bodyPr wrap="square" lIns="0" tIns="0" rIns="0" bIns="0" rtlCol="0" anchor="ctr">
            <a:normAutofit/>
          </a:bodyPr>
          <a:lstStyle/>
          <a:p>
            <a:pPr indent="0" marL="0">
              <a:buNone/>
            </a:pPr>
            <a:r>
              <a:rPr lang="en-US" sz="2700" b="1" dirty="0">
                <a:solidFill>
                  <a:srgbClr val="102A43"/>
                </a:solidFill>
                <a:latin typeface="Arial" pitchFamily="34" charset="0"/>
                <a:ea typeface="Arial" pitchFamily="34" charset="-122"/>
                <a:cs typeface="Arial" pitchFamily="34" charset="-120"/>
              </a:rPr>
              <a:t>Security and identity</a:t>
            </a:r>
            <a:endParaRPr lang="en-US" sz="2700" dirty="0"/>
          </a:p>
        </p:txBody>
      </p:sp>
      <p:sp>
        <p:nvSpPr>
          <p:cNvPr id="4" name="Text 2"/>
          <p:cNvSpPr/>
          <p:nvPr/>
        </p:nvSpPr>
        <p:spPr>
          <a:xfrm>
            <a:off x="548640" y="6492240"/>
            <a:ext cx="11094415" cy="182880"/>
          </a:xfrm>
          <a:prstGeom prst="rect">
            <a:avLst/>
          </a:prstGeom>
          <a:noFill/>
          <a:ln/>
        </p:spPr>
        <p:txBody>
          <a:bodyPr wrap="square" lIns="0" tIns="0" rIns="0" bIns="0" rtlCol="0" anchor="ctr"/>
          <a:lstStyle/>
          <a:p>
            <a:pPr indent="0" marL="0">
              <a:buNone/>
            </a:pPr>
            <a:r>
              <a:rPr lang="en-US" sz="900" dirty="0">
                <a:solidFill>
                  <a:srgbClr val="486581"/>
                </a:solidFill>
                <a:latin typeface="Arial" pitchFamily="34" charset="0"/>
                <a:ea typeface="Arial" pitchFamily="34" charset="-122"/>
                <a:cs typeface="Arial" pitchFamily="34" charset="-120"/>
              </a:rPr>
              <a:t>2026-10-20    1.0    27</a:t>
            </a:r>
            <a:endParaRPr lang="en-US" sz="900" dirty="0"/>
          </a:p>
        </p:txBody>
      </p:sp>
      <p:sp>
        <p:nvSpPr>
          <p:cNvPr id="5" name="Text 3"/>
          <p:cNvSpPr/>
          <p:nvPr/>
        </p:nvSpPr>
        <p:spPr>
          <a:xfrm>
            <a:off x="640080" y="1691640"/>
            <a:ext cx="10911535" cy="4526280"/>
          </a:xfrm>
          <a:prstGeom prst="rect">
            <a:avLst/>
          </a:prstGeom>
          <a:noFill/>
          <a:ln/>
        </p:spPr>
        <p:txBody>
          <a:bodyPr wrap="square" lIns="0" tIns="0" rIns="0" bIns="0" rtlCol="0" anchor="t">
            <a:normAutofit/>
          </a:bodyPr>
          <a:lstStyle/>
          <a:p>
            <a:pPr indent="0" marL="0">
              <a:buNone/>
            </a:pPr>
            <a:r>
              <a:rPr lang="en-US" sz="1700" dirty="0">
                <a:solidFill>
                  <a:srgbClr val="102A43"/>
                </a:solidFill>
                <a:latin typeface="Arial" pitchFamily="34" charset="0"/>
                <a:ea typeface="Arial" pitchFamily="34" charset="-122"/>
                <a:cs typeface="Arial" pitchFamily="34" charset="-120"/>
              </a:rPr>
              <a:t>Architecture and security / Core practices</a:t>
            </a:r>
            <a:endParaRPr lang="en-US" sz="1700" dirty="0"/>
          </a:p>
          <a:p>
            <a:pPr indent="0" marL="0">
              <a:buNone/>
            </a:pP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Apply least privilege, managed identities where supported and regular access reviews.</a:t>
            </a:r>
            <a:endParaRPr lang="en-US" sz="1700" dirty="0"/>
          </a:p>
          <a:p>
            <a:pPr indent="0" marL="0">
              <a:buNone/>
            </a:pP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Current: 4 · Managed</a:t>
            </a: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Target: 4 · Managed</a:t>
            </a: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Gap: 0    Priority: Medium    Weight: 1</a:t>
            </a:r>
            <a:endParaRPr lang="en-US" sz="1700" dirty="0"/>
          </a:p>
          <a:p>
            <a:pPr indent="0" marL="0">
              <a:buNone/>
            </a:pP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Owner: Solution architect    Target date: 2027-02-20</a:t>
            </a:r>
            <a:endParaRPr lang="en-US" sz="1700" dirty="0"/>
          </a:p>
          <a:p>
            <a:pPr indent="0" marL="0">
              <a:buNone/>
            </a:pP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Evidence</a:t>
            </a: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Illustrative evidence: Inspect role design, access review decisions and service account ownership. A sample review in September found the practice in two of four teams, with inconsistent follow-up.</a:t>
            </a:r>
            <a:endParaRPr lang="en-US" sz="17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7F9FB"/>
        </a:solidFill>
      </p:bgPr>
    </p:bg>
    <p:spTree>
      <p:nvGrpSpPr>
        <p:cNvPr id="1" name=""/>
        <p:cNvGrpSpPr/>
        <p:nvPr/>
      </p:nvGrpSpPr>
      <p:grpSpPr>
        <a:xfrm>
          <a:off x="0" y="0"/>
          <a:ext cx="0" cy="0"/>
          <a:chOff x="0" y="0"/>
          <a:chExt cx="0" cy="0"/>
        </a:xfrm>
      </p:grpSpPr>
      <p:sp>
        <p:nvSpPr>
          <p:cNvPr id="2" name="Text 0"/>
          <p:cNvSpPr/>
          <p:nvPr/>
        </p:nvSpPr>
        <p:spPr>
          <a:xfrm>
            <a:off x="548640" y="292608"/>
            <a:ext cx="11094415" cy="228600"/>
          </a:xfrm>
          <a:prstGeom prst="rect">
            <a:avLst/>
          </a:prstGeom>
          <a:noFill/>
          <a:ln/>
        </p:spPr>
        <p:txBody>
          <a:bodyPr wrap="square" lIns="0" tIns="0" rIns="0" bIns="0" rtlCol="0" anchor="ctr"/>
          <a:lstStyle/>
          <a:p>
            <a:pPr indent="0" marL="0">
              <a:buNone/>
            </a:pPr>
            <a:r>
              <a:rPr lang="en-US" sz="1000" b="1" dirty="0">
                <a:solidFill>
                  <a:srgbClr val="B44D2E"/>
                </a:solidFill>
                <a:latin typeface="Arial" pitchFamily="34" charset="0"/>
                <a:ea typeface="Arial" pitchFamily="34" charset="-122"/>
                <a:cs typeface="Arial" pitchFamily="34" charset="-120"/>
              </a:rPr>
              <a:t>CAPABILITY DETAILS</a:t>
            </a:r>
            <a:endParaRPr lang="en-US" sz="1000" dirty="0"/>
          </a:p>
        </p:txBody>
      </p:sp>
      <p:sp>
        <p:nvSpPr>
          <p:cNvPr id="3" name="Text 1"/>
          <p:cNvSpPr/>
          <p:nvPr/>
        </p:nvSpPr>
        <p:spPr>
          <a:xfrm>
            <a:off x="548640" y="777240"/>
            <a:ext cx="11094415" cy="685800"/>
          </a:xfrm>
          <a:prstGeom prst="rect">
            <a:avLst/>
          </a:prstGeom>
          <a:noFill/>
          <a:ln/>
        </p:spPr>
        <p:txBody>
          <a:bodyPr wrap="square" lIns="0" tIns="0" rIns="0" bIns="0" rtlCol="0" anchor="ctr">
            <a:normAutofit/>
          </a:bodyPr>
          <a:lstStyle/>
          <a:p>
            <a:pPr indent="0" marL="0">
              <a:buNone/>
            </a:pPr>
            <a:r>
              <a:rPr lang="en-US" sz="2700" b="1" dirty="0">
                <a:solidFill>
                  <a:srgbClr val="102A43"/>
                </a:solidFill>
                <a:latin typeface="Arial" pitchFamily="34" charset="0"/>
                <a:ea typeface="Arial" pitchFamily="34" charset="-122"/>
                <a:cs typeface="Arial" pitchFamily="34" charset="-120"/>
              </a:rPr>
              <a:t>Security and identity continued</a:t>
            </a:r>
            <a:endParaRPr lang="en-US" sz="2700" dirty="0"/>
          </a:p>
        </p:txBody>
      </p:sp>
      <p:sp>
        <p:nvSpPr>
          <p:cNvPr id="4" name="Text 2"/>
          <p:cNvSpPr/>
          <p:nvPr/>
        </p:nvSpPr>
        <p:spPr>
          <a:xfrm>
            <a:off x="548640" y="6492240"/>
            <a:ext cx="11094415" cy="182880"/>
          </a:xfrm>
          <a:prstGeom prst="rect">
            <a:avLst/>
          </a:prstGeom>
          <a:noFill/>
          <a:ln/>
        </p:spPr>
        <p:txBody>
          <a:bodyPr wrap="square" lIns="0" tIns="0" rIns="0" bIns="0" rtlCol="0" anchor="ctr"/>
          <a:lstStyle/>
          <a:p>
            <a:pPr indent="0" marL="0">
              <a:buNone/>
            </a:pPr>
            <a:r>
              <a:rPr lang="en-US" sz="900" dirty="0">
                <a:solidFill>
                  <a:srgbClr val="486581"/>
                </a:solidFill>
                <a:latin typeface="Arial" pitchFamily="34" charset="0"/>
                <a:ea typeface="Arial" pitchFamily="34" charset="-122"/>
                <a:cs typeface="Arial" pitchFamily="34" charset="-120"/>
              </a:rPr>
              <a:t>2026-10-20    1.0    28</a:t>
            </a:r>
            <a:endParaRPr lang="en-US" sz="900" dirty="0"/>
          </a:p>
        </p:txBody>
      </p:sp>
      <p:sp>
        <p:nvSpPr>
          <p:cNvPr id="5" name="Text 3"/>
          <p:cNvSpPr/>
          <p:nvPr/>
        </p:nvSpPr>
        <p:spPr>
          <a:xfrm>
            <a:off x="640080" y="1691640"/>
            <a:ext cx="10911535" cy="4526280"/>
          </a:xfrm>
          <a:prstGeom prst="rect">
            <a:avLst/>
          </a:prstGeom>
          <a:noFill/>
          <a:ln/>
        </p:spPr>
        <p:txBody>
          <a:bodyPr wrap="square" lIns="0" tIns="0" rIns="0" bIns="0" rtlCol="0" anchor="t">
            <a:normAutofit/>
          </a:bodyPr>
          <a:lstStyle/>
          <a:p>
            <a:pPr indent="0" marL="0">
              <a:buNone/>
            </a:pPr>
            <a:r>
              <a:rPr lang="en-US" sz="1700" dirty="0">
                <a:solidFill>
                  <a:srgbClr val="102A43"/>
                </a:solidFill>
                <a:latin typeface="Arial" pitchFamily="34" charset="0"/>
                <a:ea typeface="Arial" pitchFamily="34" charset="-122"/>
                <a:cs typeface="Arial" pitchFamily="34" charset="-120"/>
              </a:rPr>
              <a:t>Recommendations</a:t>
            </a: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Agree a consistent approach for security and identity, assign ownership, and review adoption at the next quarterly assessment.</a:t>
            </a:r>
            <a:endParaRPr lang="en-US" sz="1700" dirty="0"/>
          </a:p>
          <a:p>
            <a:pPr indent="0" marL="0">
              <a:buNone/>
            </a:pP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Notes</a:t>
            </a: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Fictional data supplied to demonstrate the tool. Replace with your own assessment.</a:t>
            </a:r>
            <a:endParaRPr lang="en-US" sz="1700" dirty="0"/>
          </a:p>
          <a:p>
            <a:pPr indent="0" marL="0">
              <a:buNone/>
            </a:pP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Assessment criteria</a:t>
            </a: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Met: Inspect role design, access review decisions and service account ownership.</a:t>
            </a: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Evidence: Illustrative review notes, September 2026.</a:t>
            </a:r>
            <a:endParaRPr lang="en-US" sz="1700" dirty="0"/>
          </a:p>
          <a:p>
            <a:pPr indent="0" marL="0">
              <a:buNone/>
            </a:pP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Not confirmed: Confirm consistent adoption across the agreed assessment scope, supported by dated evidence.</a:t>
            </a: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Evidence: Not recorded</a:t>
            </a:r>
            <a:endParaRPr lang="en-US" sz="17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7F9FB"/>
        </a:solidFill>
      </p:bgPr>
    </p:bg>
    <p:spTree>
      <p:nvGrpSpPr>
        <p:cNvPr id="1" name=""/>
        <p:cNvGrpSpPr/>
        <p:nvPr/>
      </p:nvGrpSpPr>
      <p:grpSpPr>
        <a:xfrm>
          <a:off x="0" y="0"/>
          <a:ext cx="0" cy="0"/>
          <a:chOff x="0" y="0"/>
          <a:chExt cx="0" cy="0"/>
        </a:xfrm>
      </p:grpSpPr>
      <p:sp>
        <p:nvSpPr>
          <p:cNvPr id="2" name="Text 0"/>
          <p:cNvSpPr/>
          <p:nvPr/>
        </p:nvSpPr>
        <p:spPr>
          <a:xfrm>
            <a:off x="548640" y="292608"/>
            <a:ext cx="11094415" cy="228600"/>
          </a:xfrm>
          <a:prstGeom prst="rect">
            <a:avLst/>
          </a:prstGeom>
          <a:noFill/>
          <a:ln/>
        </p:spPr>
        <p:txBody>
          <a:bodyPr wrap="square" lIns="0" tIns="0" rIns="0" bIns="0" rtlCol="0" anchor="ctr"/>
          <a:lstStyle/>
          <a:p>
            <a:pPr indent="0" marL="0">
              <a:buNone/>
            </a:pPr>
            <a:r>
              <a:rPr lang="en-US" sz="1000" b="1" dirty="0">
                <a:solidFill>
                  <a:srgbClr val="B44D2E"/>
                </a:solidFill>
                <a:latin typeface="Arial" pitchFamily="34" charset="0"/>
                <a:ea typeface="Arial" pitchFamily="34" charset="-122"/>
                <a:cs typeface="Arial" pitchFamily="34" charset="-120"/>
              </a:rPr>
              <a:t>CAPABILITY DETAILS</a:t>
            </a:r>
            <a:endParaRPr lang="en-US" sz="1000" dirty="0"/>
          </a:p>
        </p:txBody>
      </p:sp>
      <p:sp>
        <p:nvSpPr>
          <p:cNvPr id="3" name="Text 1"/>
          <p:cNvSpPr/>
          <p:nvPr/>
        </p:nvSpPr>
        <p:spPr>
          <a:xfrm>
            <a:off x="548640" y="777240"/>
            <a:ext cx="11094415" cy="685800"/>
          </a:xfrm>
          <a:prstGeom prst="rect">
            <a:avLst/>
          </a:prstGeom>
          <a:noFill/>
          <a:ln/>
        </p:spPr>
        <p:txBody>
          <a:bodyPr wrap="square" lIns="0" tIns="0" rIns="0" bIns="0" rtlCol="0" anchor="ctr">
            <a:normAutofit/>
          </a:bodyPr>
          <a:lstStyle/>
          <a:p>
            <a:pPr indent="0" marL="0">
              <a:buNone/>
            </a:pPr>
            <a:r>
              <a:rPr lang="en-US" sz="2700" b="1" dirty="0">
                <a:solidFill>
                  <a:srgbClr val="102A43"/>
                </a:solidFill>
                <a:latin typeface="Arial" pitchFamily="34" charset="0"/>
                <a:ea typeface="Arial" pitchFamily="34" charset="-122"/>
                <a:cs typeface="Arial" pitchFamily="34" charset="-120"/>
              </a:rPr>
              <a:t>Integration architecture</a:t>
            </a:r>
            <a:endParaRPr lang="en-US" sz="2700" dirty="0"/>
          </a:p>
        </p:txBody>
      </p:sp>
      <p:sp>
        <p:nvSpPr>
          <p:cNvPr id="4" name="Text 2"/>
          <p:cNvSpPr/>
          <p:nvPr/>
        </p:nvSpPr>
        <p:spPr>
          <a:xfrm>
            <a:off x="548640" y="6492240"/>
            <a:ext cx="11094415" cy="182880"/>
          </a:xfrm>
          <a:prstGeom prst="rect">
            <a:avLst/>
          </a:prstGeom>
          <a:noFill/>
          <a:ln/>
        </p:spPr>
        <p:txBody>
          <a:bodyPr wrap="square" lIns="0" tIns="0" rIns="0" bIns="0" rtlCol="0" anchor="ctr"/>
          <a:lstStyle/>
          <a:p>
            <a:pPr indent="0" marL="0">
              <a:buNone/>
            </a:pPr>
            <a:r>
              <a:rPr lang="en-US" sz="900" dirty="0">
                <a:solidFill>
                  <a:srgbClr val="486581"/>
                </a:solidFill>
                <a:latin typeface="Arial" pitchFamily="34" charset="0"/>
                <a:ea typeface="Arial" pitchFamily="34" charset="-122"/>
                <a:cs typeface="Arial" pitchFamily="34" charset="-120"/>
              </a:rPr>
              <a:t>2026-10-20    1.0    29</a:t>
            </a:r>
            <a:endParaRPr lang="en-US" sz="900" dirty="0"/>
          </a:p>
        </p:txBody>
      </p:sp>
      <p:sp>
        <p:nvSpPr>
          <p:cNvPr id="5" name="Text 3"/>
          <p:cNvSpPr/>
          <p:nvPr/>
        </p:nvSpPr>
        <p:spPr>
          <a:xfrm>
            <a:off x="640080" y="1691640"/>
            <a:ext cx="10911535" cy="4526280"/>
          </a:xfrm>
          <a:prstGeom prst="rect">
            <a:avLst/>
          </a:prstGeom>
          <a:noFill/>
          <a:ln/>
        </p:spPr>
        <p:txBody>
          <a:bodyPr wrap="square" lIns="0" tIns="0" rIns="0" bIns="0" rtlCol="0" anchor="t">
            <a:normAutofit/>
          </a:bodyPr>
          <a:lstStyle/>
          <a:p>
            <a:pPr indent="0" marL="0">
              <a:buNone/>
            </a:pPr>
            <a:r>
              <a:rPr lang="en-US" sz="1700" dirty="0">
                <a:solidFill>
                  <a:srgbClr val="102A43"/>
                </a:solidFill>
                <a:latin typeface="Arial" pitchFamily="34" charset="0"/>
                <a:ea typeface="Arial" pitchFamily="34" charset="-122"/>
                <a:cs typeface="Arial" pitchFamily="34" charset="-120"/>
              </a:rPr>
              <a:t>Architecture and security / Core practices</a:t>
            </a:r>
            <a:endParaRPr lang="en-US" sz="1700" dirty="0"/>
          </a:p>
          <a:p>
            <a:pPr indent="0" marL="0">
              <a:buNone/>
            </a:pP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Design integration contracts, error handling and recovery across platform boundaries.</a:t>
            </a:r>
            <a:endParaRPr lang="en-US" sz="1700" dirty="0"/>
          </a:p>
          <a:p>
            <a:pPr indent="0" marL="0">
              <a:buNone/>
            </a:pP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Current: 2 · Developing</a:t>
            </a: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Target: 5 · Optimised</a:t>
            </a: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Gap: 3    Priority: High    Weight: 1</a:t>
            </a:r>
            <a:endParaRPr lang="en-US" sz="1700" dirty="0"/>
          </a:p>
          <a:p>
            <a:pPr indent="0" marL="0">
              <a:buNone/>
            </a:pP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Owner: Solution architect    Target date: 2027-02-20</a:t>
            </a:r>
            <a:endParaRPr lang="en-US" sz="1700" dirty="0"/>
          </a:p>
          <a:p>
            <a:pPr indent="0" marL="0">
              <a:buNone/>
            </a:pP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Evidence</a:t>
            </a: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Illustrative evidence: Trace a failed integration through monitoring and recovery. A sample review in September found the practice in two of four teams, with inconsistent follow-up.</a:t>
            </a:r>
            <a:endParaRPr lang="en-US" sz="17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7F9FB"/>
        </a:solidFill>
      </p:bgPr>
    </p:bg>
    <p:spTree>
      <p:nvGrpSpPr>
        <p:cNvPr id="1" name=""/>
        <p:cNvGrpSpPr/>
        <p:nvPr/>
      </p:nvGrpSpPr>
      <p:grpSpPr>
        <a:xfrm>
          <a:off x="0" y="0"/>
          <a:ext cx="0" cy="0"/>
          <a:chOff x="0" y="0"/>
          <a:chExt cx="0" cy="0"/>
        </a:xfrm>
      </p:grpSpPr>
      <p:sp>
        <p:nvSpPr>
          <p:cNvPr id="2" name="Text 0"/>
          <p:cNvSpPr/>
          <p:nvPr/>
        </p:nvSpPr>
        <p:spPr>
          <a:xfrm>
            <a:off x="548640" y="292608"/>
            <a:ext cx="11094415" cy="228600"/>
          </a:xfrm>
          <a:prstGeom prst="rect">
            <a:avLst/>
          </a:prstGeom>
          <a:noFill/>
          <a:ln/>
        </p:spPr>
        <p:txBody>
          <a:bodyPr wrap="square" lIns="0" tIns="0" rIns="0" bIns="0" rtlCol="0" anchor="ctr"/>
          <a:lstStyle/>
          <a:p>
            <a:pPr indent="0" marL="0">
              <a:buNone/>
            </a:pPr>
            <a:r>
              <a:rPr lang="en-US" sz="1000" b="1" dirty="0">
                <a:solidFill>
                  <a:srgbClr val="B44D2E"/>
                </a:solidFill>
                <a:latin typeface="Arial" pitchFamily="34" charset="0"/>
                <a:ea typeface="Arial" pitchFamily="34" charset="-122"/>
                <a:cs typeface="Arial" pitchFamily="34" charset="-120"/>
              </a:rPr>
              <a:t>CAPABILITY DETAILS</a:t>
            </a:r>
            <a:endParaRPr lang="en-US" sz="1000" dirty="0"/>
          </a:p>
        </p:txBody>
      </p:sp>
      <p:sp>
        <p:nvSpPr>
          <p:cNvPr id="3" name="Text 1"/>
          <p:cNvSpPr/>
          <p:nvPr/>
        </p:nvSpPr>
        <p:spPr>
          <a:xfrm>
            <a:off x="548640" y="777240"/>
            <a:ext cx="11094415" cy="685800"/>
          </a:xfrm>
          <a:prstGeom prst="rect">
            <a:avLst/>
          </a:prstGeom>
          <a:noFill/>
          <a:ln/>
        </p:spPr>
        <p:txBody>
          <a:bodyPr wrap="square" lIns="0" tIns="0" rIns="0" bIns="0" rtlCol="0" anchor="ctr">
            <a:normAutofit/>
          </a:bodyPr>
          <a:lstStyle/>
          <a:p>
            <a:pPr indent="0" marL="0">
              <a:buNone/>
            </a:pPr>
            <a:r>
              <a:rPr lang="en-US" sz="2700" b="1" dirty="0">
                <a:solidFill>
                  <a:srgbClr val="102A43"/>
                </a:solidFill>
                <a:latin typeface="Arial" pitchFamily="34" charset="0"/>
                <a:ea typeface="Arial" pitchFamily="34" charset="-122"/>
                <a:cs typeface="Arial" pitchFamily="34" charset="-120"/>
              </a:rPr>
              <a:t>Integration architecture continued</a:t>
            </a:r>
            <a:endParaRPr lang="en-US" sz="2700" dirty="0"/>
          </a:p>
        </p:txBody>
      </p:sp>
      <p:sp>
        <p:nvSpPr>
          <p:cNvPr id="4" name="Text 2"/>
          <p:cNvSpPr/>
          <p:nvPr/>
        </p:nvSpPr>
        <p:spPr>
          <a:xfrm>
            <a:off x="548640" y="6492240"/>
            <a:ext cx="11094415" cy="182880"/>
          </a:xfrm>
          <a:prstGeom prst="rect">
            <a:avLst/>
          </a:prstGeom>
          <a:noFill/>
          <a:ln/>
        </p:spPr>
        <p:txBody>
          <a:bodyPr wrap="square" lIns="0" tIns="0" rIns="0" bIns="0" rtlCol="0" anchor="ctr"/>
          <a:lstStyle/>
          <a:p>
            <a:pPr indent="0" marL="0">
              <a:buNone/>
            </a:pPr>
            <a:r>
              <a:rPr lang="en-US" sz="900" dirty="0">
                <a:solidFill>
                  <a:srgbClr val="486581"/>
                </a:solidFill>
                <a:latin typeface="Arial" pitchFamily="34" charset="0"/>
                <a:ea typeface="Arial" pitchFamily="34" charset="-122"/>
                <a:cs typeface="Arial" pitchFamily="34" charset="-120"/>
              </a:rPr>
              <a:t>2026-10-20    1.0    30</a:t>
            </a:r>
            <a:endParaRPr lang="en-US" sz="900" dirty="0"/>
          </a:p>
        </p:txBody>
      </p:sp>
      <p:sp>
        <p:nvSpPr>
          <p:cNvPr id="5" name="Text 3"/>
          <p:cNvSpPr/>
          <p:nvPr/>
        </p:nvSpPr>
        <p:spPr>
          <a:xfrm>
            <a:off x="640080" y="1691640"/>
            <a:ext cx="10911535" cy="4526280"/>
          </a:xfrm>
          <a:prstGeom prst="rect">
            <a:avLst/>
          </a:prstGeom>
          <a:noFill/>
          <a:ln/>
        </p:spPr>
        <p:txBody>
          <a:bodyPr wrap="square" lIns="0" tIns="0" rIns="0" bIns="0" rtlCol="0" anchor="t">
            <a:normAutofit/>
          </a:bodyPr>
          <a:lstStyle/>
          <a:p>
            <a:pPr indent="0" marL="0">
              <a:buNone/>
            </a:pPr>
            <a:r>
              <a:rPr lang="en-US" sz="1700" dirty="0">
                <a:solidFill>
                  <a:srgbClr val="102A43"/>
                </a:solidFill>
                <a:latin typeface="Arial" pitchFamily="34" charset="0"/>
                <a:ea typeface="Arial" pitchFamily="34" charset="-122"/>
                <a:cs typeface="Arial" pitchFamily="34" charset="-120"/>
              </a:rPr>
              <a:t>Recommendations</a:t>
            </a: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Agree a consistent approach for integration architecture, assign ownership, and review adoption at the next quarterly assessment.</a:t>
            </a:r>
            <a:endParaRPr lang="en-US" sz="1700" dirty="0"/>
          </a:p>
          <a:p>
            <a:pPr indent="0" marL="0">
              <a:buNone/>
            </a:pP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Notes</a:t>
            </a: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Fictional data supplied to demonstrate the tool. Replace with your own assessment.</a:t>
            </a:r>
            <a:endParaRPr lang="en-US" sz="1700" dirty="0"/>
          </a:p>
          <a:p>
            <a:pPr indent="0" marL="0">
              <a:buNone/>
            </a:pP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Assessment criteria</a:t>
            </a: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Met: Trace a failed integration through monitoring and recovery.</a:t>
            </a: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Evidence: Illustrative review notes, September 2026.</a:t>
            </a:r>
            <a:endParaRPr lang="en-US" sz="1700" dirty="0"/>
          </a:p>
          <a:p>
            <a:pPr indent="0" marL="0">
              <a:buNone/>
            </a:pP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Not confirmed: Confirm consistent adoption across the agreed assessment scope, supported by dated evidence.</a:t>
            </a: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Evidence: Not recorded</a:t>
            </a:r>
            <a:endParaRPr lang="en-US" sz="17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7F9FB"/>
        </a:solidFill>
      </p:bgPr>
    </p:bg>
    <p:spTree>
      <p:nvGrpSpPr>
        <p:cNvPr id="1" name=""/>
        <p:cNvGrpSpPr/>
        <p:nvPr/>
      </p:nvGrpSpPr>
      <p:grpSpPr>
        <a:xfrm>
          <a:off x="0" y="0"/>
          <a:ext cx="0" cy="0"/>
          <a:chOff x="0" y="0"/>
          <a:chExt cx="0" cy="0"/>
        </a:xfrm>
      </p:grpSpPr>
      <p:sp>
        <p:nvSpPr>
          <p:cNvPr id="2" name="Text 0"/>
          <p:cNvSpPr/>
          <p:nvPr/>
        </p:nvSpPr>
        <p:spPr>
          <a:xfrm>
            <a:off x="548640" y="292608"/>
            <a:ext cx="11094415" cy="228600"/>
          </a:xfrm>
          <a:prstGeom prst="rect">
            <a:avLst/>
          </a:prstGeom>
          <a:noFill/>
          <a:ln/>
        </p:spPr>
        <p:txBody>
          <a:bodyPr wrap="square" lIns="0" tIns="0" rIns="0" bIns="0" rtlCol="0" anchor="ctr"/>
          <a:lstStyle/>
          <a:p>
            <a:pPr indent="0" marL="0">
              <a:buNone/>
            </a:pPr>
            <a:r>
              <a:rPr lang="en-US" sz="1000" b="1" dirty="0">
                <a:solidFill>
                  <a:srgbClr val="B44D2E"/>
                </a:solidFill>
                <a:latin typeface="Arial" pitchFamily="34" charset="0"/>
                <a:ea typeface="Arial" pitchFamily="34" charset="-122"/>
                <a:cs typeface="Arial" pitchFamily="34" charset="-120"/>
              </a:rPr>
              <a:t>CAPABILITY DETAILS</a:t>
            </a:r>
            <a:endParaRPr lang="en-US" sz="1000" dirty="0"/>
          </a:p>
        </p:txBody>
      </p:sp>
      <p:sp>
        <p:nvSpPr>
          <p:cNvPr id="3" name="Text 1"/>
          <p:cNvSpPr/>
          <p:nvPr/>
        </p:nvSpPr>
        <p:spPr>
          <a:xfrm>
            <a:off x="548640" y="777240"/>
            <a:ext cx="11094415" cy="685800"/>
          </a:xfrm>
          <a:prstGeom prst="rect">
            <a:avLst/>
          </a:prstGeom>
          <a:noFill/>
          <a:ln/>
        </p:spPr>
        <p:txBody>
          <a:bodyPr wrap="square" lIns="0" tIns="0" rIns="0" bIns="0" rtlCol="0" anchor="ctr">
            <a:normAutofit/>
          </a:bodyPr>
          <a:lstStyle/>
          <a:p>
            <a:pPr indent="0" marL="0">
              <a:buNone/>
            </a:pPr>
            <a:r>
              <a:rPr lang="en-US" sz="2700" b="1" dirty="0">
                <a:solidFill>
                  <a:srgbClr val="102A43"/>
                </a:solidFill>
                <a:latin typeface="Arial" pitchFamily="34" charset="0"/>
                <a:ea typeface="Arial" pitchFamily="34" charset="-122"/>
                <a:cs typeface="Arial" pitchFamily="34" charset="-120"/>
              </a:rPr>
              <a:t>Application lifecycle management</a:t>
            </a:r>
            <a:endParaRPr lang="en-US" sz="2700" dirty="0"/>
          </a:p>
        </p:txBody>
      </p:sp>
      <p:sp>
        <p:nvSpPr>
          <p:cNvPr id="4" name="Text 2"/>
          <p:cNvSpPr/>
          <p:nvPr/>
        </p:nvSpPr>
        <p:spPr>
          <a:xfrm>
            <a:off x="548640" y="6492240"/>
            <a:ext cx="11094415" cy="182880"/>
          </a:xfrm>
          <a:prstGeom prst="rect">
            <a:avLst/>
          </a:prstGeom>
          <a:noFill/>
          <a:ln/>
        </p:spPr>
        <p:txBody>
          <a:bodyPr wrap="square" lIns="0" tIns="0" rIns="0" bIns="0" rtlCol="0" anchor="ctr"/>
          <a:lstStyle/>
          <a:p>
            <a:pPr indent="0" marL="0">
              <a:buNone/>
            </a:pPr>
            <a:r>
              <a:rPr lang="en-US" sz="900" dirty="0">
                <a:solidFill>
                  <a:srgbClr val="486581"/>
                </a:solidFill>
                <a:latin typeface="Arial" pitchFamily="34" charset="0"/>
                <a:ea typeface="Arial" pitchFamily="34" charset="-122"/>
                <a:cs typeface="Arial" pitchFamily="34" charset="-120"/>
              </a:rPr>
              <a:t>2026-10-20    1.0    31</a:t>
            </a:r>
            <a:endParaRPr lang="en-US" sz="900" dirty="0"/>
          </a:p>
        </p:txBody>
      </p:sp>
      <p:sp>
        <p:nvSpPr>
          <p:cNvPr id="5" name="Text 3"/>
          <p:cNvSpPr/>
          <p:nvPr/>
        </p:nvSpPr>
        <p:spPr>
          <a:xfrm>
            <a:off x="640080" y="1691640"/>
            <a:ext cx="10911535" cy="4526280"/>
          </a:xfrm>
          <a:prstGeom prst="rect">
            <a:avLst/>
          </a:prstGeom>
          <a:noFill/>
          <a:ln/>
        </p:spPr>
        <p:txBody>
          <a:bodyPr wrap="square" lIns="0" tIns="0" rIns="0" bIns="0" rtlCol="0" anchor="t">
            <a:normAutofit/>
          </a:bodyPr>
          <a:lstStyle/>
          <a:p>
            <a:pPr indent="0" marL="0">
              <a:buNone/>
            </a:pPr>
            <a:r>
              <a:rPr lang="en-US" sz="1700" dirty="0">
                <a:solidFill>
                  <a:srgbClr val="102A43"/>
                </a:solidFill>
                <a:latin typeface="Arial" pitchFamily="34" charset="0"/>
                <a:ea typeface="Arial" pitchFamily="34" charset="-122"/>
                <a:cs typeface="Arial" pitchFamily="34" charset="-120"/>
              </a:rPr>
              <a:t>Engineering and delivery / Core practices</a:t>
            </a:r>
            <a:endParaRPr lang="en-US" sz="1700" dirty="0"/>
          </a:p>
          <a:p>
            <a:pPr indent="0" marL="0">
              <a:buNone/>
            </a:pP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Keep solution changes in source control and promote managed artefacts consistently.</a:t>
            </a:r>
            <a:endParaRPr lang="en-US" sz="1700" dirty="0"/>
          </a:p>
          <a:p>
            <a:pPr indent="0" marL="0">
              <a:buNone/>
            </a:pP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Current: 3 · Defined</a:t>
            </a: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Target: 5 · Optimised</a:t>
            </a: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Gap: 2    Priority: High    Weight: 2</a:t>
            </a:r>
            <a:endParaRPr lang="en-US" sz="1700" dirty="0"/>
          </a:p>
          <a:p>
            <a:pPr indent="0" marL="0">
              <a:buNone/>
            </a:pP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Owner: Engineering lead    Target date: 2027-03-20</a:t>
            </a:r>
            <a:endParaRPr lang="en-US" sz="1700" dirty="0"/>
          </a:p>
          <a:p>
            <a:pPr indent="0" marL="0">
              <a:buNone/>
            </a:pP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Evidence</a:t>
            </a: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Illustrative evidence: Trace a production solution to source history and deployment evidence. A sample review in September found the practice in two of four teams, with inconsistent follow-up.</a:t>
            </a:r>
            <a:endParaRPr lang="en-US" sz="17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7F9FB"/>
        </a:solidFill>
      </p:bgPr>
    </p:bg>
    <p:spTree>
      <p:nvGrpSpPr>
        <p:cNvPr id="1" name=""/>
        <p:cNvGrpSpPr/>
        <p:nvPr/>
      </p:nvGrpSpPr>
      <p:grpSpPr>
        <a:xfrm>
          <a:off x="0" y="0"/>
          <a:ext cx="0" cy="0"/>
          <a:chOff x="0" y="0"/>
          <a:chExt cx="0" cy="0"/>
        </a:xfrm>
      </p:grpSpPr>
      <p:sp>
        <p:nvSpPr>
          <p:cNvPr id="2" name="Text 0"/>
          <p:cNvSpPr/>
          <p:nvPr/>
        </p:nvSpPr>
        <p:spPr>
          <a:xfrm>
            <a:off x="548640" y="292608"/>
            <a:ext cx="11094415" cy="228600"/>
          </a:xfrm>
          <a:prstGeom prst="rect">
            <a:avLst/>
          </a:prstGeom>
          <a:noFill/>
          <a:ln/>
        </p:spPr>
        <p:txBody>
          <a:bodyPr wrap="square" lIns="0" tIns="0" rIns="0" bIns="0" rtlCol="0" anchor="ctr"/>
          <a:lstStyle/>
          <a:p>
            <a:pPr indent="0" marL="0">
              <a:buNone/>
            </a:pPr>
            <a:r>
              <a:rPr lang="en-US" sz="1000" b="1" dirty="0">
                <a:solidFill>
                  <a:srgbClr val="B44D2E"/>
                </a:solidFill>
                <a:latin typeface="Arial" pitchFamily="34" charset="0"/>
                <a:ea typeface="Arial" pitchFamily="34" charset="-122"/>
                <a:cs typeface="Arial" pitchFamily="34" charset="-120"/>
              </a:rPr>
              <a:t>CAPABILITY DETAILS</a:t>
            </a:r>
            <a:endParaRPr lang="en-US" sz="1000" dirty="0"/>
          </a:p>
        </p:txBody>
      </p:sp>
      <p:sp>
        <p:nvSpPr>
          <p:cNvPr id="3" name="Text 1"/>
          <p:cNvSpPr/>
          <p:nvPr/>
        </p:nvSpPr>
        <p:spPr>
          <a:xfrm>
            <a:off x="548640" y="777240"/>
            <a:ext cx="11094415" cy="685800"/>
          </a:xfrm>
          <a:prstGeom prst="rect">
            <a:avLst/>
          </a:prstGeom>
          <a:noFill/>
          <a:ln/>
        </p:spPr>
        <p:txBody>
          <a:bodyPr wrap="square" lIns="0" tIns="0" rIns="0" bIns="0" rtlCol="0" anchor="ctr">
            <a:normAutofit/>
          </a:bodyPr>
          <a:lstStyle/>
          <a:p>
            <a:pPr indent="0" marL="0">
              <a:buNone/>
            </a:pPr>
            <a:r>
              <a:rPr lang="en-US" sz="2700" b="1" dirty="0">
                <a:solidFill>
                  <a:srgbClr val="102A43"/>
                </a:solidFill>
                <a:latin typeface="Arial" pitchFamily="34" charset="0"/>
                <a:ea typeface="Arial" pitchFamily="34" charset="-122"/>
                <a:cs typeface="Arial" pitchFamily="34" charset="-120"/>
              </a:rPr>
              <a:t>Application lifecycle management continued</a:t>
            </a:r>
            <a:endParaRPr lang="en-US" sz="2700" dirty="0"/>
          </a:p>
        </p:txBody>
      </p:sp>
      <p:sp>
        <p:nvSpPr>
          <p:cNvPr id="4" name="Text 2"/>
          <p:cNvSpPr/>
          <p:nvPr/>
        </p:nvSpPr>
        <p:spPr>
          <a:xfrm>
            <a:off x="548640" y="6492240"/>
            <a:ext cx="11094415" cy="182880"/>
          </a:xfrm>
          <a:prstGeom prst="rect">
            <a:avLst/>
          </a:prstGeom>
          <a:noFill/>
          <a:ln/>
        </p:spPr>
        <p:txBody>
          <a:bodyPr wrap="square" lIns="0" tIns="0" rIns="0" bIns="0" rtlCol="0" anchor="ctr"/>
          <a:lstStyle/>
          <a:p>
            <a:pPr indent="0" marL="0">
              <a:buNone/>
            </a:pPr>
            <a:r>
              <a:rPr lang="en-US" sz="900" dirty="0">
                <a:solidFill>
                  <a:srgbClr val="486581"/>
                </a:solidFill>
                <a:latin typeface="Arial" pitchFamily="34" charset="0"/>
                <a:ea typeface="Arial" pitchFamily="34" charset="-122"/>
                <a:cs typeface="Arial" pitchFamily="34" charset="-120"/>
              </a:rPr>
              <a:t>2026-10-20    1.0    32</a:t>
            </a:r>
            <a:endParaRPr lang="en-US" sz="900" dirty="0"/>
          </a:p>
        </p:txBody>
      </p:sp>
      <p:sp>
        <p:nvSpPr>
          <p:cNvPr id="5" name="Text 3"/>
          <p:cNvSpPr/>
          <p:nvPr/>
        </p:nvSpPr>
        <p:spPr>
          <a:xfrm>
            <a:off x="640080" y="1691640"/>
            <a:ext cx="10911535" cy="4526280"/>
          </a:xfrm>
          <a:prstGeom prst="rect">
            <a:avLst/>
          </a:prstGeom>
          <a:noFill/>
          <a:ln/>
        </p:spPr>
        <p:txBody>
          <a:bodyPr wrap="square" lIns="0" tIns="0" rIns="0" bIns="0" rtlCol="0" anchor="t">
            <a:normAutofit/>
          </a:bodyPr>
          <a:lstStyle/>
          <a:p>
            <a:pPr indent="0" marL="0">
              <a:buNone/>
            </a:pPr>
            <a:r>
              <a:rPr lang="en-US" sz="1700" dirty="0">
                <a:solidFill>
                  <a:srgbClr val="102A43"/>
                </a:solidFill>
                <a:latin typeface="Arial" pitchFamily="34" charset="0"/>
                <a:ea typeface="Arial" pitchFamily="34" charset="-122"/>
                <a:cs typeface="Arial" pitchFamily="34" charset="-120"/>
              </a:rPr>
              <a:t>Recommendations</a:t>
            </a: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Agree a consistent approach for application lifecycle management, assign ownership, and review adoption at the next quarterly assessment.</a:t>
            </a:r>
            <a:endParaRPr lang="en-US" sz="1700" dirty="0"/>
          </a:p>
          <a:p>
            <a:pPr indent="0" marL="0">
              <a:buNone/>
            </a:pP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Risks and issues</a:t>
            </a: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Inconsistent adoption could leave critical services without a clear accountable owner.</a:t>
            </a:r>
            <a:endParaRPr lang="en-US" sz="1700" dirty="0"/>
          </a:p>
          <a:p>
            <a:pPr indent="0" marL="0">
              <a:buNone/>
            </a:pP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Notes</a:t>
            </a: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Fictional data supplied to demonstrate the tool. Replace with your own assessment.</a:t>
            </a:r>
            <a:endParaRPr lang="en-US" sz="17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7F9FB"/>
        </a:solidFill>
      </p:bgPr>
    </p:bg>
    <p:spTree>
      <p:nvGrpSpPr>
        <p:cNvPr id="1" name=""/>
        <p:cNvGrpSpPr/>
        <p:nvPr/>
      </p:nvGrpSpPr>
      <p:grpSpPr>
        <a:xfrm>
          <a:off x="0" y="0"/>
          <a:ext cx="0" cy="0"/>
          <a:chOff x="0" y="0"/>
          <a:chExt cx="0" cy="0"/>
        </a:xfrm>
      </p:grpSpPr>
      <p:sp>
        <p:nvSpPr>
          <p:cNvPr id="2" name="Text 0"/>
          <p:cNvSpPr/>
          <p:nvPr/>
        </p:nvSpPr>
        <p:spPr>
          <a:xfrm>
            <a:off x="548640" y="292608"/>
            <a:ext cx="11094415" cy="228600"/>
          </a:xfrm>
          <a:prstGeom prst="rect">
            <a:avLst/>
          </a:prstGeom>
          <a:noFill/>
          <a:ln/>
        </p:spPr>
        <p:txBody>
          <a:bodyPr wrap="square" lIns="0" tIns="0" rIns="0" bIns="0" rtlCol="0" anchor="ctr"/>
          <a:lstStyle/>
          <a:p>
            <a:pPr indent="0" marL="0">
              <a:buNone/>
            </a:pPr>
            <a:r>
              <a:rPr lang="en-US" sz="1000" b="1" dirty="0">
                <a:solidFill>
                  <a:srgbClr val="B44D2E"/>
                </a:solidFill>
                <a:latin typeface="Arial" pitchFamily="34" charset="0"/>
                <a:ea typeface="Arial" pitchFamily="34" charset="-122"/>
                <a:cs typeface="Arial" pitchFamily="34" charset="-120"/>
              </a:rPr>
              <a:t>CAPABILITY DETAILS</a:t>
            </a:r>
            <a:endParaRPr lang="en-US" sz="1000" dirty="0"/>
          </a:p>
        </p:txBody>
      </p:sp>
      <p:sp>
        <p:nvSpPr>
          <p:cNvPr id="3" name="Text 1"/>
          <p:cNvSpPr/>
          <p:nvPr/>
        </p:nvSpPr>
        <p:spPr>
          <a:xfrm>
            <a:off x="548640" y="777240"/>
            <a:ext cx="11094415" cy="685800"/>
          </a:xfrm>
          <a:prstGeom prst="rect">
            <a:avLst/>
          </a:prstGeom>
          <a:noFill/>
          <a:ln/>
        </p:spPr>
        <p:txBody>
          <a:bodyPr wrap="square" lIns="0" tIns="0" rIns="0" bIns="0" rtlCol="0" anchor="ctr">
            <a:normAutofit/>
          </a:bodyPr>
          <a:lstStyle/>
          <a:p>
            <a:pPr indent="0" marL="0">
              <a:buNone/>
            </a:pPr>
            <a:r>
              <a:rPr lang="en-US" sz="2700" b="1" dirty="0">
                <a:solidFill>
                  <a:srgbClr val="102A43"/>
                </a:solidFill>
                <a:latin typeface="Arial" pitchFamily="34" charset="0"/>
                <a:ea typeface="Arial" pitchFamily="34" charset="-122"/>
                <a:cs typeface="Arial" pitchFamily="34" charset="-120"/>
              </a:rPr>
              <a:t>Application lifecycle management continued</a:t>
            </a:r>
            <a:endParaRPr lang="en-US" sz="2700" dirty="0"/>
          </a:p>
        </p:txBody>
      </p:sp>
      <p:sp>
        <p:nvSpPr>
          <p:cNvPr id="4" name="Text 2"/>
          <p:cNvSpPr/>
          <p:nvPr/>
        </p:nvSpPr>
        <p:spPr>
          <a:xfrm>
            <a:off x="548640" y="6492240"/>
            <a:ext cx="11094415" cy="182880"/>
          </a:xfrm>
          <a:prstGeom prst="rect">
            <a:avLst/>
          </a:prstGeom>
          <a:noFill/>
          <a:ln/>
        </p:spPr>
        <p:txBody>
          <a:bodyPr wrap="square" lIns="0" tIns="0" rIns="0" bIns="0" rtlCol="0" anchor="ctr"/>
          <a:lstStyle/>
          <a:p>
            <a:pPr indent="0" marL="0">
              <a:buNone/>
            </a:pPr>
            <a:r>
              <a:rPr lang="en-US" sz="900" dirty="0">
                <a:solidFill>
                  <a:srgbClr val="486581"/>
                </a:solidFill>
                <a:latin typeface="Arial" pitchFamily="34" charset="0"/>
                <a:ea typeface="Arial" pitchFamily="34" charset="-122"/>
                <a:cs typeface="Arial" pitchFamily="34" charset="-120"/>
              </a:rPr>
              <a:t>2026-10-20    1.0    33</a:t>
            </a:r>
            <a:endParaRPr lang="en-US" sz="900" dirty="0"/>
          </a:p>
        </p:txBody>
      </p:sp>
      <p:sp>
        <p:nvSpPr>
          <p:cNvPr id="5" name="Text 3"/>
          <p:cNvSpPr/>
          <p:nvPr/>
        </p:nvSpPr>
        <p:spPr>
          <a:xfrm>
            <a:off x="640080" y="1691640"/>
            <a:ext cx="10911535" cy="4526280"/>
          </a:xfrm>
          <a:prstGeom prst="rect">
            <a:avLst/>
          </a:prstGeom>
          <a:noFill/>
          <a:ln/>
        </p:spPr>
        <p:txBody>
          <a:bodyPr wrap="square" lIns="0" tIns="0" rIns="0" bIns="0" rtlCol="0" anchor="t">
            <a:normAutofit/>
          </a:bodyPr>
          <a:lstStyle/>
          <a:p>
            <a:pPr indent="0" marL="0">
              <a:buNone/>
            </a:pPr>
            <a:r>
              <a:rPr lang="en-US" sz="1700" dirty="0">
                <a:solidFill>
                  <a:srgbClr val="102A43"/>
                </a:solidFill>
                <a:latin typeface="Arial" pitchFamily="34" charset="0"/>
                <a:ea typeface="Arial" pitchFamily="34" charset="-122"/>
                <a:cs typeface="Arial" pitchFamily="34" charset="-120"/>
              </a:rPr>
              <a:t>Assessment criteria</a:t>
            </a: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Met: Trace a production solution to source history and deployment evidence.</a:t>
            </a: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Evidence: Illustrative review notes, September 2026.</a:t>
            </a:r>
            <a:endParaRPr lang="en-US" sz="1700" dirty="0"/>
          </a:p>
          <a:p>
            <a:pPr indent="0" marL="0">
              <a:buNone/>
            </a:pP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Not confirmed: Confirm consistent adoption across the agreed assessment scope, supported by dated evidence.</a:t>
            </a: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Evidence: Not recorded</a:t>
            </a:r>
            <a:endParaRPr lang="en-US" sz="17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7F9FB"/>
        </a:solidFill>
      </p:bgPr>
    </p:bg>
    <p:spTree>
      <p:nvGrpSpPr>
        <p:cNvPr id="1" name=""/>
        <p:cNvGrpSpPr/>
        <p:nvPr/>
      </p:nvGrpSpPr>
      <p:grpSpPr>
        <a:xfrm>
          <a:off x="0" y="0"/>
          <a:ext cx="0" cy="0"/>
          <a:chOff x="0" y="0"/>
          <a:chExt cx="0" cy="0"/>
        </a:xfrm>
      </p:grpSpPr>
      <p:sp>
        <p:nvSpPr>
          <p:cNvPr id="2" name="Text 0"/>
          <p:cNvSpPr/>
          <p:nvPr/>
        </p:nvSpPr>
        <p:spPr>
          <a:xfrm>
            <a:off x="548640" y="292608"/>
            <a:ext cx="11094415" cy="228600"/>
          </a:xfrm>
          <a:prstGeom prst="rect">
            <a:avLst/>
          </a:prstGeom>
          <a:noFill/>
          <a:ln/>
        </p:spPr>
        <p:txBody>
          <a:bodyPr wrap="square" lIns="0" tIns="0" rIns="0" bIns="0" rtlCol="0" anchor="ctr"/>
          <a:lstStyle/>
          <a:p>
            <a:pPr indent="0" marL="0">
              <a:buNone/>
            </a:pPr>
            <a:r>
              <a:rPr lang="en-US" sz="1000" b="1" dirty="0">
                <a:solidFill>
                  <a:srgbClr val="B44D2E"/>
                </a:solidFill>
                <a:latin typeface="Arial" pitchFamily="34" charset="0"/>
                <a:ea typeface="Arial" pitchFamily="34" charset="-122"/>
                <a:cs typeface="Arial" pitchFamily="34" charset="-120"/>
              </a:rPr>
              <a:t>CAPABILITY DETAILS</a:t>
            </a:r>
            <a:endParaRPr lang="en-US" sz="1000" dirty="0"/>
          </a:p>
        </p:txBody>
      </p:sp>
      <p:sp>
        <p:nvSpPr>
          <p:cNvPr id="3" name="Text 1"/>
          <p:cNvSpPr/>
          <p:nvPr/>
        </p:nvSpPr>
        <p:spPr>
          <a:xfrm>
            <a:off x="548640" y="777240"/>
            <a:ext cx="11094415" cy="685800"/>
          </a:xfrm>
          <a:prstGeom prst="rect">
            <a:avLst/>
          </a:prstGeom>
          <a:noFill/>
          <a:ln/>
        </p:spPr>
        <p:txBody>
          <a:bodyPr wrap="square" lIns="0" tIns="0" rIns="0" bIns="0" rtlCol="0" anchor="ctr">
            <a:normAutofit/>
          </a:bodyPr>
          <a:lstStyle/>
          <a:p>
            <a:pPr indent="0" marL="0">
              <a:buNone/>
            </a:pPr>
            <a:r>
              <a:rPr lang="en-US" sz="2700" b="1" dirty="0">
                <a:solidFill>
                  <a:srgbClr val="102A43"/>
                </a:solidFill>
                <a:latin typeface="Arial" pitchFamily="34" charset="0"/>
                <a:ea typeface="Arial" pitchFamily="34" charset="-122"/>
                <a:cs typeface="Arial" pitchFamily="34" charset="-120"/>
              </a:rPr>
              <a:t>Deployment automation</a:t>
            </a:r>
            <a:endParaRPr lang="en-US" sz="2700" dirty="0"/>
          </a:p>
        </p:txBody>
      </p:sp>
      <p:sp>
        <p:nvSpPr>
          <p:cNvPr id="4" name="Text 2"/>
          <p:cNvSpPr/>
          <p:nvPr/>
        </p:nvSpPr>
        <p:spPr>
          <a:xfrm>
            <a:off x="548640" y="6492240"/>
            <a:ext cx="11094415" cy="182880"/>
          </a:xfrm>
          <a:prstGeom prst="rect">
            <a:avLst/>
          </a:prstGeom>
          <a:noFill/>
          <a:ln/>
        </p:spPr>
        <p:txBody>
          <a:bodyPr wrap="square" lIns="0" tIns="0" rIns="0" bIns="0" rtlCol="0" anchor="ctr"/>
          <a:lstStyle/>
          <a:p>
            <a:pPr indent="0" marL="0">
              <a:buNone/>
            </a:pPr>
            <a:r>
              <a:rPr lang="en-US" sz="900" dirty="0">
                <a:solidFill>
                  <a:srgbClr val="486581"/>
                </a:solidFill>
                <a:latin typeface="Arial" pitchFamily="34" charset="0"/>
                <a:ea typeface="Arial" pitchFamily="34" charset="-122"/>
                <a:cs typeface="Arial" pitchFamily="34" charset="-120"/>
              </a:rPr>
              <a:t>2026-10-20    1.0    34</a:t>
            </a:r>
            <a:endParaRPr lang="en-US" sz="900" dirty="0"/>
          </a:p>
        </p:txBody>
      </p:sp>
      <p:sp>
        <p:nvSpPr>
          <p:cNvPr id="5" name="Text 3"/>
          <p:cNvSpPr/>
          <p:nvPr/>
        </p:nvSpPr>
        <p:spPr>
          <a:xfrm>
            <a:off x="640080" y="1691640"/>
            <a:ext cx="10911535" cy="4526280"/>
          </a:xfrm>
          <a:prstGeom prst="rect">
            <a:avLst/>
          </a:prstGeom>
          <a:noFill/>
          <a:ln/>
        </p:spPr>
        <p:txBody>
          <a:bodyPr wrap="square" lIns="0" tIns="0" rIns="0" bIns="0" rtlCol="0" anchor="t">
            <a:normAutofit/>
          </a:bodyPr>
          <a:lstStyle/>
          <a:p>
            <a:pPr indent="0" marL="0">
              <a:buNone/>
            </a:pPr>
            <a:r>
              <a:rPr lang="en-US" sz="1700" dirty="0">
                <a:solidFill>
                  <a:srgbClr val="102A43"/>
                </a:solidFill>
                <a:latin typeface="Arial" pitchFamily="34" charset="0"/>
                <a:ea typeface="Arial" pitchFamily="34" charset="-122"/>
                <a:cs typeface="Arial" pitchFamily="34" charset="-120"/>
              </a:rPr>
              <a:t>Engineering and delivery / Core practices</a:t>
            </a:r>
            <a:endParaRPr lang="en-US" sz="1700" dirty="0"/>
          </a:p>
          <a:p>
            <a:pPr indent="0" marL="0">
              <a:buNone/>
            </a:pP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Use repeatable pipelines with approvals, validation and rollback arrangements.</a:t>
            </a:r>
            <a:endParaRPr lang="en-US" sz="1700" dirty="0"/>
          </a:p>
          <a:p>
            <a:pPr indent="0" marL="0">
              <a:buNone/>
            </a:pP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Current: 2 · Developing</a:t>
            </a: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Target: 4 · Managed</a:t>
            </a: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Gap: 2    Priority: Medium    Weight: 1</a:t>
            </a:r>
            <a:endParaRPr lang="en-US" sz="1700" dirty="0"/>
          </a:p>
          <a:p>
            <a:pPr indent="0" marL="0">
              <a:buNone/>
            </a:pP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Owner: Engineering lead    Target date: 2027-03-20</a:t>
            </a:r>
            <a:endParaRPr lang="en-US" sz="1700" dirty="0"/>
          </a:p>
          <a:p>
            <a:pPr indent="0" marL="0">
              <a:buNone/>
            </a:pP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Evidence</a:t>
            </a: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Illustrative evidence: Observe a deployment and a documented recovery exercise. A sample review in September found the practice in two of four teams, with inconsistent follow-up.</a:t>
            </a:r>
            <a:endParaRPr lang="en-US" sz="17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7F9FB"/>
        </a:solidFill>
      </p:bgPr>
    </p:bg>
    <p:spTree>
      <p:nvGrpSpPr>
        <p:cNvPr id="1" name=""/>
        <p:cNvGrpSpPr/>
        <p:nvPr/>
      </p:nvGrpSpPr>
      <p:grpSpPr>
        <a:xfrm>
          <a:off x="0" y="0"/>
          <a:ext cx="0" cy="0"/>
          <a:chOff x="0" y="0"/>
          <a:chExt cx="0" cy="0"/>
        </a:xfrm>
      </p:grpSpPr>
      <p:sp>
        <p:nvSpPr>
          <p:cNvPr id="2" name="Text 0"/>
          <p:cNvSpPr/>
          <p:nvPr/>
        </p:nvSpPr>
        <p:spPr>
          <a:xfrm>
            <a:off x="548640" y="292608"/>
            <a:ext cx="11094415" cy="228600"/>
          </a:xfrm>
          <a:prstGeom prst="rect">
            <a:avLst/>
          </a:prstGeom>
          <a:noFill/>
          <a:ln/>
        </p:spPr>
        <p:txBody>
          <a:bodyPr wrap="square" lIns="0" tIns="0" rIns="0" bIns="0" rtlCol="0" anchor="ctr"/>
          <a:lstStyle/>
          <a:p>
            <a:pPr indent="0" marL="0">
              <a:buNone/>
            </a:pPr>
            <a:r>
              <a:rPr lang="en-US" sz="1000" b="1" dirty="0">
                <a:solidFill>
                  <a:srgbClr val="B44D2E"/>
                </a:solidFill>
                <a:latin typeface="Arial" pitchFamily="34" charset="0"/>
                <a:ea typeface="Arial" pitchFamily="34" charset="-122"/>
                <a:cs typeface="Arial" pitchFamily="34" charset="-120"/>
              </a:rPr>
              <a:t>CAPABILITY DETAILS</a:t>
            </a:r>
            <a:endParaRPr lang="en-US" sz="1000" dirty="0"/>
          </a:p>
        </p:txBody>
      </p:sp>
      <p:sp>
        <p:nvSpPr>
          <p:cNvPr id="3" name="Text 1"/>
          <p:cNvSpPr/>
          <p:nvPr/>
        </p:nvSpPr>
        <p:spPr>
          <a:xfrm>
            <a:off x="548640" y="777240"/>
            <a:ext cx="11094415" cy="685800"/>
          </a:xfrm>
          <a:prstGeom prst="rect">
            <a:avLst/>
          </a:prstGeom>
          <a:noFill/>
          <a:ln/>
        </p:spPr>
        <p:txBody>
          <a:bodyPr wrap="square" lIns="0" tIns="0" rIns="0" bIns="0" rtlCol="0" anchor="ctr">
            <a:normAutofit/>
          </a:bodyPr>
          <a:lstStyle/>
          <a:p>
            <a:pPr indent="0" marL="0">
              <a:buNone/>
            </a:pPr>
            <a:r>
              <a:rPr lang="en-US" sz="2700" b="1" dirty="0">
                <a:solidFill>
                  <a:srgbClr val="102A43"/>
                </a:solidFill>
                <a:latin typeface="Arial" pitchFamily="34" charset="0"/>
                <a:ea typeface="Arial" pitchFamily="34" charset="-122"/>
                <a:cs typeface="Arial" pitchFamily="34" charset="-120"/>
              </a:rPr>
              <a:t>Deployment automation continued</a:t>
            </a:r>
            <a:endParaRPr lang="en-US" sz="2700" dirty="0"/>
          </a:p>
        </p:txBody>
      </p:sp>
      <p:sp>
        <p:nvSpPr>
          <p:cNvPr id="4" name="Text 2"/>
          <p:cNvSpPr/>
          <p:nvPr/>
        </p:nvSpPr>
        <p:spPr>
          <a:xfrm>
            <a:off x="548640" y="6492240"/>
            <a:ext cx="11094415" cy="182880"/>
          </a:xfrm>
          <a:prstGeom prst="rect">
            <a:avLst/>
          </a:prstGeom>
          <a:noFill/>
          <a:ln/>
        </p:spPr>
        <p:txBody>
          <a:bodyPr wrap="square" lIns="0" tIns="0" rIns="0" bIns="0" rtlCol="0" anchor="ctr"/>
          <a:lstStyle/>
          <a:p>
            <a:pPr indent="0" marL="0">
              <a:buNone/>
            </a:pPr>
            <a:r>
              <a:rPr lang="en-US" sz="900" dirty="0">
                <a:solidFill>
                  <a:srgbClr val="486581"/>
                </a:solidFill>
                <a:latin typeface="Arial" pitchFamily="34" charset="0"/>
                <a:ea typeface="Arial" pitchFamily="34" charset="-122"/>
                <a:cs typeface="Arial" pitchFamily="34" charset="-120"/>
              </a:rPr>
              <a:t>2026-10-20    1.0    35</a:t>
            </a:r>
            <a:endParaRPr lang="en-US" sz="900" dirty="0"/>
          </a:p>
        </p:txBody>
      </p:sp>
      <p:sp>
        <p:nvSpPr>
          <p:cNvPr id="5" name="Text 3"/>
          <p:cNvSpPr/>
          <p:nvPr/>
        </p:nvSpPr>
        <p:spPr>
          <a:xfrm>
            <a:off x="640080" y="1691640"/>
            <a:ext cx="10911535" cy="4526280"/>
          </a:xfrm>
          <a:prstGeom prst="rect">
            <a:avLst/>
          </a:prstGeom>
          <a:noFill/>
          <a:ln/>
        </p:spPr>
        <p:txBody>
          <a:bodyPr wrap="square" lIns="0" tIns="0" rIns="0" bIns="0" rtlCol="0" anchor="t">
            <a:normAutofit/>
          </a:bodyPr>
          <a:lstStyle/>
          <a:p>
            <a:pPr indent="0" marL="0">
              <a:buNone/>
            </a:pPr>
            <a:r>
              <a:rPr lang="en-US" sz="1700" dirty="0">
                <a:solidFill>
                  <a:srgbClr val="102A43"/>
                </a:solidFill>
                <a:latin typeface="Arial" pitchFamily="34" charset="0"/>
                <a:ea typeface="Arial" pitchFamily="34" charset="-122"/>
                <a:cs typeface="Arial" pitchFamily="34" charset="-120"/>
              </a:rPr>
              <a:t>Recommendations</a:t>
            </a: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Agree a consistent approach for deployment automation, assign ownership, and review adoption at the next quarterly assessment.</a:t>
            </a:r>
            <a:endParaRPr lang="en-US" sz="1700" dirty="0"/>
          </a:p>
          <a:p>
            <a:pPr indent="0" marL="0">
              <a:buNone/>
            </a:pP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Notes</a:t>
            </a: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Fictional data supplied to demonstrate the tool. Replace with your own assessment.</a:t>
            </a:r>
            <a:endParaRPr lang="en-US" sz="1700" dirty="0"/>
          </a:p>
          <a:p>
            <a:pPr indent="0" marL="0">
              <a:buNone/>
            </a:pP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Assessment criteria</a:t>
            </a: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Met: Observe a deployment and a documented recovery exercise.</a:t>
            </a: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Evidence: Illustrative review notes, September 2026.</a:t>
            </a:r>
            <a:endParaRPr lang="en-US" sz="1700" dirty="0"/>
          </a:p>
          <a:p>
            <a:pPr indent="0" marL="0">
              <a:buNone/>
            </a:pP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Not confirmed: Confirm consistent adoption across the agreed assessment scope, supported by dated evidence.</a:t>
            </a: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Evidence: Not recorded</a:t>
            </a:r>
            <a:endParaRPr lang="en-US" sz="17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7F9FB"/>
        </a:solidFill>
      </p:bgPr>
    </p:bg>
    <p:spTree>
      <p:nvGrpSpPr>
        <p:cNvPr id="1" name=""/>
        <p:cNvGrpSpPr/>
        <p:nvPr/>
      </p:nvGrpSpPr>
      <p:grpSpPr>
        <a:xfrm>
          <a:off x="0" y="0"/>
          <a:ext cx="0" cy="0"/>
          <a:chOff x="0" y="0"/>
          <a:chExt cx="0" cy="0"/>
        </a:xfrm>
      </p:grpSpPr>
      <p:sp>
        <p:nvSpPr>
          <p:cNvPr id="2" name="Text 0"/>
          <p:cNvSpPr/>
          <p:nvPr/>
        </p:nvSpPr>
        <p:spPr>
          <a:xfrm>
            <a:off x="548640" y="292608"/>
            <a:ext cx="11094415" cy="228600"/>
          </a:xfrm>
          <a:prstGeom prst="rect">
            <a:avLst/>
          </a:prstGeom>
          <a:noFill/>
          <a:ln/>
        </p:spPr>
        <p:txBody>
          <a:bodyPr wrap="square" lIns="0" tIns="0" rIns="0" bIns="0" rtlCol="0" anchor="ctr"/>
          <a:lstStyle/>
          <a:p>
            <a:pPr indent="0" marL="0">
              <a:buNone/>
            </a:pPr>
            <a:r>
              <a:rPr lang="en-US" sz="1000" b="1" dirty="0">
                <a:solidFill>
                  <a:srgbClr val="B44D2E"/>
                </a:solidFill>
                <a:latin typeface="Arial" pitchFamily="34" charset="0"/>
                <a:ea typeface="Arial" pitchFamily="34" charset="-122"/>
                <a:cs typeface="Arial" pitchFamily="34" charset="-120"/>
              </a:rPr>
              <a:t>CAPABILITY DETAILS</a:t>
            </a:r>
            <a:endParaRPr lang="en-US" sz="1000" dirty="0"/>
          </a:p>
        </p:txBody>
      </p:sp>
      <p:sp>
        <p:nvSpPr>
          <p:cNvPr id="3" name="Text 1"/>
          <p:cNvSpPr/>
          <p:nvPr/>
        </p:nvSpPr>
        <p:spPr>
          <a:xfrm>
            <a:off x="548640" y="777240"/>
            <a:ext cx="11094415" cy="685800"/>
          </a:xfrm>
          <a:prstGeom prst="rect">
            <a:avLst/>
          </a:prstGeom>
          <a:noFill/>
          <a:ln/>
        </p:spPr>
        <p:txBody>
          <a:bodyPr wrap="square" lIns="0" tIns="0" rIns="0" bIns="0" rtlCol="0" anchor="ctr">
            <a:normAutofit/>
          </a:bodyPr>
          <a:lstStyle/>
          <a:p>
            <a:pPr indent="0" marL="0">
              <a:buNone/>
            </a:pPr>
            <a:r>
              <a:rPr lang="en-US" sz="2700" b="1" dirty="0">
                <a:solidFill>
                  <a:srgbClr val="102A43"/>
                </a:solidFill>
                <a:latin typeface="Arial" pitchFamily="34" charset="0"/>
                <a:ea typeface="Arial" pitchFamily="34" charset="-122"/>
                <a:cs typeface="Arial" pitchFamily="34" charset="-120"/>
              </a:rPr>
              <a:t>Automated testing</a:t>
            </a:r>
            <a:endParaRPr lang="en-US" sz="2700" dirty="0"/>
          </a:p>
        </p:txBody>
      </p:sp>
      <p:sp>
        <p:nvSpPr>
          <p:cNvPr id="4" name="Text 2"/>
          <p:cNvSpPr/>
          <p:nvPr/>
        </p:nvSpPr>
        <p:spPr>
          <a:xfrm>
            <a:off x="548640" y="6492240"/>
            <a:ext cx="11094415" cy="182880"/>
          </a:xfrm>
          <a:prstGeom prst="rect">
            <a:avLst/>
          </a:prstGeom>
          <a:noFill/>
          <a:ln/>
        </p:spPr>
        <p:txBody>
          <a:bodyPr wrap="square" lIns="0" tIns="0" rIns="0" bIns="0" rtlCol="0" anchor="ctr"/>
          <a:lstStyle/>
          <a:p>
            <a:pPr indent="0" marL="0">
              <a:buNone/>
            </a:pPr>
            <a:r>
              <a:rPr lang="en-US" sz="900" dirty="0">
                <a:solidFill>
                  <a:srgbClr val="486581"/>
                </a:solidFill>
                <a:latin typeface="Arial" pitchFamily="34" charset="0"/>
                <a:ea typeface="Arial" pitchFamily="34" charset="-122"/>
                <a:cs typeface="Arial" pitchFamily="34" charset="-120"/>
              </a:rPr>
              <a:t>2026-10-20    1.0    36</a:t>
            </a:r>
            <a:endParaRPr lang="en-US" sz="900" dirty="0"/>
          </a:p>
        </p:txBody>
      </p:sp>
      <p:sp>
        <p:nvSpPr>
          <p:cNvPr id="5" name="Text 3"/>
          <p:cNvSpPr/>
          <p:nvPr/>
        </p:nvSpPr>
        <p:spPr>
          <a:xfrm>
            <a:off x="640080" y="1691640"/>
            <a:ext cx="10911535" cy="4526280"/>
          </a:xfrm>
          <a:prstGeom prst="rect">
            <a:avLst/>
          </a:prstGeom>
          <a:noFill/>
          <a:ln/>
        </p:spPr>
        <p:txBody>
          <a:bodyPr wrap="square" lIns="0" tIns="0" rIns="0" bIns="0" rtlCol="0" anchor="t">
            <a:normAutofit/>
          </a:bodyPr>
          <a:lstStyle/>
          <a:p>
            <a:pPr indent="0" marL="0">
              <a:buNone/>
            </a:pPr>
            <a:r>
              <a:rPr lang="en-US" sz="1700" dirty="0">
                <a:solidFill>
                  <a:srgbClr val="102A43"/>
                </a:solidFill>
                <a:latin typeface="Arial" pitchFamily="34" charset="0"/>
                <a:ea typeface="Arial" pitchFamily="34" charset="-122"/>
                <a:cs typeface="Arial" pitchFamily="34" charset="-120"/>
              </a:rPr>
              <a:t>Engineering and delivery / Core practices</a:t>
            </a:r>
            <a:endParaRPr lang="en-US" sz="1700" dirty="0"/>
          </a:p>
          <a:p>
            <a:pPr indent="0" marL="0">
              <a:buNone/>
            </a:pP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Cover important journeys and custom code with maintained automated checks.</a:t>
            </a:r>
            <a:endParaRPr lang="en-US" sz="1700" dirty="0"/>
          </a:p>
          <a:p>
            <a:pPr indent="0" marL="0">
              <a:buNone/>
            </a:pP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Current: 2 · Developing</a:t>
            </a: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Target: 5 · Optimised</a:t>
            </a: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Gap: 3    Priority: High    Weight: 1</a:t>
            </a:r>
            <a:endParaRPr lang="en-US" sz="1700" dirty="0"/>
          </a:p>
          <a:p>
            <a:pPr indent="0" marL="0">
              <a:buNone/>
            </a:pP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Owner: Engineering lead    Target date: 2027-03-20</a:t>
            </a:r>
            <a:endParaRPr lang="en-US" sz="1700" dirty="0"/>
          </a:p>
          <a:p>
            <a:pPr indent="0" marL="0">
              <a:buNone/>
            </a:pP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Evidence</a:t>
            </a: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Illustrative evidence: Review test results, failure handling and coverage of key journeys. A sample review in September found the practice in two of four teams, with inconsistent follow-up.</a:t>
            </a:r>
            <a:endParaRPr lang="en-US" sz="17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7F9FB"/>
        </a:solidFill>
      </p:bgPr>
    </p:bg>
    <p:spTree>
      <p:nvGrpSpPr>
        <p:cNvPr id="1" name=""/>
        <p:cNvGrpSpPr/>
        <p:nvPr/>
      </p:nvGrpSpPr>
      <p:grpSpPr>
        <a:xfrm>
          <a:off x="0" y="0"/>
          <a:ext cx="0" cy="0"/>
          <a:chOff x="0" y="0"/>
          <a:chExt cx="0" cy="0"/>
        </a:xfrm>
      </p:grpSpPr>
      <p:sp>
        <p:nvSpPr>
          <p:cNvPr id="2" name="Text 0"/>
          <p:cNvSpPr/>
          <p:nvPr/>
        </p:nvSpPr>
        <p:spPr>
          <a:xfrm>
            <a:off x="548640" y="292608"/>
            <a:ext cx="11094415" cy="228600"/>
          </a:xfrm>
          <a:prstGeom prst="rect">
            <a:avLst/>
          </a:prstGeom>
          <a:noFill/>
          <a:ln/>
        </p:spPr>
        <p:txBody>
          <a:bodyPr wrap="square" lIns="0" tIns="0" rIns="0" bIns="0" rtlCol="0" anchor="ctr"/>
          <a:lstStyle/>
          <a:p>
            <a:pPr indent="0" marL="0">
              <a:buNone/>
            </a:pPr>
            <a:r>
              <a:rPr lang="en-US" sz="1000" b="1" dirty="0">
                <a:solidFill>
                  <a:srgbClr val="B44D2E"/>
                </a:solidFill>
                <a:latin typeface="Arial" pitchFamily="34" charset="0"/>
                <a:ea typeface="Arial" pitchFamily="34" charset="-122"/>
                <a:cs typeface="Arial" pitchFamily="34" charset="-120"/>
              </a:rPr>
              <a:t>CAPABILITY DETAILS</a:t>
            </a:r>
            <a:endParaRPr lang="en-US" sz="1000" dirty="0"/>
          </a:p>
        </p:txBody>
      </p:sp>
      <p:sp>
        <p:nvSpPr>
          <p:cNvPr id="3" name="Text 1"/>
          <p:cNvSpPr/>
          <p:nvPr/>
        </p:nvSpPr>
        <p:spPr>
          <a:xfrm>
            <a:off x="548640" y="777240"/>
            <a:ext cx="11094415" cy="685800"/>
          </a:xfrm>
          <a:prstGeom prst="rect">
            <a:avLst/>
          </a:prstGeom>
          <a:noFill/>
          <a:ln/>
        </p:spPr>
        <p:txBody>
          <a:bodyPr wrap="square" lIns="0" tIns="0" rIns="0" bIns="0" rtlCol="0" anchor="ctr">
            <a:normAutofit/>
          </a:bodyPr>
          <a:lstStyle/>
          <a:p>
            <a:pPr indent="0" marL="0">
              <a:buNone/>
            </a:pPr>
            <a:r>
              <a:rPr lang="en-US" sz="2700" b="1" dirty="0">
                <a:solidFill>
                  <a:srgbClr val="102A43"/>
                </a:solidFill>
                <a:latin typeface="Arial" pitchFamily="34" charset="0"/>
                <a:ea typeface="Arial" pitchFamily="34" charset="-122"/>
                <a:cs typeface="Arial" pitchFamily="34" charset="-120"/>
              </a:rPr>
              <a:t>Automated testing continued</a:t>
            </a:r>
            <a:endParaRPr lang="en-US" sz="2700" dirty="0"/>
          </a:p>
        </p:txBody>
      </p:sp>
      <p:sp>
        <p:nvSpPr>
          <p:cNvPr id="4" name="Text 2"/>
          <p:cNvSpPr/>
          <p:nvPr/>
        </p:nvSpPr>
        <p:spPr>
          <a:xfrm>
            <a:off x="548640" y="6492240"/>
            <a:ext cx="11094415" cy="182880"/>
          </a:xfrm>
          <a:prstGeom prst="rect">
            <a:avLst/>
          </a:prstGeom>
          <a:noFill/>
          <a:ln/>
        </p:spPr>
        <p:txBody>
          <a:bodyPr wrap="square" lIns="0" tIns="0" rIns="0" bIns="0" rtlCol="0" anchor="ctr"/>
          <a:lstStyle/>
          <a:p>
            <a:pPr indent="0" marL="0">
              <a:buNone/>
            </a:pPr>
            <a:r>
              <a:rPr lang="en-US" sz="900" dirty="0">
                <a:solidFill>
                  <a:srgbClr val="486581"/>
                </a:solidFill>
                <a:latin typeface="Arial" pitchFamily="34" charset="0"/>
                <a:ea typeface="Arial" pitchFamily="34" charset="-122"/>
                <a:cs typeface="Arial" pitchFamily="34" charset="-120"/>
              </a:rPr>
              <a:t>2026-10-20    1.0    37</a:t>
            </a:r>
            <a:endParaRPr lang="en-US" sz="900" dirty="0"/>
          </a:p>
        </p:txBody>
      </p:sp>
      <p:sp>
        <p:nvSpPr>
          <p:cNvPr id="5" name="Text 3"/>
          <p:cNvSpPr/>
          <p:nvPr/>
        </p:nvSpPr>
        <p:spPr>
          <a:xfrm>
            <a:off x="640080" y="1691640"/>
            <a:ext cx="10911535" cy="4526280"/>
          </a:xfrm>
          <a:prstGeom prst="rect">
            <a:avLst/>
          </a:prstGeom>
          <a:noFill/>
          <a:ln/>
        </p:spPr>
        <p:txBody>
          <a:bodyPr wrap="square" lIns="0" tIns="0" rIns="0" bIns="0" rtlCol="0" anchor="t">
            <a:normAutofit/>
          </a:bodyPr>
          <a:lstStyle/>
          <a:p>
            <a:pPr indent="0" marL="0">
              <a:buNone/>
            </a:pPr>
            <a:r>
              <a:rPr lang="en-US" sz="1700" dirty="0">
                <a:solidFill>
                  <a:srgbClr val="102A43"/>
                </a:solidFill>
                <a:latin typeface="Arial" pitchFamily="34" charset="0"/>
                <a:ea typeface="Arial" pitchFamily="34" charset="-122"/>
                <a:cs typeface="Arial" pitchFamily="34" charset="-120"/>
              </a:rPr>
              <a:t>Recommendations</a:t>
            </a: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Agree a consistent approach for automated testing, assign ownership, and review adoption at the next quarterly assessment.</a:t>
            </a:r>
            <a:endParaRPr lang="en-US" sz="1700" dirty="0"/>
          </a:p>
          <a:p>
            <a:pPr indent="0" marL="0">
              <a:buNone/>
            </a:pP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Notes</a:t>
            </a: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Fictional data supplied to demonstrate the tool. Replace with your own assessment.</a:t>
            </a:r>
            <a:endParaRPr lang="en-US" sz="1700" dirty="0"/>
          </a:p>
          <a:p>
            <a:pPr indent="0" marL="0">
              <a:buNone/>
            </a:pP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Assessment criteria</a:t>
            </a: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Met: Review test results, failure handling and coverage of key journeys.</a:t>
            </a: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Evidence: Illustrative review notes, September 2026.</a:t>
            </a:r>
            <a:endParaRPr lang="en-US" sz="1700" dirty="0"/>
          </a:p>
          <a:p>
            <a:pPr indent="0" marL="0">
              <a:buNone/>
            </a:pP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Not confirmed: Confirm consistent adoption across the agreed assessment scope, supported by dated evidence.</a:t>
            </a: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Evidence: Not recorded</a:t>
            </a:r>
            <a:endParaRPr lang="en-US" sz="17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7F9FB"/>
        </a:solidFill>
      </p:bgPr>
    </p:bg>
    <p:spTree>
      <p:nvGrpSpPr>
        <p:cNvPr id="1" name=""/>
        <p:cNvGrpSpPr/>
        <p:nvPr/>
      </p:nvGrpSpPr>
      <p:grpSpPr>
        <a:xfrm>
          <a:off x="0" y="0"/>
          <a:ext cx="0" cy="0"/>
          <a:chOff x="0" y="0"/>
          <a:chExt cx="0" cy="0"/>
        </a:xfrm>
      </p:grpSpPr>
      <p:sp>
        <p:nvSpPr>
          <p:cNvPr id="2" name="Text 0"/>
          <p:cNvSpPr/>
          <p:nvPr/>
        </p:nvSpPr>
        <p:spPr>
          <a:xfrm>
            <a:off x="548640" y="292608"/>
            <a:ext cx="11094415" cy="228600"/>
          </a:xfrm>
          <a:prstGeom prst="rect">
            <a:avLst/>
          </a:prstGeom>
          <a:noFill/>
          <a:ln/>
        </p:spPr>
        <p:txBody>
          <a:bodyPr wrap="square" lIns="0" tIns="0" rIns="0" bIns="0" rtlCol="0" anchor="ctr"/>
          <a:lstStyle/>
          <a:p>
            <a:pPr indent="0" marL="0">
              <a:buNone/>
            </a:pPr>
            <a:r>
              <a:rPr lang="en-US" sz="1000" b="1" dirty="0">
                <a:solidFill>
                  <a:srgbClr val="B44D2E"/>
                </a:solidFill>
                <a:latin typeface="Arial" pitchFamily="34" charset="0"/>
                <a:ea typeface="Arial" pitchFamily="34" charset="-122"/>
                <a:cs typeface="Arial" pitchFamily="34" charset="-120"/>
              </a:rPr>
              <a:t>CAPABILITY DETAILS</a:t>
            </a:r>
            <a:endParaRPr lang="en-US" sz="1000" dirty="0"/>
          </a:p>
        </p:txBody>
      </p:sp>
      <p:sp>
        <p:nvSpPr>
          <p:cNvPr id="3" name="Text 1"/>
          <p:cNvSpPr/>
          <p:nvPr/>
        </p:nvSpPr>
        <p:spPr>
          <a:xfrm>
            <a:off x="548640" y="777240"/>
            <a:ext cx="11094415" cy="685800"/>
          </a:xfrm>
          <a:prstGeom prst="rect">
            <a:avLst/>
          </a:prstGeom>
          <a:noFill/>
          <a:ln/>
        </p:spPr>
        <p:txBody>
          <a:bodyPr wrap="square" lIns="0" tIns="0" rIns="0" bIns="0" rtlCol="0" anchor="ctr">
            <a:normAutofit/>
          </a:bodyPr>
          <a:lstStyle/>
          <a:p>
            <a:pPr indent="0" marL="0">
              <a:buNone/>
            </a:pPr>
            <a:r>
              <a:rPr lang="en-US" sz="2700" b="1" dirty="0">
                <a:solidFill>
                  <a:srgbClr val="102A43"/>
                </a:solidFill>
                <a:latin typeface="Arial" pitchFamily="34" charset="0"/>
                <a:ea typeface="Arial" pitchFamily="34" charset="-122"/>
                <a:cs typeface="Arial" pitchFamily="34" charset="-120"/>
              </a:rPr>
              <a:t>Monitoring and observability</a:t>
            </a:r>
            <a:endParaRPr lang="en-US" sz="2700" dirty="0"/>
          </a:p>
        </p:txBody>
      </p:sp>
      <p:sp>
        <p:nvSpPr>
          <p:cNvPr id="4" name="Text 2"/>
          <p:cNvSpPr/>
          <p:nvPr/>
        </p:nvSpPr>
        <p:spPr>
          <a:xfrm>
            <a:off x="548640" y="6492240"/>
            <a:ext cx="11094415" cy="182880"/>
          </a:xfrm>
          <a:prstGeom prst="rect">
            <a:avLst/>
          </a:prstGeom>
          <a:noFill/>
          <a:ln/>
        </p:spPr>
        <p:txBody>
          <a:bodyPr wrap="square" lIns="0" tIns="0" rIns="0" bIns="0" rtlCol="0" anchor="ctr"/>
          <a:lstStyle/>
          <a:p>
            <a:pPr indent="0" marL="0">
              <a:buNone/>
            </a:pPr>
            <a:r>
              <a:rPr lang="en-US" sz="900" dirty="0">
                <a:solidFill>
                  <a:srgbClr val="486581"/>
                </a:solidFill>
                <a:latin typeface="Arial" pitchFamily="34" charset="0"/>
                <a:ea typeface="Arial" pitchFamily="34" charset="-122"/>
                <a:cs typeface="Arial" pitchFamily="34" charset="-120"/>
              </a:rPr>
              <a:t>2026-10-20    1.0    38</a:t>
            </a:r>
            <a:endParaRPr lang="en-US" sz="900" dirty="0"/>
          </a:p>
        </p:txBody>
      </p:sp>
      <p:sp>
        <p:nvSpPr>
          <p:cNvPr id="5" name="Text 3"/>
          <p:cNvSpPr/>
          <p:nvPr/>
        </p:nvSpPr>
        <p:spPr>
          <a:xfrm>
            <a:off x="640080" y="1691640"/>
            <a:ext cx="10911535" cy="4526280"/>
          </a:xfrm>
          <a:prstGeom prst="rect">
            <a:avLst/>
          </a:prstGeom>
          <a:noFill/>
          <a:ln/>
        </p:spPr>
        <p:txBody>
          <a:bodyPr wrap="square" lIns="0" tIns="0" rIns="0" bIns="0" rtlCol="0" anchor="t">
            <a:normAutofit/>
          </a:bodyPr>
          <a:lstStyle/>
          <a:p>
            <a:pPr indent="0" marL="0">
              <a:buNone/>
            </a:pPr>
            <a:r>
              <a:rPr lang="en-US" sz="1700" dirty="0">
                <a:solidFill>
                  <a:srgbClr val="102A43"/>
                </a:solidFill>
                <a:latin typeface="Arial" pitchFamily="34" charset="0"/>
                <a:ea typeface="Arial" pitchFamily="34" charset="-122"/>
                <a:cs typeface="Arial" pitchFamily="34" charset="-120"/>
              </a:rPr>
              <a:t>Operations and resilience / Core practices</a:t>
            </a:r>
            <a:endParaRPr lang="en-US" sz="1700" dirty="0"/>
          </a:p>
          <a:p>
            <a:pPr indent="0" marL="0">
              <a:buNone/>
            </a:pP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Measure service health, failures and business impact with named responders.</a:t>
            </a:r>
            <a:endParaRPr lang="en-US" sz="1700" dirty="0"/>
          </a:p>
          <a:p>
            <a:pPr indent="0" marL="0">
              <a:buNone/>
            </a:pP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Current: 3 · Defined</a:t>
            </a: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Target: 5 · Optimised</a:t>
            </a: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Gap: 2    Priority: High    Weight: 2</a:t>
            </a:r>
            <a:endParaRPr lang="en-US" sz="1700" dirty="0"/>
          </a:p>
          <a:p>
            <a:pPr indent="0" marL="0">
              <a:buNone/>
            </a:pP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Owner: Service owner    Target date: 2027-04-20</a:t>
            </a:r>
            <a:endParaRPr lang="en-US" sz="1700" dirty="0"/>
          </a:p>
          <a:p>
            <a:pPr indent="0" marL="0">
              <a:buNone/>
            </a:pP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Evidence</a:t>
            </a: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Illustrative evidence: Inspect actionable alerts, dashboards and incident records. A sample review in September found the practice in two of four teams, with inconsistent follow-up.</a:t>
            </a:r>
            <a:endParaRPr lang="en-US" sz="17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7F9FB"/>
        </a:solidFill>
      </p:bgPr>
    </p:bg>
    <p:spTree>
      <p:nvGrpSpPr>
        <p:cNvPr id="1" name=""/>
        <p:cNvGrpSpPr/>
        <p:nvPr/>
      </p:nvGrpSpPr>
      <p:grpSpPr>
        <a:xfrm>
          <a:off x="0" y="0"/>
          <a:ext cx="0" cy="0"/>
          <a:chOff x="0" y="0"/>
          <a:chExt cx="0" cy="0"/>
        </a:xfrm>
      </p:grpSpPr>
      <p:sp>
        <p:nvSpPr>
          <p:cNvPr id="2" name="Text 0"/>
          <p:cNvSpPr/>
          <p:nvPr/>
        </p:nvSpPr>
        <p:spPr>
          <a:xfrm>
            <a:off x="548640" y="292608"/>
            <a:ext cx="11094415" cy="228600"/>
          </a:xfrm>
          <a:prstGeom prst="rect">
            <a:avLst/>
          </a:prstGeom>
          <a:noFill/>
          <a:ln/>
        </p:spPr>
        <p:txBody>
          <a:bodyPr wrap="square" lIns="0" tIns="0" rIns="0" bIns="0" rtlCol="0" anchor="ctr"/>
          <a:lstStyle/>
          <a:p>
            <a:pPr indent="0" marL="0">
              <a:buNone/>
            </a:pPr>
            <a:r>
              <a:rPr lang="en-US" sz="1000" b="1" dirty="0">
                <a:solidFill>
                  <a:srgbClr val="B44D2E"/>
                </a:solidFill>
                <a:latin typeface="Arial" pitchFamily="34" charset="0"/>
                <a:ea typeface="Arial" pitchFamily="34" charset="-122"/>
                <a:cs typeface="Arial" pitchFamily="34" charset="-120"/>
              </a:rPr>
              <a:t>CAPABILITY DETAILS</a:t>
            </a:r>
            <a:endParaRPr lang="en-US" sz="1000" dirty="0"/>
          </a:p>
        </p:txBody>
      </p:sp>
      <p:sp>
        <p:nvSpPr>
          <p:cNvPr id="3" name="Text 1"/>
          <p:cNvSpPr/>
          <p:nvPr/>
        </p:nvSpPr>
        <p:spPr>
          <a:xfrm>
            <a:off x="548640" y="777240"/>
            <a:ext cx="11094415" cy="685800"/>
          </a:xfrm>
          <a:prstGeom prst="rect">
            <a:avLst/>
          </a:prstGeom>
          <a:noFill/>
          <a:ln/>
        </p:spPr>
        <p:txBody>
          <a:bodyPr wrap="square" lIns="0" tIns="0" rIns="0" bIns="0" rtlCol="0" anchor="ctr">
            <a:normAutofit/>
          </a:bodyPr>
          <a:lstStyle/>
          <a:p>
            <a:pPr indent="0" marL="0">
              <a:buNone/>
            </a:pPr>
            <a:r>
              <a:rPr lang="en-US" sz="2700" b="1" dirty="0">
                <a:solidFill>
                  <a:srgbClr val="102A43"/>
                </a:solidFill>
                <a:latin typeface="Arial" pitchFamily="34" charset="0"/>
                <a:ea typeface="Arial" pitchFamily="34" charset="-122"/>
                <a:cs typeface="Arial" pitchFamily="34" charset="-120"/>
              </a:rPr>
              <a:t>Monitoring and observability continued</a:t>
            </a:r>
            <a:endParaRPr lang="en-US" sz="2700" dirty="0"/>
          </a:p>
        </p:txBody>
      </p:sp>
      <p:sp>
        <p:nvSpPr>
          <p:cNvPr id="4" name="Text 2"/>
          <p:cNvSpPr/>
          <p:nvPr/>
        </p:nvSpPr>
        <p:spPr>
          <a:xfrm>
            <a:off x="548640" y="6492240"/>
            <a:ext cx="11094415" cy="182880"/>
          </a:xfrm>
          <a:prstGeom prst="rect">
            <a:avLst/>
          </a:prstGeom>
          <a:noFill/>
          <a:ln/>
        </p:spPr>
        <p:txBody>
          <a:bodyPr wrap="square" lIns="0" tIns="0" rIns="0" bIns="0" rtlCol="0" anchor="ctr"/>
          <a:lstStyle/>
          <a:p>
            <a:pPr indent="0" marL="0">
              <a:buNone/>
            </a:pPr>
            <a:r>
              <a:rPr lang="en-US" sz="900" dirty="0">
                <a:solidFill>
                  <a:srgbClr val="486581"/>
                </a:solidFill>
                <a:latin typeface="Arial" pitchFamily="34" charset="0"/>
                <a:ea typeface="Arial" pitchFamily="34" charset="-122"/>
                <a:cs typeface="Arial" pitchFamily="34" charset="-120"/>
              </a:rPr>
              <a:t>2026-10-20    1.0    39</a:t>
            </a:r>
            <a:endParaRPr lang="en-US" sz="900" dirty="0"/>
          </a:p>
        </p:txBody>
      </p:sp>
      <p:sp>
        <p:nvSpPr>
          <p:cNvPr id="5" name="Text 3"/>
          <p:cNvSpPr/>
          <p:nvPr/>
        </p:nvSpPr>
        <p:spPr>
          <a:xfrm>
            <a:off x="640080" y="1691640"/>
            <a:ext cx="10911535" cy="4526280"/>
          </a:xfrm>
          <a:prstGeom prst="rect">
            <a:avLst/>
          </a:prstGeom>
          <a:noFill/>
          <a:ln/>
        </p:spPr>
        <p:txBody>
          <a:bodyPr wrap="square" lIns="0" tIns="0" rIns="0" bIns="0" rtlCol="0" anchor="t">
            <a:normAutofit/>
          </a:bodyPr>
          <a:lstStyle/>
          <a:p>
            <a:pPr indent="0" marL="0">
              <a:buNone/>
            </a:pPr>
            <a:r>
              <a:rPr lang="en-US" sz="1700" dirty="0">
                <a:solidFill>
                  <a:srgbClr val="102A43"/>
                </a:solidFill>
                <a:latin typeface="Arial" pitchFamily="34" charset="0"/>
                <a:ea typeface="Arial" pitchFamily="34" charset="-122"/>
                <a:cs typeface="Arial" pitchFamily="34" charset="-120"/>
              </a:rPr>
              <a:t>Recommendations</a:t>
            </a: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Agree a consistent approach for monitoring and observability, assign ownership, and review adoption at the next quarterly assessment.</a:t>
            </a:r>
            <a:endParaRPr lang="en-US" sz="1700" dirty="0"/>
          </a:p>
          <a:p>
            <a:pPr indent="0" marL="0">
              <a:buNone/>
            </a:pP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Risks and issues</a:t>
            </a: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Inconsistent adoption could leave critical services without a clear accountable owner.</a:t>
            </a:r>
            <a:endParaRPr lang="en-US" sz="1700" dirty="0"/>
          </a:p>
          <a:p>
            <a:pPr indent="0" marL="0">
              <a:buNone/>
            </a:pP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Notes</a:t>
            </a: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Fictional data supplied to demonstrate the tool. Replace with your own assessment.</a:t>
            </a:r>
            <a:endParaRPr lang="en-US" sz="17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7F9FB"/>
        </a:solidFill>
      </p:bgPr>
    </p:bg>
    <p:spTree>
      <p:nvGrpSpPr>
        <p:cNvPr id="1" name=""/>
        <p:cNvGrpSpPr/>
        <p:nvPr/>
      </p:nvGrpSpPr>
      <p:grpSpPr>
        <a:xfrm>
          <a:off x="0" y="0"/>
          <a:ext cx="0" cy="0"/>
          <a:chOff x="0" y="0"/>
          <a:chExt cx="0" cy="0"/>
        </a:xfrm>
      </p:grpSpPr>
      <p:sp>
        <p:nvSpPr>
          <p:cNvPr id="2" name="Text 0"/>
          <p:cNvSpPr/>
          <p:nvPr/>
        </p:nvSpPr>
        <p:spPr>
          <a:xfrm>
            <a:off x="548640" y="292608"/>
            <a:ext cx="11094415" cy="228600"/>
          </a:xfrm>
          <a:prstGeom prst="rect">
            <a:avLst/>
          </a:prstGeom>
          <a:noFill/>
          <a:ln/>
        </p:spPr>
        <p:txBody>
          <a:bodyPr wrap="square" lIns="0" tIns="0" rIns="0" bIns="0" rtlCol="0" anchor="ctr"/>
          <a:lstStyle/>
          <a:p>
            <a:pPr indent="0" marL="0">
              <a:buNone/>
            </a:pPr>
            <a:r>
              <a:rPr lang="en-US" sz="1000" b="1" dirty="0">
                <a:solidFill>
                  <a:srgbClr val="B44D2E"/>
                </a:solidFill>
                <a:latin typeface="Arial" pitchFamily="34" charset="0"/>
                <a:ea typeface="Arial" pitchFamily="34" charset="-122"/>
                <a:cs typeface="Arial" pitchFamily="34" charset="-120"/>
              </a:rPr>
              <a:t>CAPABILITY DETAILS</a:t>
            </a:r>
            <a:endParaRPr lang="en-US" sz="1000" dirty="0"/>
          </a:p>
        </p:txBody>
      </p:sp>
      <p:sp>
        <p:nvSpPr>
          <p:cNvPr id="3" name="Text 1"/>
          <p:cNvSpPr/>
          <p:nvPr/>
        </p:nvSpPr>
        <p:spPr>
          <a:xfrm>
            <a:off x="548640" y="777240"/>
            <a:ext cx="11094415" cy="685800"/>
          </a:xfrm>
          <a:prstGeom prst="rect">
            <a:avLst/>
          </a:prstGeom>
          <a:noFill/>
          <a:ln/>
        </p:spPr>
        <p:txBody>
          <a:bodyPr wrap="square" lIns="0" tIns="0" rIns="0" bIns="0" rtlCol="0" anchor="ctr">
            <a:normAutofit/>
          </a:bodyPr>
          <a:lstStyle/>
          <a:p>
            <a:pPr indent="0" marL="0">
              <a:buNone/>
            </a:pPr>
            <a:r>
              <a:rPr lang="en-US" sz="2700" b="1" dirty="0">
                <a:solidFill>
                  <a:srgbClr val="102A43"/>
                </a:solidFill>
                <a:latin typeface="Arial" pitchFamily="34" charset="0"/>
                <a:ea typeface="Arial" pitchFamily="34" charset="-122"/>
                <a:cs typeface="Arial" pitchFamily="34" charset="-120"/>
              </a:rPr>
              <a:t>Monitoring and observability continued</a:t>
            </a:r>
            <a:endParaRPr lang="en-US" sz="2700" dirty="0"/>
          </a:p>
        </p:txBody>
      </p:sp>
      <p:sp>
        <p:nvSpPr>
          <p:cNvPr id="4" name="Text 2"/>
          <p:cNvSpPr/>
          <p:nvPr/>
        </p:nvSpPr>
        <p:spPr>
          <a:xfrm>
            <a:off x="548640" y="6492240"/>
            <a:ext cx="11094415" cy="182880"/>
          </a:xfrm>
          <a:prstGeom prst="rect">
            <a:avLst/>
          </a:prstGeom>
          <a:noFill/>
          <a:ln/>
        </p:spPr>
        <p:txBody>
          <a:bodyPr wrap="square" lIns="0" tIns="0" rIns="0" bIns="0" rtlCol="0" anchor="ctr"/>
          <a:lstStyle/>
          <a:p>
            <a:pPr indent="0" marL="0">
              <a:buNone/>
            </a:pPr>
            <a:r>
              <a:rPr lang="en-US" sz="900" dirty="0">
                <a:solidFill>
                  <a:srgbClr val="486581"/>
                </a:solidFill>
                <a:latin typeface="Arial" pitchFamily="34" charset="0"/>
                <a:ea typeface="Arial" pitchFamily="34" charset="-122"/>
                <a:cs typeface="Arial" pitchFamily="34" charset="-120"/>
              </a:rPr>
              <a:t>2026-10-20    1.0    40</a:t>
            </a:r>
            <a:endParaRPr lang="en-US" sz="900" dirty="0"/>
          </a:p>
        </p:txBody>
      </p:sp>
      <p:sp>
        <p:nvSpPr>
          <p:cNvPr id="5" name="Text 3"/>
          <p:cNvSpPr/>
          <p:nvPr/>
        </p:nvSpPr>
        <p:spPr>
          <a:xfrm>
            <a:off x="640080" y="1691640"/>
            <a:ext cx="10911535" cy="4526280"/>
          </a:xfrm>
          <a:prstGeom prst="rect">
            <a:avLst/>
          </a:prstGeom>
          <a:noFill/>
          <a:ln/>
        </p:spPr>
        <p:txBody>
          <a:bodyPr wrap="square" lIns="0" tIns="0" rIns="0" bIns="0" rtlCol="0" anchor="t">
            <a:normAutofit/>
          </a:bodyPr>
          <a:lstStyle/>
          <a:p>
            <a:pPr indent="0" marL="0">
              <a:buNone/>
            </a:pPr>
            <a:r>
              <a:rPr lang="en-US" sz="1700" dirty="0">
                <a:solidFill>
                  <a:srgbClr val="102A43"/>
                </a:solidFill>
                <a:latin typeface="Arial" pitchFamily="34" charset="0"/>
                <a:ea typeface="Arial" pitchFamily="34" charset="-122"/>
                <a:cs typeface="Arial" pitchFamily="34" charset="-120"/>
              </a:rPr>
              <a:t>Assessment criteria</a:t>
            </a: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Met: Inspect actionable alerts, dashboards and incident records.</a:t>
            </a: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Evidence: Illustrative review notes, September 2026.</a:t>
            </a:r>
            <a:endParaRPr lang="en-US" sz="1700" dirty="0"/>
          </a:p>
          <a:p>
            <a:pPr indent="0" marL="0">
              <a:buNone/>
            </a:pP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Not confirmed: Confirm consistent adoption across the agreed assessment scope, supported by dated evidence.</a:t>
            </a: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Evidence: Not recorded</a:t>
            </a:r>
            <a:endParaRPr lang="en-US" sz="17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7F9FB"/>
        </a:solidFill>
      </p:bgPr>
    </p:bg>
    <p:spTree>
      <p:nvGrpSpPr>
        <p:cNvPr id="1" name=""/>
        <p:cNvGrpSpPr/>
        <p:nvPr/>
      </p:nvGrpSpPr>
      <p:grpSpPr>
        <a:xfrm>
          <a:off x="0" y="0"/>
          <a:ext cx="0" cy="0"/>
          <a:chOff x="0" y="0"/>
          <a:chExt cx="0" cy="0"/>
        </a:xfrm>
      </p:grpSpPr>
      <p:sp>
        <p:nvSpPr>
          <p:cNvPr id="2" name="Text 0"/>
          <p:cNvSpPr/>
          <p:nvPr/>
        </p:nvSpPr>
        <p:spPr>
          <a:xfrm>
            <a:off x="548640" y="292608"/>
            <a:ext cx="11094415" cy="228600"/>
          </a:xfrm>
          <a:prstGeom prst="rect">
            <a:avLst/>
          </a:prstGeom>
          <a:noFill/>
          <a:ln/>
        </p:spPr>
        <p:txBody>
          <a:bodyPr wrap="square" lIns="0" tIns="0" rIns="0" bIns="0" rtlCol="0" anchor="ctr"/>
          <a:lstStyle/>
          <a:p>
            <a:pPr indent="0" marL="0">
              <a:buNone/>
            </a:pPr>
            <a:r>
              <a:rPr lang="en-US" sz="1000" b="1" dirty="0">
                <a:solidFill>
                  <a:srgbClr val="B44D2E"/>
                </a:solidFill>
                <a:latin typeface="Arial" pitchFamily="34" charset="0"/>
                <a:ea typeface="Arial" pitchFamily="34" charset="-122"/>
                <a:cs typeface="Arial" pitchFamily="34" charset="-120"/>
              </a:rPr>
              <a:t>CAPABILITY DETAILS</a:t>
            </a:r>
            <a:endParaRPr lang="en-US" sz="1000" dirty="0"/>
          </a:p>
        </p:txBody>
      </p:sp>
      <p:sp>
        <p:nvSpPr>
          <p:cNvPr id="3" name="Text 1"/>
          <p:cNvSpPr/>
          <p:nvPr/>
        </p:nvSpPr>
        <p:spPr>
          <a:xfrm>
            <a:off x="548640" y="777240"/>
            <a:ext cx="11094415" cy="685800"/>
          </a:xfrm>
          <a:prstGeom prst="rect">
            <a:avLst/>
          </a:prstGeom>
          <a:noFill/>
          <a:ln/>
        </p:spPr>
        <p:txBody>
          <a:bodyPr wrap="square" lIns="0" tIns="0" rIns="0" bIns="0" rtlCol="0" anchor="ctr">
            <a:normAutofit/>
          </a:bodyPr>
          <a:lstStyle/>
          <a:p>
            <a:pPr indent="0" marL="0">
              <a:buNone/>
            </a:pPr>
            <a:r>
              <a:rPr lang="en-US" sz="2700" b="1" dirty="0">
                <a:solidFill>
                  <a:srgbClr val="102A43"/>
                </a:solidFill>
                <a:latin typeface="Arial" pitchFamily="34" charset="0"/>
                <a:ea typeface="Arial" pitchFamily="34" charset="-122"/>
                <a:cs typeface="Arial" pitchFamily="34" charset="-120"/>
              </a:rPr>
              <a:t>Recovery and continuity</a:t>
            </a:r>
            <a:endParaRPr lang="en-US" sz="2700" dirty="0"/>
          </a:p>
        </p:txBody>
      </p:sp>
      <p:sp>
        <p:nvSpPr>
          <p:cNvPr id="4" name="Text 2"/>
          <p:cNvSpPr/>
          <p:nvPr/>
        </p:nvSpPr>
        <p:spPr>
          <a:xfrm>
            <a:off x="548640" y="6492240"/>
            <a:ext cx="11094415" cy="182880"/>
          </a:xfrm>
          <a:prstGeom prst="rect">
            <a:avLst/>
          </a:prstGeom>
          <a:noFill/>
          <a:ln/>
        </p:spPr>
        <p:txBody>
          <a:bodyPr wrap="square" lIns="0" tIns="0" rIns="0" bIns="0" rtlCol="0" anchor="ctr"/>
          <a:lstStyle/>
          <a:p>
            <a:pPr indent="0" marL="0">
              <a:buNone/>
            </a:pPr>
            <a:r>
              <a:rPr lang="en-US" sz="900" dirty="0">
                <a:solidFill>
                  <a:srgbClr val="486581"/>
                </a:solidFill>
                <a:latin typeface="Arial" pitchFamily="34" charset="0"/>
                <a:ea typeface="Arial" pitchFamily="34" charset="-122"/>
                <a:cs typeface="Arial" pitchFamily="34" charset="-120"/>
              </a:rPr>
              <a:t>2026-10-20    1.0    41</a:t>
            </a:r>
            <a:endParaRPr lang="en-US" sz="900" dirty="0"/>
          </a:p>
        </p:txBody>
      </p:sp>
      <p:sp>
        <p:nvSpPr>
          <p:cNvPr id="5" name="Text 3"/>
          <p:cNvSpPr/>
          <p:nvPr/>
        </p:nvSpPr>
        <p:spPr>
          <a:xfrm>
            <a:off x="640080" y="1691640"/>
            <a:ext cx="10911535" cy="4526280"/>
          </a:xfrm>
          <a:prstGeom prst="rect">
            <a:avLst/>
          </a:prstGeom>
          <a:noFill/>
          <a:ln/>
        </p:spPr>
        <p:txBody>
          <a:bodyPr wrap="square" lIns="0" tIns="0" rIns="0" bIns="0" rtlCol="0" anchor="t">
            <a:normAutofit/>
          </a:bodyPr>
          <a:lstStyle/>
          <a:p>
            <a:pPr indent="0" marL="0">
              <a:buNone/>
            </a:pPr>
            <a:r>
              <a:rPr lang="en-US" sz="1700" dirty="0">
                <a:solidFill>
                  <a:srgbClr val="102A43"/>
                </a:solidFill>
                <a:latin typeface="Arial" pitchFamily="34" charset="0"/>
                <a:ea typeface="Arial" pitchFamily="34" charset="-122"/>
                <a:cs typeface="Arial" pitchFamily="34" charset="-120"/>
              </a:rPr>
              <a:t>Operations and resilience / Core practices</a:t>
            </a:r>
            <a:endParaRPr lang="en-US" sz="1700" dirty="0"/>
          </a:p>
          <a:p>
            <a:pPr indent="0" marL="0">
              <a:buNone/>
            </a:pP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Demonstrate recovery of platform data and critical apps against agreed objectives.</a:t>
            </a:r>
            <a:endParaRPr lang="en-US" sz="1700" dirty="0"/>
          </a:p>
          <a:p>
            <a:pPr indent="0" marL="0">
              <a:buNone/>
            </a:pP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Current: 2 · Developing</a:t>
            </a: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Target: 4 · Managed</a:t>
            </a: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Gap: 2    Priority: Medium    Weight: 1</a:t>
            </a:r>
            <a:endParaRPr lang="en-US" sz="1700" dirty="0"/>
          </a:p>
          <a:p>
            <a:pPr indent="0" marL="0">
              <a:buNone/>
            </a:pP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Owner: Service owner    Target date: 2027-04-20</a:t>
            </a:r>
            <a:endParaRPr lang="en-US" sz="1700" dirty="0"/>
          </a:p>
          <a:p>
            <a:pPr indent="0" marL="0">
              <a:buNone/>
            </a:pP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Evidence</a:t>
            </a: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Illustrative evidence: Review a restore exercise against RTO and RPO. A sample review in September found the practice in two of four teams, with inconsistent follow-up.</a:t>
            </a:r>
            <a:endParaRPr lang="en-US" sz="17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7F9FB"/>
        </a:solidFill>
      </p:bgPr>
    </p:bg>
    <p:spTree>
      <p:nvGrpSpPr>
        <p:cNvPr id="1" name=""/>
        <p:cNvGrpSpPr/>
        <p:nvPr/>
      </p:nvGrpSpPr>
      <p:grpSpPr>
        <a:xfrm>
          <a:off x="0" y="0"/>
          <a:ext cx="0" cy="0"/>
          <a:chOff x="0" y="0"/>
          <a:chExt cx="0" cy="0"/>
        </a:xfrm>
      </p:grpSpPr>
      <p:sp>
        <p:nvSpPr>
          <p:cNvPr id="2" name="Text 0"/>
          <p:cNvSpPr/>
          <p:nvPr/>
        </p:nvSpPr>
        <p:spPr>
          <a:xfrm>
            <a:off x="548640" y="292608"/>
            <a:ext cx="11094415" cy="228600"/>
          </a:xfrm>
          <a:prstGeom prst="rect">
            <a:avLst/>
          </a:prstGeom>
          <a:noFill/>
          <a:ln/>
        </p:spPr>
        <p:txBody>
          <a:bodyPr wrap="square" lIns="0" tIns="0" rIns="0" bIns="0" rtlCol="0" anchor="ctr"/>
          <a:lstStyle/>
          <a:p>
            <a:pPr indent="0" marL="0">
              <a:buNone/>
            </a:pPr>
            <a:r>
              <a:rPr lang="en-US" sz="1000" b="1" dirty="0">
                <a:solidFill>
                  <a:srgbClr val="B44D2E"/>
                </a:solidFill>
                <a:latin typeface="Arial" pitchFamily="34" charset="0"/>
                <a:ea typeface="Arial" pitchFamily="34" charset="-122"/>
                <a:cs typeface="Arial" pitchFamily="34" charset="-120"/>
              </a:rPr>
              <a:t>CAPABILITY DETAILS</a:t>
            </a:r>
            <a:endParaRPr lang="en-US" sz="1000" dirty="0"/>
          </a:p>
        </p:txBody>
      </p:sp>
      <p:sp>
        <p:nvSpPr>
          <p:cNvPr id="3" name="Text 1"/>
          <p:cNvSpPr/>
          <p:nvPr/>
        </p:nvSpPr>
        <p:spPr>
          <a:xfrm>
            <a:off x="548640" y="777240"/>
            <a:ext cx="11094415" cy="685800"/>
          </a:xfrm>
          <a:prstGeom prst="rect">
            <a:avLst/>
          </a:prstGeom>
          <a:noFill/>
          <a:ln/>
        </p:spPr>
        <p:txBody>
          <a:bodyPr wrap="square" lIns="0" tIns="0" rIns="0" bIns="0" rtlCol="0" anchor="ctr">
            <a:normAutofit/>
          </a:bodyPr>
          <a:lstStyle/>
          <a:p>
            <a:pPr indent="0" marL="0">
              <a:buNone/>
            </a:pPr>
            <a:r>
              <a:rPr lang="en-US" sz="2700" b="1" dirty="0">
                <a:solidFill>
                  <a:srgbClr val="102A43"/>
                </a:solidFill>
                <a:latin typeface="Arial" pitchFamily="34" charset="0"/>
                <a:ea typeface="Arial" pitchFamily="34" charset="-122"/>
                <a:cs typeface="Arial" pitchFamily="34" charset="-120"/>
              </a:rPr>
              <a:t>Recovery and continuity continued</a:t>
            </a:r>
            <a:endParaRPr lang="en-US" sz="2700" dirty="0"/>
          </a:p>
        </p:txBody>
      </p:sp>
      <p:sp>
        <p:nvSpPr>
          <p:cNvPr id="4" name="Text 2"/>
          <p:cNvSpPr/>
          <p:nvPr/>
        </p:nvSpPr>
        <p:spPr>
          <a:xfrm>
            <a:off x="548640" y="6492240"/>
            <a:ext cx="11094415" cy="182880"/>
          </a:xfrm>
          <a:prstGeom prst="rect">
            <a:avLst/>
          </a:prstGeom>
          <a:noFill/>
          <a:ln/>
        </p:spPr>
        <p:txBody>
          <a:bodyPr wrap="square" lIns="0" tIns="0" rIns="0" bIns="0" rtlCol="0" anchor="ctr"/>
          <a:lstStyle/>
          <a:p>
            <a:pPr indent="0" marL="0">
              <a:buNone/>
            </a:pPr>
            <a:r>
              <a:rPr lang="en-US" sz="900" dirty="0">
                <a:solidFill>
                  <a:srgbClr val="486581"/>
                </a:solidFill>
                <a:latin typeface="Arial" pitchFamily="34" charset="0"/>
                <a:ea typeface="Arial" pitchFamily="34" charset="-122"/>
                <a:cs typeface="Arial" pitchFamily="34" charset="-120"/>
              </a:rPr>
              <a:t>2026-10-20    1.0    42</a:t>
            </a:r>
            <a:endParaRPr lang="en-US" sz="900" dirty="0"/>
          </a:p>
        </p:txBody>
      </p:sp>
      <p:sp>
        <p:nvSpPr>
          <p:cNvPr id="5" name="Text 3"/>
          <p:cNvSpPr/>
          <p:nvPr/>
        </p:nvSpPr>
        <p:spPr>
          <a:xfrm>
            <a:off x="640080" y="1691640"/>
            <a:ext cx="10911535" cy="4526280"/>
          </a:xfrm>
          <a:prstGeom prst="rect">
            <a:avLst/>
          </a:prstGeom>
          <a:noFill/>
          <a:ln/>
        </p:spPr>
        <p:txBody>
          <a:bodyPr wrap="square" lIns="0" tIns="0" rIns="0" bIns="0" rtlCol="0" anchor="t">
            <a:normAutofit/>
          </a:bodyPr>
          <a:lstStyle/>
          <a:p>
            <a:pPr indent="0" marL="0">
              <a:buNone/>
            </a:pPr>
            <a:r>
              <a:rPr lang="en-US" sz="1700" dirty="0">
                <a:solidFill>
                  <a:srgbClr val="102A43"/>
                </a:solidFill>
                <a:latin typeface="Arial" pitchFamily="34" charset="0"/>
                <a:ea typeface="Arial" pitchFamily="34" charset="-122"/>
                <a:cs typeface="Arial" pitchFamily="34" charset="-120"/>
              </a:rPr>
              <a:t>Recommendations</a:t>
            </a: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Agree a consistent approach for recovery and continuity, assign ownership, and review adoption at the next quarterly assessment.</a:t>
            </a:r>
            <a:endParaRPr lang="en-US" sz="1700" dirty="0"/>
          </a:p>
          <a:p>
            <a:pPr indent="0" marL="0">
              <a:buNone/>
            </a:pP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Notes</a:t>
            </a: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Fictional data supplied to demonstrate the tool. Replace with your own assessment.</a:t>
            </a:r>
            <a:endParaRPr lang="en-US" sz="1700" dirty="0"/>
          </a:p>
          <a:p>
            <a:pPr indent="0" marL="0">
              <a:buNone/>
            </a:pP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Assessment criteria</a:t>
            </a: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Met: Review a restore exercise against RTO and RPO.</a:t>
            </a: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Evidence: Illustrative review notes, September 2026.</a:t>
            </a:r>
            <a:endParaRPr lang="en-US" sz="1700" dirty="0"/>
          </a:p>
          <a:p>
            <a:pPr indent="0" marL="0">
              <a:buNone/>
            </a:pP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Not confirmed: Confirm consistent adoption across the agreed assessment scope, supported by dated evidence.</a:t>
            </a: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Evidence: Not recorded</a:t>
            </a:r>
            <a:endParaRPr lang="en-US" sz="17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7F9FB"/>
        </a:solidFill>
      </p:bgPr>
    </p:bg>
    <p:spTree>
      <p:nvGrpSpPr>
        <p:cNvPr id="1" name=""/>
        <p:cNvGrpSpPr/>
        <p:nvPr/>
      </p:nvGrpSpPr>
      <p:grpSpPr>
        <a:xfrm>
          <a:off x="0" y="0"/>
          <a:ext cx="0" cy="0"/>
          <a:chOff x="0" y="0"/>
          <a:chExt cx="0" cy="0"/>
        </a:xfrm>
      </p:grpSpPr>
      <p:sp>
        <p:nvSpPr>
          <p:cNvPr id="2" name="Text 0"/>
          <p:cNvSpPr/>
          <p:nvPr/>
        </p:nvSpPr>
        <p:spPr>
          <a:xfrm>
            <a:off x="548640" y="292608"/>
            <a:ext cx="11094415" cy="228600"/>
          </a:xfrm>
          <a:prstGeom prst="rect">
            <a:avLst/>
          </a:prstGeom>
          <a:noFill/>
          <a:ln/>
        </p:spPr>
        <p:txBody>
          <a:bodyPr wrap="square" lIns="0" tIns="0" rIns="0" bIns="0" rtlCol="0" anchor="ctr"/>
          <a:lstStyle/>
          <a:p>
            <a:pPr indent="0" marL="0">
              <a:buNone/>
            </a:pPr>
            <a:r>
              <a:rPr lang="en-US" sz="1000" b="1" dirty="0">
                <a:solidFill>
                  <a:srgbClr val="B44D2E"/>
                </a:solidFill>
                <a:latin typeface="Arial" pitchFamily="34" charset="0"/>
                <a:ea typeface="Arial" pitchFamily="34" charset="-122"/>
                <a:cs typeface="Arial" pitchFamily="34" charset="-120"/>
              </a:rPr>
              <a:t>CAPABILITY DETAILS</a:t>
            </a:r>
            <a:endParaRPr lang="en-US" sz="1000" dirty="0"/>
          </a:p>
        </p:txBody>
      </p:sp>
      <p:sp>
        <p:nvSpPr>
          <p:cNvPr id="3" name="Text 1"/>
          <p:cNvSpPr/>
          <p:nvPr/>
        </p:nvSpPr>
        <p:spPr>
          <a:xfrm>
            <a:off x="548640" y="777240"/>
            <a:ext cx="11094415" cy="685800"/>
          </a:xfrm>
          <a:prstGeom prst="rect">
            <a:avLst/>
          </a:prstGeom>
          <a:noFill/>
          <a:ln/>
        </p:spPr>
        <p:txBody>
          <a:bodyPr wrap="square" lIns="0" tIns="0" rIns="0" bIns="0" rtlCol="0" anchor="ctr">
            <a:normAutofit/>
          </a:bodyPr>
          <a:lstStyle/>
          <a:p>
            <a:pPr indent="0" marL="0">
              <a:buNone/>
            </a:pPr>
            <a:r>
              <a:rPr lang="en-US" sz="2700" b="1" dirty="0">
                <a:solidFill>
                  <a:srgbClr val="102A43"/>
                </a:solidFill>
                <a:latin typeface="Arial" pitchFamily="34" charset="0"/>
                <a:ea typeface="Arial" pitchFamily="34" charset="-122"/>
                <a:cs typeface="Arial" pitchFamily="34" charset="-120"/>
              </a:rPr>
              <a:t>Capacity and licensing</a:t>
            </a:r>
            <a:endParaRPr lang="en-US" sz="2700" dirty="0"/>
          </a:p>
        </p:txBody>
      </p:sp>
      <p:sp>
        <p:nvSpPr>
          <p:cNvPr id="4" name="Text 2"/>
          <p:cNvSpPr/>
          <p:nvPr/>
        </p:nvSpPr>
        <p:spPr>
          <a:xfrm>
            <a:off x="548640" y="6492240"/>
            <a:ext cx="11094415" cy="182880"/>
          </a:xfrm>
          <a:prstGeom prst="rect">
            <a:avLst/>
          </a:prstGeom>
          <a:noFill/>
          <a:ln/>
        </p:spPr>
        <p:txBody>
          <a:bodyPr wrap="square" lIns="0" tIns="0" rIns="0" bIns="0" rtlCol="0" anchor="ctr"/>
          <a:lstStyle/>
          <a:p>
            <a:pPr indent="0" marL="0">
              <a:buNone/>
            </a:pPr>
            <a:r>
              <a:rPr lang="en-US" sz="900" dirty="0">
                <a:solidFill>
                  <a:srgbClr val="486581"/>
                </a:solidFill>
                <a:latin typeface="Arial" pitchFamily="34" charset="0"/>
                <a:ea typeface="Arial" pitchFamily="34" charset="-122"/>
                <a:cs typeface="Arial" pitchFamily="34" charset="-120"/>
              </a:rPr>
              <a:t>2026-10-20    1.0    43</a:t>
            </a:r>
            <a:endParaRPr lang="en-US" sz="900" dirty="0"/>
          </a:p>
        </p:txBody>
      </p:sp>
      <p:sp>
        <p:nvSpPr>
          <p:cNvPr id="5" name="Text 3"/>
          <p:cNvSpPr/>
          <p:nvPr/>
        </p:nvSpPr>
        <p:spPr>
          <a:xfrm>
            <a:off x="640080" y="1691640"/>
            <a:ext cx="10911535" cy="4526280"/>
          </a:xfrm>
          <a:prstGeom prst="rect">
            <a:avLst/>
          </a:prstGeom>
          <a:noFill/>
          <a:ln/>
        </p:spPr>
        <p:txBody>
          <a:bodyPr wrap="square" lIns="0" tIns="0" rIns="0" bIns="0" rtlCol="0" anchor="t">
            <a:normAutofit/>
          </a:bodyPr>
          <a:lstStyle/>
          <a:p>
            <a:pPr indent="0" marL="0">
              <a:buNone/>
            </a:pPr>
            <a:r>
              <a:rPr lang="en-US" sz="1700" dirty="0">
                <a:solidFill>
                  <a:srgbClr val="102A43"/>
                </a:solidFill>
                <a:latin typeface="Arial" pitchFamily="34" charset="0"/>
                <a:ea typeface="Arial" pitchFamily="34" charset="-122"/>
                <a:cs typeface="Arial" pitchFamily="34" charset="-120"/>
              </a:rPr>
              <a:t>Operations and resilience / Core practices</a:t>
            </a:r>
            <a:endParaRPr lang="en-US" sz="1700" dirty="0"/>
          </a:p>
          <a:p>
            <a:pPr indent="0" marL="0">
              <a:buNone/>
            </a:pP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Forecast capacity and licence needs with evidence of regular review.</a:t>
            </a:r>
            <a:endParaRPr lang="en-US" sz="1700" dirty="0"/>
          </a:p>
          <a:p>
            <a:pPr indent="0" marL="0">
              <a:buNone/>
            </a:pP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Current: 3 · Defined</a:t>
            </a: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Target: 5 · Optimised</a:t>
            </a: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Gap: 2    Priority: High    Weight: 1</a:t>
            </a:r>
            <a:endParaRPr lang="en-US" sz="1700" dirty="0"/>
          </a:p>
          <a:p>
            <a:pPr indent="0" marL="0">
              <a:buNone/>
            </a:pP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Owner: Service owner    Target date: 2027-04-20</a:t>
            </a:r>
            <a:endParaRPr lang="en-US" sz="1700" dirty="0"/>
          </a:p>
          <a:p>
            <a:pPr indent="0" marL="0">
              <a:buNone/>
            </a:pP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Evidence</a:t>
            </a: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Illustrative evidence: Compare usage trends, licence allocations and forecasts. A sample review in September found the practice in two of four teams, with inconsistent follow-up.</a:t>
            </a:r>
            <a:endParaRPr lang="en-US" sz="17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7F9FB"/>
        </a:solidFill>
      </p:bgPr>
    </p:bg>
    <p:spTree>
      <p:nvGrpSpPr>
        <p:cNvPr id="1" name=""/>
        <p:cNvGrpSpPr/>
        <p:nvPr/>
      </p:nvGrpSpPr>
      <p:grpSpPr>
        <a:xfrm>
          <a:off x="0" y="0"/>
          <a:ext cx="0" cy="0"/>
          <a:chOff x="0" y="0"/>
          <a:chExt cx="0" cy="0"/>
        </a:xfrm>
      </p:grpSpPr>
      <p:sp>
        <p:nvSpPr>
          <p:cNvPr id="2" name="Text 0"/>
          <p:cNvSpPr/>
          <p:nvPr/>
        </p:nvSpPr>
        <p:spPr>
          <a:xfrm>
            <a:off x="548640" y="292608"/>
            <a:ext cx="11094415" cy="228600"/>
          </a:xfrm>
          <a:prstGeom prst="rect">
            <a:avLst/>
          </a:prstGeom>
          <a:noFill/>
          <a:ln/>
        </p:spPr>
        <p:txBody>
          <a:bodyPr wrap="square" lIns="0" tIns="0" rIns="0" bIns="0" rtlCol="0" anchor="ctr"/>
          <a:lstStyle/>
          <a:p>
            <a:pPr indent="0" marL="0">
              <a:buNone/>
            </a:pPr>
            <a:r>
              <a:rPr lang="en-US" sz="1000" b="1" dirty="0">
                <a:solidFill>
                  <a:srgbClr val="B44D2E"/>
                </a:solidFill>
                <a:latin typeface="Arial" pitchFamily="34" charset="0"/>
                <a:ea typeface="Arial" pitchFamily="34" charset="-122"/>
                <a:cs typeface="Arial" pitchFamily="34" charset="-120"/>
              </a:rPr>
              <a:t>CAPABILITY DETAILS</a:t>
            </a:r>
            <a:endParaRPr lang="en-US" sz="1000" dirty="0"/>
          </a:p>
        </p:txBody>
      </p:sp>
      <p:sp>
        <p:nvSpPr>
          <p:cNvPr id="3" name="Text 1"/>
          <p:cNvSpPr/>
          <p:nvPr/>
        </p:nvSpPr>
        <p:spPr>
          <a:xfrm>
            <a:off x="548640" y="777240"/>
            <a:ext cx="11094415" cy="685800"/>
          </a:xfrm>
          <a:prstGeom prst="rect">
            <a:avLst/>
          </a:prstGeom>
          <a:noFill/>
          <a:ln/>
        </p:spPr>
        <p:txBody>
          <a:bodyPr wrap="square" lIns="0" tIns="0" rIns="0" bIns="0" rtlCol="0" anchor="ctr">
            <a:normAutofit/>
          </a:bodyPr>
          <a:lstStyle/>
          <a:p>
            <a:pPr indent="0" marL="0">
              <a:buNone/>
            </a:pPr>
            <a:r>
              <a:rPr lang="en-US" sz="2700" b="1" dirty="0">
                <a:solidFill>
                  <a:srgbClr val="102A43"/>
                </a:solidFill>
                <a:latin typeface="Arial" pitchFamily="34" charset="0"/>
                <a:ea typeface="Arial" pitchFamily="34" charset="-122"/>
                <a:cs typeface="Arial" pitchFamily="34" charset="-120"/>
              </a:rPr>
              <a:t>Capacity and licensing continued</a:t>
            </a:r>
            <a:endParaRPr lang="en-US" sz="2700" dirty="0"/>
          </a:p>
        </p:txBody>
      </p:sp>
      <p:sp>
        <p:nvSpPr>
          <p:cNvPr id="4" name="Text 2"/>
          <p:cNvSpPr/>
          <p:nvPr/>
        </p:nvSpPr>
        <p:spPr>
          <a:xfrm>
            <a:off x="548640" y="6492240"/>
            <a:ext cx="11094415" cy="182880"/>
          </a:xfrm>
          <a:prstGeom prst="rect">
            <a:avLst/>
          </a:prstGeom>
          <a:noFill/>
          <a:ln/>
        </p:spPr>
        <p:txBody>
          <a:bodyPr wrap="square" lIns="0" tIns="0" rIns="0" bIns="0" rtlCol="0" anchor="ctr"/>
          <a:lstStyle/>
          <a:p>
            <a:pPr indent="0" marL="0">
              <a:buNone/>
            </a:pPr>
            <a:r>
              <a:rPr lang="en-US" sz="900" dirty="0">
                <a:solidFill>
                  <a:srgbClr val="486581"/>
                </a:solidFill>
                <a:latin typeface="Arial" pitchFamily="34" charset="0"/>
                <a:ea typeface="Arial" pitchFamily="34" charset="-122"/>
                <a:cs typeface="Arial" pitchFamily="34" charset="-120"/>
              </a:rPr>
              <a:t>2026-10-20    1.0    44</a:t>
            </a:r>
            <a:endParaRPr lang="en-US" sz="900" dirty="0"/>
          </a:p>
        </p:txBody>
      </p:sp>
      <p:sp>
        <p:nvSpPr>
          <p:cNvPr id="5" name="Text 3"/>
          <p:cNvSpPr/>
          <p:nvPr/>
        </p:nvSpPr>
        <p:spPr>
          <a:xfrm>
            <a:off x="640080" y="1691640"/>
            <a:ext cx="10911535" cy="4526280"/>
          </a:xfrm>
          <a:prstGeom prst="rect">
            <a:avLst/>
          </a:prstGeom>
          <a:noFill/>
          <a:ln/>
        </p:spPr>
        <p:txBody>
          <a:bodyPr wrap="square" lIns="0" tIns="0" rIns="0" bIns="0" rtlCol="0" anchor="t">
            <a:normAutofit/>
          </a:bodyPr>
          <a:lstStyle/>
          <a:p>
            <a:pPr indent="0" marL="0">
              <a:buNone/>
            </a:pPr>
            <a:r>
              <a:rPr lang="en-US" sz="1700" dirty="0">
                <a:solidFill>
                  <a:srgbClr val="102A43"/>
                </a:solidFill>
                <a:latin typeface="Arial" pitchFamily="34" charset="0"/>
                <a:ea typeface="Arial" pitchFamily="34" charset="-122"/>
                <a:cs typeface="Arial" pitchFamily="34" charset="-120"/>
              </a:rPr>
              <a:t>Recommendations</a:t>
            </a: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Agree a consistent approach for capacity and licensing, assign ownership, and review adoption at the next quarterly assessment.</a:t>
            </a:r>
            <a:endParaRPr lang="en-US" sz="1700" dirty="0"/>
          </a:p>
          <a:p>
            <a:pPr indent="0" marL="0">
              <a:buNone/>
            </a:pP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Notes</a:t>
            </a: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Fictional data supplied to demonstrate the tool. Replace with your own assessment.</a:t>
            </a:r>
            <a:endParaRPr lang="en-US" sz="1700" dirty="0"/>
          </a:p>
          <a:p>
            <a:pPr indent="0" marL="0">
              <a:buNone/>
            </a:pP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Assessment criteria</a:t>
            </a: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Met: Compare usage trends, licence allocations and forecasts.</a:t>
            </a: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Evidence: Illustrative review notes, September 2026.</a:t>
            </a:r>
            <a:endParaRPr lang="en-US" sz="1700" dirty="0"/>
          </a:p>
          <a:p>
            <a:pPr indent="0" marL="0">
              <a:buNone/>
            </a:pP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Not confirmed: Confirm consistent adoption across the agreed assessment scope, supported by dated evidence.</a:t>
            </a:r>
            <a:endParaRPr lang="en-US" sz="1700" dirty="0"/>
          </a:p>
          <a:p>
            <a:pPr indent="0" marL="0">
              <a:buNone/>
            </a:pPr>
            <a:r>
              <a:rPr lang="en-US" sz="1700" dirty="0">
                <a:solidFill>
                  <a:srgbClr val="102A43"/>
                </a:solidFill>
                <a:latin typeface="Arial" pitchFamily="34" charset="0"/>
                <a:ea typeface="Arial" pitchFamily="34" charset="-122"/>
                <a:cs typeface="Arial" pitchFamily="34" charset="-120"/>
              </a:rPr>
              <a:t>Evidence: Not recorded</a:t>
            </a:r>
            <a:endParaRPr lang="en-US" sz="17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7F9FB"/>
        </a:solidFill>
      </p:bgPr>
    </p:bg>
    <p:spTree>
      <p:nvGrpSpPr>
        <p:cNvPr id="1" name=""/>
        <p:cNvGrpSpPr/>
        <p:nvPr/>
      </p:nvGrpSpPr>
      <p:grpSpPr>
        <a:xfrm>
          <a:off x="0" y="0"/>
          <a:ext cx="0" cy="0"/>
          <a:chOff x="0" y="0"/>
          <a:chExt cx="0" cy="0"/>
        </a:xfrm>
      </p:grpSpPr>
      <p:sp>
        <p:nvSpPr>
          <p:cNvPr id="2" name="Text 0"/>
          <p:cNvSpPr/>
          <p:nvPr/>
        </p:nvSpPr>
        <p:spPr>
          <a:xfrm>
            <a:off x="548640" y="292608"/>
            <a:ext cx="11094415" cy="228600"/>
          </a:xfrm>
          <a:prstGeom prst="rect">
            <a:avLst/>
          </a:prstGeom>
          <a:noFill/>
          <a:ln/>
        </p:spPr>
        <p:txBody>
          <a:bodyPr wrap="square" lIns="0" tIns="0" rIns="0" bIns="0" rtlCol="0" anchor="ctr"/>
          <a:lstStyle/>
          <a:p>
            <a:pPr indent="0" marL="0">
              <a:buNone/>
            </a:pPr>
            <a:r>
              <a:rPr lang="en-US" sz="1000" b="1" dirty="0">
                <a:solidFill>
                  <a:srgbClr val="B44D2E"/>
                </a:solidFill>
                <a:latin typeface="Arial" pitchFamily="34" charset="0"/>
                <a:ea typeface="Arial" pitchFamily="34" charset="-122"/>
                <a:cs typeface="Arial" pitchFamily="34" charset="-120"/>
              </a:rPr>
              <a:t>MIGHTORA MATURITY ASSESSMENT</a:t>
            </a:r>
            <a:endParaRPr lang="en-US" sz="1000" dirty="0"/>
          </a:p>
        </p:txBody>
      </p:sp>
      <p:sp>
        <p:nvSpPr>
          <p:cNvPr id="3" name="Text 1"/>
          <p:cNvSpPr/>
          <p:nvPr/>
        </p:nvSpPr>
        <p:spPr>
          <a:xfrm>
            <a:off x="548640" y="777240"/>
            <a:ext cx="11094415" cy="685800"/>
          </a:xfrm>
          <a:prstGeom prst="rect">
            <a:avLst/>
          </a:prstGeom>
          <a:noFill/>
          <a:ln/>
        </p:spPr>
        <p:txBody>
          <a:bodyPr wrap="square" lIns="0" tIns="0" rIns="0" bIns="0" rtlCol="0" anchor="ctr">
            <a:normAutofit/>
          </a:bodyPr>
          <a:lstStyle/>
          <a:p>
            <a:pPr indent="0" marL="0">
              <a:buNone/>
            </a:pPr>
            <a:r>
              <a:rPr lang="en-US" sz="2700" b="1" dirty="0">
                <a:solidFill>
                  <a:srgbClr val="102A43"/>
                </a:solidFill>
                <a:latin typeface="Arial" pitchFamily="34" charset="0"/>
                <a:ea typeface="Arial" pitchFamily="34" charset="-122"/>
                <a:cs typeface="Arial" pitchFamily="34" charset="-120"/>
              </a:rPr>
              <a:t>Assessment methodology</a:t>
            </a:r>
            <a:endParaRPr lang="en-US" sz="2700" dirty="0"/>
          </a:p>
        </p:txBody>
      </p:sp>
      <p:sp>
        <p:nvSpPr>
          <p:cNvPr id="4" name="Text 2"/>
          <p:cNvSpPr/>
          <p:nvPr/>
        </p:nvSpPr>
        <p:spPr>
          <a:xfrm>
            <a:off x="548640" y="6492240"/>
            <a:ext cx="11094415" cy="182880"/>
          </a:xfrm>
          <a:prstGeom prst="rect">
            <a:avLst/>
          </a:prstGeom>
          <a:noFill/>
          <a:ln/>
        </p:spPr>
        <p:txBody>
          <a:bodyPr wrap="square" lIns="0" tIns="0" rIns="0" bIns="0" rtlCol="0" anchor="ctr"/>
          <a:lstStyle/>
          <a:p>
            <a:pPr indent="0" marL="0">
              <a:buNone/>
            </a:pPr>
            <a:r>
              <a:rPr lang="en-US" sz="900" dirty="0">
                <a:solidFill>
                  <a:srgbClr val="486581"/>
                </a:solidFill>
                <a:latin typeface="Arial" pitchFamily="34" charset="0"/>
                <a:ea typeface="Arial" pitchFamily="34" charset="-122"/>
                <a:cs typeface="Arial" pitchFamily="34" charset="-120"/>
              </a:rPr>
              <a:t>2026-10-20    1.0    45</a:t>
            </a:r>
            <a:endParaRPr lang="en-US" sz="900" dirty="0"/>
          </a:p>
        </p:txBody>
      </p:sp>
      <p:sp>
        <p:nvSpPr>
          <p:cNvPr id="5" name="Text 3"/>
          <p:cNvSpPr/>
          <p:nvPr/>
        </p:nvSpPr>
        <p:spPr>
          <a:xfrm>
            <a:off x="640080" y="1737360"/>
            <a:ext cx="10911535" cy="4389120"/>
          </a:xfrm>
          <a:prstGeom prst="rect">
            <a:avLst/>
          </a:prstGeom>
          <a:noFill/>
          <a:ln/>
        </p:spPr>
        <p:txBody>
          <a:bodyPr wrap="square" lIns="0" tIns="0" rIns="0" bIns="0" rtlCol="0" anchor="t">
            <a:normAutofit/>
          </a:bodyPr>
          <a:lstStyle/>
          <a:p>
            <a:pPr indent="0" marL="0">
              <a:buNone/>
            </a:pPr>
            <a:r>
              <a:rPr lang="en-US" sz="1800" dirty="0">
                <a:solidFill>
                  <a:srgbClr val="102A43"/>
                </a:solidFill>
                <a:latin typeface="Arial" pitchFamily="34" charset="0"/>
                <a:ea typeface="Arial" pitchFamily="34" charset="-122"/>
                <a:cs typeface="Arial" pitchFamily="34" charset="-120"/>
              </a:rPr>
              <a:t>Arithmetic mean: sum(scored capability values) / number of scored capabilities. Current and target use their own scored populations. Not assessed and Not applicable are excluded, never zero. Gap = target − current for paired numeric scores only, and may be negative. Maturity levels are ordinal; averages are descriptive, not certification. Business priority, risk and context determine action order. Historical scores retain their original scales; compare changed scales with care.</a:t>
            </a:r>
            <a:endParaRPr lang="en-US" sz="18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7F9FB"/>
        </a:solidFill>
      </p:bgPr>
    </p:bg>
    <p:spTree>
      <p:nvGrpSpPr>
        <p:cNvPr id="1" name=""/>
        <p:cNvGrpSpPr/>
        <p:nvPr/>
      </p:nvGrpSpPr>
      <p:grpSpPr>
        <a:xfrm>
          <a:off x="0" y="0"/>
          <a:ext cx="0" cy="0"/>
          <a:chOff x="0" y="0"/>
          <a:chExt cx="0" cy="0"/>
        </a:xfrm>
      </p:grpSpPr>
      <p:sp>
        <p:nvSpPr>
          <p:cNvPr id="2" name="Text 0"/>
          <p:cNvSpPr/>
          <p:nvPr/>
        </p:nvSpPr>
        <p:spPr>
          <a:xfrm>
            <a:off x="548640" y="292608"/>
            <a:ext cx="11094415" cy="228600"/>
          </a:xfrm>
          <a:prstGeom prst="rect">
            <a:avLst/>
          </a:prstGeom>
          <a:noFill/>
          <a:ln/>
        </p:spPr>
        <p:txBody>
          <a:bodyPr wrap="square" lIns="0" tIns="0" rIns="0" bIns="0" rtlCol="0" anchor="ctr"/>
          <a:lstStyle/>
          <a:p>
            <a:pPr indent="0" marL="0">
              <a:buNone/>
            </a:pPr>
            <a:r>
              <a:rPr lang="en-US" sz="1000" b="1" dirty="0">
                <a:solidFill>
                  <a:srgbClr val="B44D2E"/>
                </a:solidFill>
                <a:latin typeface="Arial" pitchFamily="34" charset="0"/>
                <a:ea typeface="Arial" pitchFamily="34" charset="-122"/>
                <a:cs typeface="Arial" pitchFamily="34" charset="-120"/>
              </a:rPr>
              <a:t>MIGHTORA MATURITY ASSESSMENT</a:t>
            </a:r>
            <a:endParaRPr lang="en-US" sz="1000" dirty="0"/>
          </a:p>
        </p:txBody>
      </p:sp>
      <p:sp>
        <p:nvSpPr>
          <p:cNvPr id="3" name="Text 1"/>
          <p:cNvSpPr/>
          <p:nvPr/>
        </p:nvSpPr>
        <p:spPr>
          <a:xfrm>
            <a:off x="548640" y="777240"/>
            <a:ext cx="11094415" cy="685800"/>
          </a:xfrm>
          <a:prstGeom prst="rect">
            <a:avLst/>
          </a:prstGeom>
          <a:noFill/>
          <a:ln/>
        </p:spPr>
        <p:txBody>
          <a:bodyPr wrap="square" lIns="0" tIns="0" rIns="0" bIns="0" rtlCol="0" anchor="ctr">
            <a:normAutofit/>
          </a:bodyPr>
          <a:lstStyle/>
          <a:p>
            <a:pPr indent="0" marL="0">
              <a:buNone/>
            </a:pPr>
            <a:r>
              <a:rPr lang="en-US" sz="2700" b="1" dirty="0">
                <a:solidFill>
                  <a:srgbClr val="102A43"/>
                </a:solidFill>
                <a:latin typeface="Arial" pitchFamily="34" charset="0"/>
                <a:ea typeface="Arial" pitchFamily="34" charset="-122"/>
                <a:cs typeface="Arial" pitchFamily="34" charset="-120"/>
              </a:rPr>
              <a:t>Maturity level definitions</a:t>
            </a:r>
            <a:endParaRPr lang="en-US" sz="2700" dirty="0"/>
          </a:p>
        </p:txBody>
      </p:sp>
      <p:sp>
        <p:nvSpPr>
          <p:cNvPr id="4" name="Text 2"/>
          <p:cNvSpPr/>
          <p:nvPr/>
        </p:nvSpPr>
        <p:spPr>
          <a:xfrm>
            <a:off x="548640" y="6492240"/>
            <a:ext cx="11094415" cy="182880"/>
          </a:xfrm>
          <a:prstGeom prst="rect">
            <a:avLst/>
          </a:prstGeom>
          <a:noFill/>
          <a:ln/>
        </p:spPr>
        <p:txBody>
          <a:bodyPr wrap="square" lIns="0" tIns="0" rIns="0" bIns="0" rtlCol="0" anchor="ctr"/>
          <a:lstStyle/>
          <a:p>
            <a:pPr indent="0" marL="0">
              <a:buNone/>
            </a:pPr>
            <a:r>
              <a:rPr lang="en-US" sz="900" dirty="0">
                <a:solidFill>
                  <a:srgbClr val="486581"/>
                </a:solidFill>
                <a:latin typeface="Arial" pitchFamily="34" charset="0"/>
                <a:ea typeface="Arial" pitchFamily="34" charset="-122"/>
                <a:cs typeface="Arial" pitchFamily="34" charset="-120"/>
              </a:rPr>
              <a:t>2026-10-20    1.0    46</a:t>
            </a:r>
            <a:endParaRPr lang="en-US" sz="9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4415" cy="914400"/>
        </p:xfrm>
        <a:graphic>
          <a:graphicData uri="http://schemas.openxmlformats.org/drawingml/2006/table">
            <a:tbl>
              <a:tblPr/>
              <a:tblGrid>
                <a:gridCol w="1109442"/>
                <a:gridCol w="2440771"/>
                <a:gridCol w="7544202"/>
              </a:tblGrid>
              <a:tr h="502920">
                <a:tc>
                  <a:txBody>
                    <a:bodyPr/>
                    <a:lstStyle/>
                    <a:p>
                      <a:pPr indent="0" marL="0">
                        <a:buNone/>
                      </a:pPr>
                      <a:r>
                        <a:rPr lang="en-US" sz="1200" b="1" dirty="0">
                          <a:solidFill>
                            <a:srgbClr val="FFFFFF"/>
                          </a:solidFill>
                          <a:latin typeface="Arial" pitchFamily="34" charset="0"/>
                          <a:ea typeface="Arial" pitchFamily="34" charset="-122"/>
                          <a:cs typeface="Arial" pitchFamily="34" charset="-120"/>
                        </a:rPr>
                        <a:t>Level</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102A43"/>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Name</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102A43"/>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Definition</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102A43"/>
                    </a:solidFill>
                  </a:tcPr>
                </a:tc>
              </a:tr>
              <a:tr h="502920">
                <a:tc>
                  <a:txBody>
                    <a:bodyPr/>
                    <a:lstStyle/>
                    <a:p>
                      <a:pPr indent="0" marL="0">
                        <a:buNone/>
                      </a:pPr>
                      <a:r>
                        <a:rPr lang="en-US" sz="1200" dirty="0">
                          <a:solidFill>
                            <a:srgbClr val="102A43"/>
                          </a:solidFill>
                          <a:latin typeface="Arial" pitchFamily="34" charset="0"/>
                          <a:ea typeface="Arial" pitchFamily="34" charset="-122"/>
                          <a:cs typeface="Arial" pitchFamily="34" charset="-120"/>
                        </a:rPr>
                        <a:t>1</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200" dirty="0">
                          <a:solidFill>
                            <a:srgbClr val="102A43"/>
                          </a:solidFill>
                          <a:latin typeface="Arial" pitchFamily="34" charset="0"/>
                          <a:ea typeface="Arial" pitchFamily="34" charset="-122"/>
                          <a:cs typeface="Arial" pitchFamily="34" charset="-120"/>
                        </a:rPr>
                        <a:t>Initial</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200" dirty="0">
                          <a:solidFill>
                            <a:srgbClr val="102A43"/>
                          </a:solidFill>
                          <a:latin typeface="Arial" pitchFamily="34" charset="0"/>
                          <a:ea typeface="Arial" pitchFamily="34" charset="-122"/>
                          <a:cs typeface="Arial" pitchFamily="34" charset="-120"/>
                        </a:rPr>
                        <a:t>Activities are informal, inconsistent or reactive.</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r>
              <a:tr h="502920">
                <a:tc>
                  <a:txBody>
                    <a:bodyPr/>
                    <a:lstStyle/>
                    <a:p>
                      <a:pPr indent="0" marL="0">
                        <a:buNone/>
                      </a:pPr>
                      <a:r>
                        <a:rPr lang="en-US" sz="1200" dirty="0">
                          <a:solidFill>
                            <a:srgbClr val="102A43"/>
                          </a:solidFill>
                          <a:latin typeface="Arial" pitchFamily="34" charset="0"/>
                          <a:ea typeface="Arial" pitchFamily="34" charset="-122"/>
                          <a:cs typeface="Arial" pitchFamily="34" charset="-120"/>
                        </a:rPr>
                        <a:t>2</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200" dirty="0">
                          <a:solidFill>
                            <a:srgbClr val="102A43"/>
                          </a:solidFill>
                          <a:latin typeface="Arial" pitchFamily="34" charset="0"/>
                          <a:ea typeface="Arial" pitchFamily="34" charset="-122"/>
                          <a:cs typeface="Arial" pitchFamily="34" charset="-120"/>
                        </a:rPr>
                        <a:t>Developing</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200" dirty="0">
                          <a:solidFill>
                            <a:srgbClr val="102A43"/>
                          </a:solidFill>
                          <a:latin typeface="Arial" pitchFamily="34" charset="0"/>
                          <a:ea typeface="Arial" pitchFamily="34" charset="-122"/>
                          <a:cs typeface="Arial" pitchFamily="34" charset="-120"/>
                        </a:rPr>
                        <a:t>Some repeatable practices exist but are not consistently applied.</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r>
              <a:tr h="502920">
                <a:tc>
                  <a:txBody>
                    <a:bodyPr/>
                    <a:lstStyle/>
                    <a:p>
                      <a:pPr indent="0" marL="0">
                        <a:buNone/>
                      </a:pPr>
                      <a:r>
                        <a:rPr lang="en-US" sz="1200" dirty="0">
                          <a:solidFill>
                            <a:srgbClr val="102A43"/>
                          </a:solidFill>
                          <a:latin typeface="Arial" pitchFamily="34" charset="0"/>
                          <a:ea typeface="Arial" pitchFamily="34" charset="-122"/>
                          <a:cs typeface="Arial" pitchFamily="34" charset="-120"/>
                        </a:rPr>
                        <a:t>3</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200" dirty="0">
                          <a:solidFill>
                            <a:srgbClr val="102A43"/>
                          </a:solidFill>
                          <a:latin typeface="Arial" pitchFamily="34" charset="0"/>
                          <a:ea typeface="Arial" pitchFamily="34" charset="-122"/>
                          <a:cs typeface="Arial" pitchFamily="34" charset="-120"/>
                        </a:rPr>
                        <a:t>Defined</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200" dirty="0">
                          <a:solidFill>
                            <a:srgbClr val="102A43"/>
                          </a:solidFill>
                          <a:latin typeface="Arial" pitchFamily="34" charset="0"/>
                          <a:ea typeface="Arial" pitchFamily="34" charset="-122"/>
                          <a:cs typeface="Arial" pitchFamily="34" charset="-120"/>
                        </a:rPr>
                        <a:t>Standardised processes, policies and responsibilities are established.</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r>
              <a:tr h="502920">
                <a:tc>
                  <a:txBody>
                    <a:bodyPr/>
                    <a:lstStyle/>
                    <a:p>
                      <a:pPr indent="0" marL="0">
                        <a:buNone/>
                      </a:pPr>
                      <a:r>
                        <a:rPr lang="en-US" sz="1200" dirty="0">
                          <a:solidFill>
                            <a:srgbClr val="102A43"/>
                          </a:solidFill>
                          <a:latin typeface="Arial" pitchFamily="34" charset="0"/>
                          <a:ea typeface="Arial" pitchFamily="34" charset="-122"/>
                          <a:cs typeface="Arial" pitchFamily="34" charset="-120"/>
                        </a:rPr>
                        <a:t>4</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200" dirty="0">
                          <a:solidFill>
                            <a:srgbClr val="102A43"/>
                          </a:solidFill>
                          <a:latin typeface="Arial" pitchFamily="34" charset="0"/>
                          <a:ea typeface="Arial" pitchFamily="34" charset="-122"/>
                          <a:cs typeface="Arial" pitchFamily="34" charset="-120"/>
                        </a:rPr>
                        <a:t>Managed</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200" dirty="0">
                          <a:solidFill>
                            <a:srgbClr val="102A43"/>
                          </a:solidFill>
                          <a:latin typeface="Arial" pitchFamily="34" charset="0"/>
                          <a:ea typeface="Arial" pitchFamily="34" charset="-122"/>
                          <a:cs typeface="Arial" pitchFamily="34" charset="-120"/>
                        </a:rPr>
                        <a:t>Practices are measured, governed and continuously monitored.</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r>
              <a:tr h="502920">
                <a:tc>
                  <a:txBody>
                    <a:bodyPr/>
                    <a:lstStyle/>
                    <a:p>
                      <a:pPr indent="0" marL="0">
                        <a:buNone/>
                      </a:pPr>
                      <a:r>
                        <a:rPr lang="en-US" sz="1200" dirty="0">
                          <a:solidFill>
                            <a:srgbClr val="102A43"/>
                          </a:solidFill>
                          <a:latin typeface="Arial" pitchFamily="34" charset="0"/>
                          <a:ea typeface="Arial" pitchFamily="34" charset="-122"/>
                          <a:cs typeface="Arial" pitchFamily="34" charset="-120"/>
                        </a:rPr>
                        <a:t>5</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200" dirty="0">
                          <a:solidFill>
                            <a:srgbClr val="102A43"/>
                          </a:solidFill>
                          <a:latin typeface="Arial" pitchFamily="34" charset="0"/>
                          <a:ea typeface="Arial" pitchFamily="34" charset="-122"/>
                          <a:cs typeface="Arial" pitchFamily="34" charset="-120"/>
                        </a:rPr>
                        <a:t>Optimised</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200" dirty="0">
                          <a:solidFill>
                            <a:srgbClr val="102A43"/>
                          </a:solidFill>
                          <a:latin typeface="Arial" pitchFamily="34" charset="0"/>
                          <a:ea typeface="Arial" pitchFamily="34" charset="-122"/>
                          <a:cs typeface="Arial" pitchFamily="34" charset="-120"/>
                        </a:rPr>
                        <a:t>Practices are continuously improved using evidence, automation and feedback.</a:t>
                      </a:r>
                      <a:endParaRPr lang="en-US" sz="1200" dirty="0">
                        <a:latin typeface="Arial" charset="0"/>
                        <a:ea typeface="Arial" charset="0"/>
                        <a:cs typeface="Arial" charset="0"/>
                      </a:endParaRPr>
                    </a:p>
                  </a:txBody>
                  <a:tcPr marL="91440" marR="91440" marT="91440" marB="9144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FFFFF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vector>
  </TitlesOfParts>
  <Company>Example Council digital services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 Platform governance and engineering example</dc:title>
  <dc:subject>Capability maturity assessment</dc:subject>
  <dc:creator>Platform architecture team</dc:creator>
  <cp:lastModifiedBy>Platform architecture team</cp:lastModifiedBy>
  <cp:revision>1</cp:revision>
  <dcterms:created xsi:type="dcterms:W3CDTF">2026-10-20T20:29:04Z</dcterms:created>
  <dcterms:modified xsi:type="dcterms:W3CDTF">2026-10-20T20:29:04Z</dcterms:modified>
</cp:coreProperties>
</file>